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4" r:id="rId10"/>
    <p:sldId id="262" r:id="rId8"/>
    <p:sldId id="281" r:id="rId32"/>
    <p:sldId id="290" r:id="rId23"/>
    <p:sldId id="286" r:id="rId37"/>
    <p:sldId id="263" r:id="rId9"/>
    <p:sldId id="265" r:id="rId11"/>
    <p:sldId id="266" r:id="rId12"/>
    <p:sldId id="287" r:id="rId38"/>
    <p:sldId id="267" r:id="rId13"/>
    <p:sldId id="268" r:id="rId14"/>
    <p:sldId id="288" r:id="rId39"/>
    <p:sldId id="270" r:id="rId16"/>
    <p:sldId id="271" r:id="rId17"/>
    <p:sldId id="272" r:id="rId18"/>
    <p:sldId id="273" r:id="rId19"/>
    <p:sldId id="282" r:id="rId33"/>
    <p:sldId id="283" r:id="rId34"/>
    <p:sldId id="289" r:id="rId40"/>
    <p:sldId id="274" r:id="rId20"/>
    <p:sldId id="279" r:id="rId25"/>
    <p:sldId id="275" r:id="rId21"/>
    <p:sldId id="284" r:id="rId35"/>
    <p:sldId id="285" r:id="rId36"/>
    <p:sldId id="276" r:id="rId22"/>
    <p:sldId id="278" r:id="rId24"/>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9" Type="http://schemas.openxmlformats.org/officeDocument/2006/relationships/slide" Target="slides/slide11.xml"/><Relationship Id="rId10" Type="http://schemas.openxmlformats.org/officeDocument/2006/relationships/slide" Target="slides/slide6.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slide" Target="slides/slide15.xml"/><Relationship Id="rId14" Type="http://schemas.openxmlformats.org/officeDocument/2006/relationships/slide" Target="slides/slide16.xml"/><Relationship Id="rId16" Type="http://schemas.openxmlformats.org/officeDocument/2006/relationships/slide" Target="slides/slide18.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5.xml"/><Relationship Id="rId21" Type="http://schemas.openxmlformats.org/officeDocument/2006/relationships/slide" Target="slides/slide27.xml"/><Relationship Id="rId22" Type="http://schemas.openxmlformats.org/officeDocument/2006/relationships/slide" Target="slides/slide30.xml"/><Relationship Id="rId23" Type="http://schemas.openxmlformats.org/officeDocument/2006/relationships/slide" Target="slides/slide9.xml"/><Relationship Id="rId24" Type="http://schemas.openxmlformats.org/officeDocument/2006/relationships/slide" Target="slides/slide31.xml"/><Relationship Id="rId25" Type="http://schemas.openxmlformats.org/officeDocument/2006/relationships/slide" Target="slides/slide26.xml"/><Relationship Id="rId26" Type="http://schemas.openxmlformats.org/officeDocument/2006/relationships/slide" Target="slides/slide32.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8.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10.xml"/><Relationship Id="rId38" Type="http://schemas.openxmlformats.org/officeDocument/2006/relationships/slide" Target="slides/slide14.xml"/><Relationship Id="rId39" Type="http://schemas.openxmlformats.org/officeDocument/2006/relationships/slide" Target="slides/slide17.xml"/><Relationship Id="rId4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9 · STRATEGIC UNCLOGGING</a:t>
            </a:r>
          </a:p>
          <a:p>
            <a:r>
              <a:t>Module 3 · Influence · Unit 9</a:t>
            </a:r>
          </a:p>
          <a:p/>
          <a:p>
            <a:r>
              <a:rPr b="1"/>
              <a:t>UNIT INTENT:</a:t>
            </a:r>
          </a:p>
          <a:p>
            <a:r>
              <a:t>Unit 9 sits at a pivotal moment in the S2R® climb. By this point, the strategy is clear, performance expectations are set, and commitments have been secured. Now the gears begin grinding. This unit names that friction precisely, and gives the leadership team the engineering vocabulary and diagnostic discipline to address it.</a:t>
            </a:r>
          </a:p>
          <a:p>
            <a:r>
              <a:t>A clog is a signal. It indicates where the organisation has not yet adapted to the new strategic direction, in the performance of individuals and teams and in the organisational conditions that support the execution of their tasks. Leaders who understand this stop asking "Why are we failing?" and start asking "Where are our people and our organisational conditions not yet ready to carry the strategy?"</a:t>
            </a:r>
          </a:p>
          <a:p>
            <a:r>
              <a:t>A clog shows in people performance and in organisational performance. In people performance, individuals and teams stall on their KPIs: decisions wait, effort pulls in different directions, and tasks are completed while the Key Result does not move. In organisational performance, the organisational conditions do not support the execution of the individuals' tasks. The diagnosis of every clog examines both sides before a lever is selected.</a:t>
            </a:r>
          </a:p>
          <a:p>
            <a:r>
              <a:t>The Strategic Unclogging Clinic in Section 5 is the centrepiece: each group returns to an original work-based challenge, identifies the clog, selects the lever and applies Review–Realign–Restore within its Capstone organisation. The quality of the diagnostic conversation is the measure of this unit.</a:t>
            </a:r>
          </a:p>
          <a:p/>
          <a:p>
            <a:r>
              <a:rPr b="1"/>
              <a:t>WHERE THE UNIT SITS:</a:t>
            </a:r>
          </a:p>
          <a:p>
            <a:r>
              <a:t>Unit 9 closes Module 3 · Influence, after Unit 5 — Aligning Heart &amp; Mind, Unit 6 — Performance Management Setup, Unit 7 — Establishing Performance Expectations and Unit 8 — Performance Measurement. It restores the flow of execution. Module 4 — Grounding follows, beginning with Unit 10 — ESRG Alignment.</a:t>
            </a:r>
          </a:p>
          <a:p/>
          <a:p>
            <a:r>
              <a:rPr b="1"/>
              <a:t>HOW THE UNIT RUNS:</a:t>
            </a:r>
          </a:p>
          <a:p>
            <a:r>
              <a:t>1. You teach the whole unit from this deck first, from Section 1 to the Unit Summary. The deck is the teaching material.</a:t>
            </a:r>
          </a:p>
          <a:p>
            <a:r>
              <a:t>2. Participants then complete their own page on the portal, in the session or after it: the reflections, the Portfolio work of parts 3.1 and 4.3, and the group work of Section 5.</a:t>
            </a:r>
          </a:p>
          <a:p>
            <a:r>
              <a:t>3. Section 5 is group work and Capstone work. Each group chooses its scribe for this work; the scribe types what the group agrees, and the entries appear on every member's page. In part 5.6 each member reads the record and selects Agree.</a:t>
            </a:r>
          </a:p>
          <a:p/>
          <a:p>
            <a:r>
              <a:rPr b="1"/>
              <a:t>HOW TO OPEN THE UNIT:</a:t>
            </a:r>
          </a:p>
          <a:p/>
          <a:p>
            <a:r>
              <a:rPr b="1"/>
              <a:t>1. Set the scene.</a:t>
            </a:r>
          </a:p>
          <a:p>
            <a:r>
              <a:t>Say: "The strategy is clear. Objectives are defined. Performance expectations are in motion. Each Key Result has been translated into KPIs, the organisational conditions have been agreed, and a rhythm of review tracks both. Then the gears begin grinding."</a:t>
            </a:r>
          </a:p>
          <a:p/>
          <a:p>
            <a:r>
              <a:rPr b="1"/>
              <a:t>2. Ask the opening question.</a:t>
            </a:r>
          </a:p>
          <a:p>
            <a:r>
              <a:t>Ask: "Think of a strategy that stalled in your organisation. Was the plan wrong, or was something in the system blocking its flow?"</a:t>
            </a:r>
          </a:p>
          <a:p>
            <a:r>
              <a:t>Take two answers. Listen for: a plan that still made sense, and something in the system that held it back.</a:t>
            </a:r>
          </a:p>
          <a:p/>
          <a:p>
            <a:r>
              <a:rPr b="1"/>
              <a:t>3. Name what the unit does.</a:t>
            </a:r>
          </a:p>
          <a:p>
            <a:r>
              <a:t>Say: "This unit names that blockage, gives you a map to diagnose it, and a set of levers to clear it, together as an executive team."</a:t>
            </a:r>
          </a:p>
          <a:p/>
          <a:p>
            <a:r>
              <a:rPr b="1"/>
              <a:t>WHERE THE OUTPUTS GO:</a:t>
            </a:r>
          </a:p>
          <a:p>
            <a:r>
              <a:t>When every member has agreed, the Section 5 record feeds boxes 9A to 9E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endParaRPr lang="en-US" dirty="0"/>
          </a:p>
          <a:p/>
          <a:p>
            <a:r>
              <a:rPr b="1"/>
              <a:t>HOW TO USE THIS SLIDE:</a:t>
            </a:r>
          </a:p>
          <a:p/>
          <a:p>
            <a:r>
              <a:rPr b="1"/>
              <a:t>1. Read the four outcomes aloud.</a:t>
            </a:r>
          </a:p>
          <a:p>
            <a:r>
              <a:t>1. Diagnose systemic constraints in people and organisational performance that impede strategy delivery.</a:t>
            </a:r>
          </a:p>
          <a:p>
            <a:r>
              <a:t>2. Differentiate visible performance symptoms from underlying causes to target intervention.</a:t>
            </a:r>
          </a:p>
          <a:p>
            <a:r>
              <a:t>3. Evaluate and resolve interdependent enterprise conditions contributing to stalled performance.</a:t>
            </a:r>
          </a:p>
          <a:p>
            <a:r>
              <a:t>4. Mobilise coordinated organisational responses that restore strategic coherence and momentum.</a:t>
            </a:r>
          </a:p>
          <a:p/>
          <a:p>
            <a:r>
              <a:rPr b="1"/>
              <a:t>2. Say where the unit delivers each one.</a:t>
            </a:r>
          </a:p>
          <a:p>
            <a:r>
              <a:t>Outcome 1 is taught in Section 1: what a Strategic Clog is, where clogs form and the seven performance clogs.</a:t>
            </a:r>
          </a:p>
          <a:p>
            <a:r>
              <a:t>Outcome 2 is taught in 1.4 and 1.5, the Three Performance Lines of Sight, and in 2.1, accurate classification.</a:t>
            </a:r>
          </a:p>
          <a:p>
            <a:r>
              <a:t>Outcome 3 is taught in 2.2, the 7 Strategic Unclogging Levers, and in Section 3, where executive decisions in one function create clogs in another.</a:t>
            </a:r>
          </a:p>
          <a:p>
            <a:r>
              <a:t>Outcome 4 is taught in Section 4, the Unclogging Cycle the executive team runs together, and applied in the Strategic Unclogging Clinic of Section 5.</a:t>
            </a:r>
          </a:p>
          <a:p/>
          <a:p>
            <a:r>
              <a:rPr b="1"/>
              <a:t>3. Ask, now that the outcomes are read.</a:t>
            </a:r>
          </a:p>
          <a:p>
            <a:r>
              <a:t>Ask: "When you last named a performance gap, did you name the symptom or the root cause? What is the difference in your context?"</a:t>
            </a:r>
          </a:p>
          <a:p>
            <a:r>
              <a:t>Take two or three answers.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p>
            <a:r>
              <a:rPr b="1"/>
              <a:t>HOW TO USE THIS SLIDE:</a:t>
            </a:r>
          </a:p>
          <a:p>
            <a:r>
              <a:rPr b="1"/>
              <a:t>1. Walk the five sections in one sentence each, using the list below.</a:t>
            </a:r>
          </a:p>
          <a:p>
            <a:r>
              <a:t>2. Say that Section 1 gives the diagnostic map, Section 2 the disciplines and levers, Section 3 the executive contribution, Section 4 the collective cycle, and Section 5 the Clinic on the group's own challenge.</a:t>
            </a:r>
          </a:p>
          <a:p>
            <a:r>
              <a:t>3. Tell participants how the unit runs: you teach all five sections from the deck first, and they then complete the unit on the portal, in the session or after it.</a:t>
            </a:r>
          </a:p>
          <a:p/>
          <a:p>
            <a:r>
              <a:rPr b="1"/>
              <a:t>THE FIVE SECTIONS:</a:t>
            </a:r>
          </a:p>
          <a:p>
            <a:r>
              <a:t>- Section 1 · Awareness — What: naming the internal blockages that prevent strategic intent from flowing into execution, and introducing the 7-clog diagnostic map aligned to ABCV Directional Integrity.</a:t>
            </a:r>
          </a:p>
          <a:p/>
          <a:p>
            <a:r>
              <a:t>- Section 2 · Intelligence — Why: building the three disciplines that detect, classify and resolve strategic clogs, and applying the 7 Strategic Unclogging Levers across people and organisational performance.</a:t>
            </a:r>
          </a:p>
          <a:p/>
          <a:p>
            <a:r>
              <a:t>- Section 3 · Extrapolating — Where: examining how decisions and management practices within executive functions influence people performance, organisational conditions and strategic results.</a:t>
            </a:r>
          </a:p>
          <a:p/>
          <a:p>
            <a:r>
              <a:t>- Section 4 · Integration — Collective: building the collective discipline of normalising the unclog, where detecting and clearing performance friction becomes a shared leadership habit.</a:t>
            </a:r>
          </a:p>
          <a:p/>
          <a:p>
            <a:r>
              <a:t>- Section 5 · Application — In Practice: returning to an original work-based challenge, identifying the performance clog, selecting the corresponding Strategic Unclogging Lever and applying Review–Realign–Restore within the Capstone organisation.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What is a Strategic Clog?</a:t>
            </a:r>
          </a:p>
          <a:p/>
          <a:p>
            <a:r>
              <a:rPr b="1"/>
              <a:t>HOW THIS SECTION RUNS:</a:t>
            </a:r>
          </a:p>
          <a:p>
            <a:r>
              <a:t>1. 1.1 What is a Strategic Clog: the core concept, the four ABCV elements it distorts, and where clogs form.</a:t>
            </a:r>
          </a:p>
          <a:p>
            <a:r>
              <a:t>2. 1.2 Where performance becomes constrained: why clogs form, and the two dimensions of performance.</a:t>
            </a:r>
          </a:p>
          <a:p>
            <a:r>
              <a:rPr b="1"/>
              <a:t>3. 1.3 The seven performance clogs, one card at a time.</a:t>
            </a:r>
          </a:p>
          <a:p>
            <a:r>
              <a:rPr b="1"/>
              <a:t>4. 1.4 The Three Performance Lines of Sight.</a:t>
            </a:r>
          </a:p>
          <a:p>
            <a:r>
              <a:rPr b="1"/>
              <a:t>5. 1.5 The worked example: improving customer service.</a:t>
            </a:r>
          </a:p>
          <a:p>
            <a:r>
              <a:rPr b="1"/>
              <a:t>6. The Section 1 Reflections slide.</a:t>
            </a:r>
          </a:p>
          <a:p/>
          <a:p>
            <a:r>
              <a:rPr b="1"/>
              <a:t>SECTION LEARNING OUTCOMES:</a:t>
            </a:r>
          </a:p>
          <a:p>
            <a:r>
              <a:t>1. Diagnose systemic blockages between strategic intent and execution.</a:t>
            </a:r>
          </a:p>
          <a:p>
            <a:r>
              <a:t>2. Interpret early friction signals to locate constraints in people and organisational conditions.</a:t>
            </a:r>
          </a:p>
          <a:p/>
          <a:p>
            <a:r>
              <a:rPr b="1"/>
              <a:t>HOW TO OPEN THE SECTION:</a:t>
            </a:r>
          </a:p>
          <a:p/>
          <a:p>
            <a:r>
              <a:rPr b="1"/>
              <a:t>1. Give the scenario.</a:t>
            </a:r>
          </a:p>
          <a:p>
            <a:r>
              <a:t>Say: "The strategy is clear, objectives are defined, performance expectations are in motion, and then the gears begin grinding."</a:t>
            </a:r>
          </a:p>
          <a:p/>
          <a:p>
            <a:r>
              <a:rPr b="1"/>
              <a:t>2. Teach the central shift.</a:t>
            </a:r>
          </a:p>
          <a:p>
            <a:r>
              <a:t>Say: "The friction may well be a failure of flow while the strategy itself holds. When the 'what' and the 'why' are settled and the 'how' remains erratic, the leadership team is facing an organisational blockage. A clog is a signal: evidence that organisational performance and people performance have not yet adapted to the strategy."</a:t>
            </a:r>
          </a:p>
          <a:p>
            <a:r>
              <a:t>Deepen, say: "Suppressing a crisis leaves its cause in place, and an organisation that treats the end of one disruption as stability will be caught off guard by the next. Diagnose and resolve the root condition; putting down the symptom only sets the timer on its recurrence."</a:t>
            </a:r>
          </a:p>
          <a:p>
            <a:r>
              <a:t>(Insight: Symptom and root. Source: Journal, 1 June 2026 — Professional Insights: Strategy)</a:t>
            </a:r>
          </a:p>
          <a:p/>
          <a:p>
            <a:r>
              <a:rPr b="1"/>
              <a:t>3. Bridge to 1.1.</a:t>
            </a:r>
          </a:p>
          <a:p>
            <a:r>
              <a:t>Say: "So what exactly is a clog?"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WHAT IS A STRATEGIC CLOG? (Core concept)</a:t>
            </a:r>
          </a:p>
          <a:p/>
          <a:p>
            <a:r>
              <a:rPr b="1"/>
              <a:t>HOW TO TEACH IT:</a:t>
            </a:r>
          </a:p>
          <a:p/>
          <a:p>
            <a:r>
              <a:rPr b="1"/>
              <a:t>1. Build the case.</a:t>
            </a:r>
          </a:p>
          <a:p>
            <a:r>
              <a:t>Say: "At this point, the strategy is clear. Objectives are defined. Performance expectations are in motion. Each Key Result has been translated into KPIs that individuals and teams deliver. Leaders have agreed the organisational conditions that support the execution of those tasks. A rhythm of review tracks the progress of both. Then the gears begin grinding. Progress slows on a Key Result that everyone supports. Reviews record effort, explanations and revised dates, and the result does not move. The plan still stands. What holds it back is a Strategic Clog."</a:t>
            </a:r>
          </a:p>
          <a:p/>
          <a:p>
            <a:r>
              <a:rPr b="1"/>
              <a:t>2. Define the clog.</a:t>
            </a:r>
          </a:p>
          <a:p>
            <a:r>
              <a:t>Read the line at the foot of the slide: "A clog is an internal blockage that prevents strategic intent from flowing into execution."</a:t>
            </a:r>
          </a:p>
          <a:p>
            <a:r>
              <a:t>Say: "It is the widening gap between what we said we would do and what is actually happening: a fundamental misalignment where the organisation's current state, its habits, its structures, its very DNA, works against its future goals. Clogs go well beyond minor inconveniences or growing pains."</a:t>
            </a:r>
          </a:p>
          <a:p>
            <a:r>
              <a:t>Read the quote on the slide: "Strategy sets the destination. Flow determines whether you have the power to arrive."</a:t>
            </a:r>
          </a:p>
          <a:p/>
          <a:p>
            <a:r>
              <a:rPr b="1"/>
              <a:t>3. Name the leadership role.</a:t>
            </a:r>
          </a:p>
          <a:p>
            <a:r>
              <a:t>Say: "To navigate this phase of the execution climb, leadership must evolve. Designing the strategy starts the work. The role of the leadership team is to become Engineers of Execution Flow, developing the diagnostic eyes to detect clogs early, before they compound into stalled momentum or declining performance."</a:t>
            </a:r>
          </a:p>
          <a:p/>
          <a:p>
            <a:r>
              <a:rPr b="1"/>
              <a:t>4. Teach the link to ABCV.</a:t>
            </a:r>
          </a:p>
          <a:p>
            <a:r>
              <a:t>Say: "Every clog interferes with one or more elements of ABCV Directional Integrity from Unit 4. Arena: clarity of the problem space and the customer end-game. Boundaries: structural, operational and regulatory constraints. Competition: how the organisation defines alternatives and threats. Value Proposition: how the organisation creates distinct value. When execution is clogged, strategy loses directional integrity, gradually and silently."</a:t>
            </a:r>
          </a:p>
          <a:p>
            <a:r>
              <a:t>Say: "A clog acts like a pressure distortion point in the system. It redirects effort away from intended outcomes, weakens coherence across functions, and creates misinterpretation of strategic intent."</a:t>
            </a:r>
          </a:p>
          <a:p/>
          <a:p>
            <a:r>
              <a:rPr b="1"/>
              <a:t>5. Teach where clogs form.</a:t>
            </a:r>
          </a:p>
          <a:p>
            <a:r>
              <a:t>Say: "Strategic intent reaches the Key Result through the tasks that individuals and teams execute. Those tasks depend on the organisational conditions around them: the Environment, Systems, Resources and Governance, ESRG. That means the facilities, infrastructure and technology the work depends on, the processes that carry it across functions, the assets and funding that make delivery possible, and the policies, decision authority and risk management that guide it. A clog can form in either, and it usually acts on both."</a:t>
            </a:r>
          </a:p>
          <a:p>
            <a:r>
              <a:t>People performance: a clog shows in the performance of individuals and teams. Decisions wait, effort pulls in different directions, and tasks are completed while the KPI holds still. The review sees this first, because the individuals' numbers are reviewed.</a:t>
            </a:r>
          </a:p>
          <a:p>
            <a:r>
              <a:t>Organisational performance: a clog shows when the organisational conditions no longer support the execution of the individuals' tasks, as the strategy places new weight on them. Organisational performance seldom carries a number of its own, so it stays unseen until leaders ask for it.</a:t>
            </a:r>
          </a:p>
          <a:p>
            <a:r>
              <a:t>Deepen, say: "Organisations that look away from what went wrong delay the examination until the cost is higher. Look directly at what is causing the damage and stop managing the distance from it."</a:t>
            </a:r>
          </a:p>
          <a:p>
            <a:r>
              <a:t>(Insight: Looking at the source. Source: Journal, 11 March 2026 — Professional Insights)</a:t>
            </a:r>
          </a:p>
          <a:p/>
          <a:p>
            <a:r>
              <a:rPr b="1"/>
              <a:t>6. Ask, now that the concept is taught.</a:t>
            </a:r>
          </a:p>
          <a:p>
            <a:r>
              <a:t>Ask: "Think of a strategy initiative that stalled. Could the blockage have been named earlier?"</a:t>
            </a:r>
          </a:p>
          <a:p/>
          <a:p>
            <a:r>
              <a:rPr b="1"/>
              <a:t>7. Bridge to 1.2.</a:t>
            </a:r>
          </a:p>
          <a:p>
            <a:r>
              <a:t>Say: "If clogs form in the organisation we already have, where exactly will they form? The next slide answers that."</a:t>
            </a:r>
          </a:p>
          <a:p/>
          <a:p>
            <a:r>
              <a:rPr b="1"/>
              <a:t>ON THE PORTAL, AFTER THE TEACHING:</a:t>
            </a:r>
          </a:p>
          <a:p>
            <a:r>
              <a:t>Participants write the reflection at the foot of part 1.1: a strategy initiative that stalled, the blockage behind it, whether it could have been named earlier, and the organisational condition the individuals' tasks depended 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THE SEVEN PERFORMANCE CLOGS (ABCV-aligned)</a:t>
            </a:r>
          </a:p>
          <a:p/>
          <a:p>
            <a:r>
              <a:rPr b="1"/>
              <a:t>HOW TO TEACH IT:</a:t>
            </a:r>
          </a:p>
          <a:p/>
          <a:p>
            <a:r>
              <a:rPr b="1"/>
              <a:t>1. Say how each card reads.</a:t>
            </a:r>
          </a:p>
          <a:p>
            <a:r>
              <a:t>Say: "Each clog has two realities and four signals. The system reality is the organisational condition. The contribution reality is what it does to people. Then the observable patterns, the early warning signals, the strategic impact, and one diagnostic question. Each card ends with a worked example. The ABCV element the clog distorts is on the slide beside its name."</a:t>
            </a:r>
          </a:p>
          <a:p/>
          <a:p>
            <a:r>
              <a:rPr b="1"/>
              <a:t>2. Clog 01 · Structural Misfit · Boundaries.</a:t>
            </a:r>
          </a:p>
          <a:p>
            <a:r>
              <a:t>System reality: the organisational design no longer supports the work required by the strategy. Roles, reporting relationships, governance arrangements, accountability boundaries and functional interfaces still reflect earlier priorities, and integrated work is divided across departments without coordination or shared ownership.</a:t>
            </a:r>
          </a:p>
          <a:p>
            <a:r>
              <a:t>Contribution reality: employees understand their own responsibilities and struggle to see how they connect to the enterprise outcome. Managers protect functional territory; teams receive competing instructions and repeated handoffs; people are held accountable for outcomes they cannot deliver without decisions or inputs controlled elsewhere.</a:t>
            </a:r>
          </a:p>
          <a:p>
            <a:r>
              <a:t>Patterns: duplication of work across functions; repeated bottlenecks at handoffs; fragmented ownership of strategic outcomes; front-office and back-office coordination failures; conflicting priorities between departments.</a:t>
            </a:r>
          </a:p>
          <a:p>
            <a:r>
              <a:t>Early warnings: more time spent coordinating routine work; dependence on informal relationships and workarounds; repeated escalation of cross-functional disagreements; performance gaps concentrated at handoff points.</a:t>
            </a:r>
          </a:p>
          <a:p>
            <a:r>
              <a:t>Impact: effort is absorbed by internal friction; individuals hit functional targets while enterprise outcomes stay weak.</a:t>
            </a:r>
          </a:p>
          <a:p>
            <a:r>
              <a:t>Ask the diagnostic question: "Are results being constrained by how responsibilities, authority and work are organised?"</a:t>
            </a:r>
          </a:p>
          <a:p>
            <a:r>
              <a:t>Example: a customer service team is measured on response time and depends on operations and finance to resolve enquiries. No function owns the complete resolution outcome. Staff work hard, and complaints continue.</a:t>
            </a:r>
          </a:p>
          <a:p>
            <a:r>
              <a:t>Deepen, say: "Many failures in growing organisations are failures of structural readiness: the work has outgrown its structures. Find one process that no longer fits the volume, a meeting cadence that no longer serves the work or a reporting line that has become a bottleneck, and replace it."</a:t>
            </a:r>
          </a:p>
          <a:p>
            <a:r>
              <a:t>(Insight: Structural readiness. Source: Journal, 29 April 2026 — Professional Insights: Culture)</a:t>
            </a:r>
          </a:p>
          <a:p/>
          <a:p>
            <a:r>
              <a:rPr b="1"/>
              <a:t>3. Clog 02 · Capability Gaps · Arena.</a:t>
            </a:r>
          </a:p>
          <a:p>
            <a:r>
              <a:t>System reality: the organisation lacks, or has uneven access to, the capabilities required in its chosen arena: technical expertise, management capacity, equipment, processes, digital competence, partnerships, funding or the ability to scale.</a:t>
            </a:r>
          </a:p>
          <a:p>
            <a:r>
              <a:t>Contribution reality: individuals lack the skills, knowledge, tools or support for new expectations; others are deployed in roles that underuse them; a few specialists carry the load. People lose confidence, improvise unsuitable methods or avoid unfamiliar tasks.</a:t>
            </a:r>
          </a:p>
          <a:p>
            <a:r>
              <a:t>Patterns: initiatives stall despite clear objectives; repeated rework; critical work depends on a few specialists; similar teams produce widely different results; strategically essential work is outsourced.</a:t>
            </a:r>
          </a:p>
          <a:p>
            <a:r>
              <a:t>Early warnings: training needs persist across review cycles; key employees carry unsustainable workloads; initiatives miss readiness milestones; gaps emerge when operations expand.</a:t>
            </a:r>
          </a:p>
          <a:p>
            <a:r>
              <a:t>Impact: the enterprise cannot consistently deliver the value its positioning promises.</a:t>
            </a:r>
          </a:p>
          <a:p>
            <a:r>
              <a:t>Ask the diagnostic question: "Does the organisation possess and deploy the capabilities necessary to operate successfully in its chosen arena?"</a:t>
            </a:r>
          </a:p>
          <a:p>
            <a:r>
              <a:t>Example: a healthcare provider introduces a digital patient-care model; staff lack the digital skills and technical support is thin. Service quality varies and adoption slows.</a:t>
            </a:r>
          </a:p>
          <a:p/>
          <a:p>
            <a:r>
              <a:rPr b="1"/>
              <a:t>4. Clog 03 · Decision Bottlenecks · Boundaries.</a:t>
            </a:r>
          </a:p>
          <a:p>
            <a:r>
              <a:t>System reality: decision rights, delegation limits, approval processes or governance layers keep decisions from being made at the right level and speed; escalation does not distinguish strategic from routine decisions.</a:t>
            </a:r>
          </a:p>
          <a:p>
            <a:r>
              <a:t>Contribution reality: managers hesitate to exercise judgement; teams seek approval for matters they could resolve; senior leaders are overloaded; responsibility is assigned without matching authority.</a:t>
            </a:r>
          </a:p>
          <a:p>
            <a:r>
              <a:t>Patterns: routine matters need senior approval; decisions return to meetings unresolved; project teams wait for sign-off; senior executives are drawn into minor operational matters.</a:t>
            </a:r>
          </a:p>
          <a:p>
            <a:r>
              <a:t>Early warnings: rising decision turnaround times; queues of unresolved approvals; recurring agenda items without closure; teams report they are waiting for a decision.</a:t>
            </a:r>
          </a:p>
          <a:p>
            <a:r>
              <a:t>Impact: execution velocity slows, ownership weakens and the organisation responds more slowly to customers.</a:t>
            </a:r>
          </a:p>
          <a:p>
            <a:r>
              <a:t>Ask the diagnostic question: "Are decisions being made by the right people, with sufficient authority, information and speed?"</a:t>
            </a:r>
          </a:p>
          <a:p>
            <a:r>
              <a:t>Example: a branch manager sees a service problem and cannot approve a small process change without head-office authorisation, although the branch has the knowledge and resources to respond.</a:t>
            </a:r>
          </a:p>
          <a:p>
            <a:r>
              <a:t>Deepen, say: "The single leader who handles everything because no one else is appointed to handle anything is one of the most common and costly organisational design failures. Structure the work so each matter is handled at the appropriate level."</a:t>
            </a:r>
          </a:p>
          <a:p>
            <a:r>
              <a:t>(Insight: Handling at the right level. Source: Journal, 11 February 2026 — Professional Insights: Strategy)</a:t>
            </a:r>
          </a:p>
          <a:p/>
          <a:p>
            <a:r>
              <a:rPr b="1"/>
              <a:t>5. Clog 04 · Misaligned Metrics &amp; Incentives · Value Proposition.</a:t>
            </a:r>
          </a:p>
          <a:p>
            <a:r>
              <a:t>System reality: the performance system measures and rewards activities that do not reflect the value the strategy intends; scorecards stay unchanged after priorities shift; local targets encourage local optimisation.</a:t>
            </a:r>
          </a:p>
          <a:p>
            <a:r>
              <a:t>Contribution reality: people attend to what they are rated on, and may put target achievement ahead of customer value, collaboration, quality or sustainable results. Committed people face tension when doing what the strategy needs threatens their rating.</a:t>
            </a:r>
          </a:p>
          <a:p>
            <a:r>
              <a:t>Patterns: strong departmental KPIs alongside disappointing enterprise results; teams protect their own targets; volume over quality; reviews about scores without contribution; incentives that discourage collaboration.</a:t>
            </a:r>
          </a:p>
          <a:p>
            <a:r>
              <a:t>Early warnings: reported performance improves while customer outcomes fall; contradictory accounts of success; targets met through reclassification or selective reporting.</a:t>
            </a:r>
          </a:p>
          <a:p>
            <a:r>
              <a:t>Impact: measurable activity without the intended value proposition.</a:t>
            </a:r>
          </a:p>
          <a:p>
            <a:r>
              <a:t>Ask the diagnostic question: "Are people being measured and rewarded for contributions that genuinely produce the intended strategic value?"</a:t>
            </a:r>
          </a:p>
          <a:p>
            <a:r>
              <a:t>Example: a contact centre rewards agents for calls completed; agents shorten conversations, repeat calls rise and satisfaction falls.</a:t>
            </a:r>
          </a:p>
          <a:p/>
          <a:p>
            <a:r>
              <a:rPr b="1"/>
              <a:t>6. Clog 05 · Cultural Resistance · Value Proposition.</a:t>
            </a:r>
          </a:p>
          <a:p>
            <a:r>
              <a:t>System reality: established norms, assumptions, informal rules and everyday practices do not support the behaviours the strategy requires; the strategy asks for collaboration, experimentation or accountability while the culture reinforces hierarchy, risk avoidance, silence or functional protection.</a:t>
            </a:r>
          </a:p>
          <a:p>
            <a:r>
              <a:t>Contribution reality: people read the strategy through past experience and what they see rewarded or tolerated; they hesitate when they doubt its sustainability, feel unsafe challenging practice or see leaders behave inconsistently. Resistance can also signal unresolved concerns about feasibility, fairness or capability.</a:t>
            </a:r>
          </a:p>
          <a:p>
            <a:r>
              <a:t>Patterns: return to familiar practice under pressure; formal compliance without behaviour change; little challenge or initiative; resisted collaboration; informal narratives that undermine formal messages.</a:t>
            </a:r>
          </a:p>
          <a:p>
            <a:r>
              <a:t>Early warnings: silence in important discussions; low participation in improvement; repeated scepticism; leaders endorsing behaviours they do not demonstrate.</a:t>
            </a:r>
          </a:p>
          <a:p>
            <a:r>
              <a:t>Impact: new systems are adopted superficially while old habits keep shaping delivery.</a:t>
            </a:r>
          </a:p>
          <a:p>
            <a:r>
              <a:t>Ask the diagnostic question: "Which established beliefs, norms and behaviours are reinforcing or obstructing the contributions required by the strategy?"</a:t>
            </a:r>
          </a:p>
          <a:p>
            <a:r>
              <a:t>Example: a company launches a customer-first strategy, yet employees are still criticised for initiative outside rigid procedures, so teams escalate problems they could resolve.</a:t>
            </a:r>
          </a:p>
          <a:p>
            <a:r>
              <a:t>Say: "Test this diagnosis every time: is this a culture issue, or the downstream consequence of Leadership Avoidance? It is the most comfortable diagnosis because it externalises the problem."</a:t>
            </a:r>
          </a:p>
          <a:p/>
          <a:p>
            <a:r>
              <a:rPr b="1"/>
              <a:t>7. Clog 06 · Technology / Infrastructure Lag · Competition.</a:t>
            </a:r>
          </a:p>
          <a:p>
            <a:r>
              <a:t>System reality: technology, information architecture, infrastructure or physical assets are not reliable, integrated or scalable enough for strategic demands; legacy platforms fragment information and limit capacity and speed of adaptation.</a:t>
            </a:r>
          </a:p>
          <a:p>
            <a:r>
              <a:t>Contribution reality: people correct data, reconcile records, duplicate entries and build workarounds; managers decide on incomplete information; people are held to efficiency standards the systems cannot support.</a:t>
            </a:r>
          </a:p>
          <a:p>
            <a:r>
              <a:t>Patterns: spreadsheets and manual reporting; duplicate data entry; late or inconsistent management information; errors rising with workload; unofficial systems.</a:t>
            </a:r>
          </a:p>
          <a:p>
            <a:r>
              <a:t>Early warnings: lengthening reporting cycles; discrepancies between sources; rising manual effort; downtime or integration failures affecting delivery.</a:t>
            </a:r>
          </a:p>
          <a:p>
            <a:r>
              <a:t>Impact: lost speed, information quality and ability to scale; competitive responsiveness weakens.</a:t>
            </a:r>
          </a:p>
          <a:p>
            <a:r>
              <a:t>Ask the diagnostic question: "Can the organisation's technology and infrastructure support the speed, reliability, visibility and scale required by its strategy?"</a:t>
            </a:r>
          </a:p>
          <a:p>
            <a:r>
              <a:t>Example: a logistics company promises real-time delivery visibility; its transport and customer systems do not communicate, staff compile updates by hand and customers receive inconsistent information.</a:t>
            </a:r>
          </a:p>
          <a:p/>
          <a:p>
            <a:r>
              <a:rPr b="1"/>
              <a:t>8. Clog 07 · Leadership Avoidance · Arena + Boundaries.</a:t>
            </a:r>
          </a:p>
          <a:p>
            <a:r>
              <a:t>System reality: leadership mechanisms fail to resolve material trade-offs, repeated underperformance, resource conflicts, accountability gaps or strategic tensions; forums become reporting rituals.</a:t>
            </a:r>
          </a:p>
          <a:p>
            <a:r>
              <a:t>Contribution reality: mixed signals on priorities, standards and consequences; people learn that difficult issues can be postponed; confidence in leadership falls and people protect themselves.</a:t>
            </a:r>
          </a:p>
          <a:p>
            <a:r>
              <a:t>Patterns: problems recur across reviews; decisions recorded and not implemented; underperformance continues without intervention; priorities change without trade-offs resolved.</a:t>
            </a:r>
          </a:p>
          <a:p>
            <a:r>
              <a:t>Early warnings: the same issues across several cycles; people stop raising problems; escalations stay unresolved; uncertainty about which priorities matter.</a:t>
            </a:r>
          </a:p>
          <a:p>
            <a:r>
              <a:t>Impact: strategic focus weakens, and over time this clog reinforces all six others because their causes remain unaddressed.</a:t>
            </a:r>
          </a:p>
          <a:p>
            <a:r>
              <a:t>Ask the diagnostic question: "Are leaders making and following through on the decisions necessary to remove performance constraints?"</a:t>
            </a:r>
          </a:p>
          <a:p>
            <a:r>
              <a:t>Example: a management team repeatedly identifies poor coordination between sales and operations and avoids changing responsibilities because two senior executives disagree. Both teams are blamed for missed delivery targets.</a:t>
            </a:r>
          </a:p>
          <a:p/>
          <a:p>
            <a:r>
              <a:rPr b="1"/>
              <a:t>9. Say how to use the map.</a:t>
            </a:r>
          </a:p>
          <a:p>
            <a:r>
              <a:t>Say: "Use the map in three moves. Diagnose at the level of distortion: ask where the system is distorted, beyond what is going wrong. Look for pattern clustering: where several signals point to the same clog. Anchor the intervention correctly: each clog needs a targeted intervention, and general pressure will not clear it."</a:t>
            </a:r>
          </a:p>
          <a:p>
            <a:r>
              <a:t>Listen for: relief and recognition. Take them past it: "Recognising it is the start. Now name it precisely."</a:t>
            </a:r>
          </a:p>
          <a:p/>
          <a:p>
            <a:r>
              <a:rPr b="1"/>
              <a:t>10. Ask, now that the seven are taught.</a:t>
            </a:r>
          </a:p>
          <a:p>
            <a:r>
              <a:t>Ask: "Which of the seven clogs is most predictable in your organisation given your current strategic direction? What does that tell you about where to look first?"</a:t>
            </a:r>
          </a:p>
          <a:p/>
          <a:p>
            <a:r>
              <a:rPr b="1"/>
              <a:t>11. Bridge to 1.4.</a:t>
            </a:r>
          </a:p>
          <a:p>
            <a:r>
              <a:t>Say: "To name a clog precisely, you need three kinds of evidence. The next slide gives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Why Disciplined Intervention Clears Strategic Clogs</a:t>
            </a:r>
          </a:p>
          <a:p/>
          <a:p>
            <a:r>
              <a:rPr b="1"/>
              <a:t>HOW THIS SECTION RUNS:</a:t>
            </a:r>
          </a:p>
          <a:p>
            <a:r>
              <a:t>1. 2.1 Three disciplines of execution engineering: early identification, accurate classification and targeted intervention, each in people performance and organisational performance.</a:t>
            </a:r>
          </a:p>
          <a:p>
            <a:r>
              <a:rPr b="1"/>
              <a:t>2. 2.2 The 7 Strategic Unclogging Levers, one at a time.</a:t>
            </a:r>
          </a:p>
          <a:p>
            <a:r>
              <a:rPr b="1"/>
              <a:t>3. The Section 2 Reflections slide.</a:t>
            </a:r>
          </a:p>
          <a:p/>
          <a:p>
            <a:r>
              <a:rPr b="1"/>
              <a:t>SECTION LEARNING OUTCOMES:</a:t>
            </a:r>
          </a:p>
          <a:p>
            <a:r>
              <a:t>1. Select and apply responses to strategic clogs across people and organisational performance.</a:t>
            </a:r>
          </a:p>
          <a:p>
            <a:r>
              <a:t>2. Intervene early in emerging execution friction before it compounds.</a:t>
            </a:r>
          </a:p>
          <a:p/>
          <a:p>
            <a:r>
              <a:rPr b="1"/>
              <a:t>HOW TO OPEN THE SECTION:</a:t>
            </a:r>
          </a:p>
          <a:p/>
          <a:p>
            <a:r>
              <a:rPr b="1"/>
              <a:t>1. Name the ignition point.</a:t>
            </a:r>
          </a:p>
          <a:p>
            <a:r>
              <a:t>Say: "The ignition point of this section is the mindset shift: from 'Why is the strategy failing?' to 'Where are our people and our organisational conditions not yet ready to carry the strategy?' This diagnostic posture moves leadership from blame to engineering."</a:t>
            </a:r>
          </a:p>
          <a:p/>
          <a:p>
            <a:r>
              <a:rPr b="1"/>
              <a:t>2. Link from Section 1.</a:t>
            </a:r>
          </a:p>
          <a:p>
            <a:r>
              <a:t>Say: "Section 1 traced how a clog forms and how it shows: in the result that falls short, in what individuals and teams are doing or unable to do, and in the organisational conditions behind their behaviour. A named clog still holds until leaders act on it."</a:t>
            </a:r>
          </a:p>
          <a:p/>
          <a:p>
            <a:r>
              <a:rPr b="1"/>
              <a:t>3. Teach the section narrative.</a:t>
            </a:r>
          </a:p>
          <a:p>
            <a:r>
              <a:t>Say: "Leaders resolve clogs through three disciplines. They identify the clog early, while it is still a signal. They classify it accurately, so the response addresses its cause. They intervene with the lever that removes that cause. Each discipline is a habit the executive team builds through practice in every review.</a:t>
            </a:r>
          </a:p>
          <a:p>
            <a:r>
              <a:t>Early action matters because a clog compounds. The delay it causes in one function becomes the constraint on the next, and a matter one adjustment would have resolved early grows into a recovery effort across several functions.</a:t>
            </a:r>
          </a:p>
          <a:p>
            <a:r>
              <a:t>Every response works on two sides at once. In people performance, it restores the authority, capability, focus and confidence people need to deliver their tasks. In organisational performance, it changes the structures, processes, systems, resources and governance so that they support those tasks. A response confined to one side leaves the clog in place on the other."</a:t>
            </a:r>
          </a:p>
          <a:p>
            <a:r>
              <a:t>Add: "Some friction is unavoidable in complex systems. The objective is to identify clogs early, understand them correctly and address them deliberately. At that moment the leadership team moves from reacting to stalled initiatives to engineering the flow of execution."</a:t>
            </a:r>
          </a:p>
          <a:p/>
          <a:p>
            <a:r>
              <a:rPr b="1"/>
              <a:t>4. Bridge to 2.1.</a:t>
            </a:r>
          </a:p>
          <a:p>
            <a:r>
              <a:t>Say: "Part 2.1 sets out the three disciplines. Part 2.2 sets out the seven levers leaders apply once the clog is named."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UNDERSTANDING WHERE PERFORMANCE BECOMES CONSTRAINED (Why clogs form · Two dimensions of performance)</a:t>
            </a:r>
          </a:p>
          <a:p/>
          <a:p>
            <a:r>
              <a:rPr b="1"/>
              <a:t>HOW TO TEACH IT:</a:t>
            </a:r>
          </a:p>
          <a:p/>
          <a:p>
            <a:r>
              <a:rPr b="1"/>
              <a:t>1. Teach why clogs form.</a:t>
            </a:r>
          </a:p>
          <a:p>
            <a:r>
              <a:t>Say: "When leaders define a strategy, they set a new direction. The organisation executes that direction through what it has today: its structure, decision rights, culture, measures, capabilities and technology, and the ways of working its people have built within them. Where any of these has not yet adapted to the strategy, friction appears."</a:t>
            </a:r>
          </a:p>
          <a:p>
            <a:r>
              <a:t>Point to the line at the foot of the slide: "Clogs form where the strategy stretches today's organisation beyond what it was designed to carry."</a:t>
            </a:r>
          </a:p>
          <a:p/>
          <a:p>
            <a:r>
              <a:rPr b="1"/>
              <a:t>2. Give the predictable pressure points.</a:t>
            </a:r>
          </a:p>
          <a:p>
            <a:r>
              <a:t>Say: "A strategy that requires rapid coordination across functions exposes Structural Misfit in reporting lines and governance processes. A strategy that depends on data-driven decisions reveals Capability Gaps in analytical skills and technology platforms. A strategy that requires decisions closer to the customer exposes Decision Bottlenecks in hierarchical approval structures. A strategy that depends on collaboration surfaces Cultural Resistance where incentives reward individual performance. Each strategy places its weight on known parts of the organisation, so leaders can anticipate where its clogs will form."</a:t>
            </a:r>
          </a:p>
          <a:p/>
          <a:p>
            <a:r>
              <a:rPr b="1"/>
              <a:t>3. Read the question on the slide.</a:t>
            </a:r>
          </a:p>
          <a:p>
            <a:r>
              <a:t>Say: "Experienced leadership teams read a clog as a signal of where the organisation must adapt next. Setting the direction is one part of their role; making sure the organisation can carry it is the other. That reframes the question."</a:t>
            </a:r>
          </a:p>
          <a:p>
            <a:r>
              <a:t>Read: "Where are our people and our organisational conditions not yet ready to carry the strategy?"</a:t>
            </a:r>
          </a:p>
          <a:p>
            <a:r>
              <a:t>Say: "This moves execution from reactive troubleshooting to proactive execution architecture."</a:t>
            </a:r>
          </a:p>
          <a:p>
            <a:r>
              <a:t>Deepen, say: "The first response to significant change is almost always resistance and escalation, and intensifying friction can be evidence that the direction is right. Plan for the first phase of resistance before launching the change."</a:t>
            </a:r>
          </a:p>
          <a:p>
            <a:r>
              <a:t>(Insight: Resistance is predictable. Source: Journal, 5 February 2026 — Professional Insights: Strategy)</a:t>
            </a:r>
          </a:p>
          <a:p/>
          <a:p>
            <a:r>
              <a:rPr b="1"/>
              <a:t>4. Teach the two dimensions of performance.</a:t>
            </a:r>
          </a:p>
          <a:p>
            <a:r>
              <a:t>Say: "Strategy depends on the organisation's ability to convert intent into coordinated contributions and measurable results. That takes two connected dimensions of performance."</a:t>
            </a:r>
          </a:p>
          <a:p>
            <a:r>
              <a:t>Organisational performance: the enterprise's ability to create, deliver and sustain value. It reflects how effectively structures, processes, resources, capabilities, governance and operating systems work together to produce strategic outcomes.</a:t>
            </a:r>
          </a:p>
          <a:p>
            <a:r>
              <a:t>People performance: how effectively individuals and teams understand expectations, make decisions, exercise judgement, apply capabilities, collaborate and deliver their contributions to organisational results.</a:t>
            </a:r>
          </a:p>
          <a:p>
            <a:r>
              <a:t>Say: "Both operate within the same enterprise system. When organisational conditions are weak, even capable and committed people struggle: they experience delays, conflicting priorities, unclear responsibilities, resource shortages and barriers beyond their authority. When people performance is weak, the organisation may have adequate resources and well-designed processes and still experience poor judgement, inconsistent behaviours, weak collaboration, limited ownership and unreliable delivery."</a:t>
            </a:r>
          </a:p>
          <a:p/>
          <a:p>
            <a:r>
              <a:rPr b="1"/>
              <a:t>5. Show how they reinforce each other.</a:t>
            </a:r>
          </a:p>
          <a:p>
            <a:r>
              <a:t>Say: "These conditions often reinforce one another. Unclear decision rights create hesitation among managers. Repeated hesitation then encourages senior leaders to centralise decisions further, which increases the original bottleneck."</a:t>
            </a:r>
          </a:p>
          <a:p>
            <a:r>
              <a:t>Deepen, say: "Leaders caught between what they know is right and what their environment allows must address the environment as well as the decision. The problem is structural."</a:t>
            </a:r>
          </a:p>
          <a:p>
            <a:r>
              <a:t>(Insight: A structural problem. Source: Journal, 17 February 2026 — Professional Insights: Leadership)</a:t>
            </a:r>
          </a:p>
          <a:p/>
          <a:p>
            <a:r>
              <a:rPr b="1"/>
              <a:t>6. Bridge to 1.3.</a:t>
            </a:r>
          </a:p>
          <a:p>
            <a:r>
              <a:t>Say: "The 7-Clog Diagnostic Map names seven recurring conditions that constrain the organisation's capacity to deliver its strategy. It examines both the condition of the organisational system and the performance patterns emerging within it."</a:t>
            </a:r>
          </a:p>
          <a:p/>
          <a:p>
            <a:r>
              <a:rPr b="1"/>
              <a:t>ON THE PORTAL, AFTER THE TEACHING:</a:t>
            </a:r>
          </a:p>
          <a:p>
            <a:r>
              <a:t>Participants write the reflection at the foot of part 1.2: given their current strategic direction, the element of their operating system most likely to create friction (structure, decision rights, culture, metrics, capability or technology), and why this is predictable.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THREE DISCIPLINES OF EXECUTION ENGINEERING</a:t>
            </a:r>
          </a:p>
          <a:p/>
          <a:p>
            <a:r>
              <a:rPr b="1"/>
              <a:t>HOW TO TEACH IT:</a:t>
            </a:r>
          </a:p>
          <a:p/>
          <a:p>
            <a:r>
              <a:rPr b="1"/>
              <a:t>1. Discipline 1 · Early Identification: detect signals before they compound.</a:t>
            </a:r>
          </a:p>
          <a:p>
            <a:r>
              <a:t>Say: "Leaders must detect the signals that friction is forming: bottlenecks, repeated coordination failures, declining execution speed, growing ambiguity in decision rights. A clog detected as a friction signal needs a targeted structural adjustment. The same clog discovered six months later, compounded into a systemic failure, needs a crisis response. The cost in time, capital and leadership credibility is vastly different. This discipline builds signal literacy: the ability to read organisational patterns as early indicators of structural misalignment."</a:t>
            </a:r>
          </a:p>
          <a:p>
            <a:r>
              <a:t>Say: "Early signals appear in the rhythm of work before they appear in the results. Leaders find them in three places: in the review, where the same items carry forward and explanations replace progress; in the flow of work, where hand-offs slow, approvals queue and workarounds multiply; and in conversation, where people stop raising problems or raise the same one repeatedly. The early warning signals of each clog give a reference to read against."</a:t>
            </a:r>
          </a:p>
          <a:p>
            <a:r>
              <a:t>People performance: decisions held for approval that the individual could take, rework rising on the same tasks, longer hours for the same output, silence where challenge is needed. Leaders who ask a team what is slowing its work hear these within weeks; a review that reads only the KPI sees them a quarter later. Example, workforce capacity: one specialist's queue grows each week while the projects that depend on that person report small slips.</a:t>
            </a:r>
          </a:p>
          <a:p>
            <a:r>
              <a:t>Organisational performance: Governance · Authority. The same unresolved item appears on three consecutive agendas, and each team waiting on it reports its delay separately. Systems · Integration. Two reports give different figures for the same measure, and teams spend their time reconciling them.</a:t>
            </a:r>
          </a:p>
          <a:p>
            <a:r>
              <a:t>Say: "None of these carries a number in the review, so leaders ask for them by name."</a:t>
            </a:r>
          </a:p>
          <a:p>
            <a:r>
              <a:t>Deepen, say: "Confident diagnosis from incomplete data is a common failure. Distinguish present difficulty from final outcome."</a:t>
            </a:r>
          </a:p>
          <a:p>
            <a:r>
              <a:t>(Insight: Present difficulty. Source: Journal, 21 August 2026 — Professional Insights: Strategy)</a:t>
            </a:r>
          </a:p>
          <a:p/>
          <a:p>
            <a:r>
              <a:t>2. Discipline 2 · Accurate Classification: name the clog precisely before intervening.</a:t>
            </a:r>
          </a:p>
          <a:p>
            <a:r>
              <a:t>Say: "Each clog belongs to a specific category of friction, and each needs a different form of intervention. The most common diagnostic failure is applying the wrong lever to a correctly identified symptom. A leader who sees slow execution and adds resources is applying a capability lever to what may be a decision bottleneck. The resources do not accelerate execution, because the constraint is approval latency. The first question is: what type of friction is this, and what does it tell us about the system?"</a:t>
            </a:r>
          </a:p>
          <a:p>
            <a:r>
              <a:t>Say: "Classification uses the three lines of sight. The outcome confirms a clog exists. The behaviour shows how it acts on people. The condition names the clog. Test the evidence against each of the seven in turn and keep the one that explains why the pattern persists. Where several act together, name the primary clog, the one whose removal releases the others, and record the contributing clogs beside it."</a:t>
            </a:r>
          </a:p>
          <a:p>
            <a:r>
              <a:t>People performance: separate what is within the individual's control from what the conditions impose. An individual who delays decisions may lack confidence; the same delay appears when the individual lacks the authority to decide. Establish which applies, with evidence, before choosing a capability or accountability response.</a:t>
            </a:r>
          </a:p>
          <a:p>
            <a:r>
              <a:t>Organisational performance: Governance · Authority. Approvals for routine work sit two levels above the people doing it: the slow delivery is a Decision Bottleneck. Systems · Integration. The hand-offs between three functions have no single owner: the same slow delivery is Structural Misfit. One symptom, two clogs, two levers.</a:t>
            </a:r>
          </a:p>
          <a:p>
            <a:r>
              <a:t>Deepen, say: "Misdiagnosis leads to wrong action. Challenge the assumptions behind a diagnosis before choosing the intervention."</a:t>
            </a:r>
          </a:p>
          <a:p>
            <a:r>
              <a:t>(Insight: Misdiagnosis. Source: Journal, 5 July 2026 — Professional Insights: Strategy)</a:t>
            </a:r>
          </a:p>
          <a:p/>
          <a:p>
            <a:r>
              <a:rPr b="1"/>
              <a:t>3. Discipline 3 · Targeted Intervention: pull the right lever with precision.</a:t>
            </a:r>
          </a:p>
          <a:p>
            <a:r>
              <a:t>Say: "Clogs rarely clear through trying harder or working more hours. They need a deliberate adjustment to the organisation's structural, behavioural and operational settings, its plumbing. Targeted intervention matches the lever to the root cause, and accepts that a clog rarely needs just one fix. A Capability Gap may need Upgrade and Reinforce. Leadership Avoidance may need Clarify and Rebuild Trust."</a:t>
            </a:r>
          </a:p>
          <a:p>
            <a:r>
              <a:t>Say: "A targeted intervention names what will change, who will change it and the evidence that will show the clog clearing: the signal expected to fall, the behaviour expected to change and the result expected to move. Sequence it: where two levers are needed, the lever that changes the condition usually comes first, and the lever that builds people's capability or confidence follows."</a:t>
            </a:r>
          </a:p>
          <a:p>
            <a:r>
              <a:t>People performance: clear authority, the skills the strategy now requires, coaching through the first cycles and consistent consequences, confirmed in the work: decisions taken at the right level, less rework, problems raised early. Example, workforce capacity: specialist capacity is added where the strategy concentrates demand.</a:t>
            </a:r>
          </a:p>
          <a:p>
            <a:r>
              <a:t>Organisational performance: Governance · Authority. Delegation limits for routine decisions are reset and published. Systems · Integration. One source of customer data replaces three, and every report draws on it. Leaders confirm the change in the condition itself, then in the Key Result.</a:t>
            </a:r>
          </a:p>
          <a:p/>
          <a:p>
            <a:r>
              <a:rPr b="1"/>
              <a:t>4. Close on the rhythm.</a:t>
            </a:r>
          </a:p>
          <a:p>
            <a:r>
              <a:t>Point to the line on the slide: "Identify the Clog → Select the Lever → Targeted Intervention."</a:t>
            </a:r>
          </a:p>
          <a:p>
            <a:r>
              <a:t>Say: "Mastered, this rhythm turns execution from a reactive struggle into a resilient, continuous process of adjustment."</a:t>
            </a:r>
          </a:p>
          <a:p/>
          <a:p>
            <a:r>
              <a:rPr b="1"/>
              <a:t>5. Bridge to 2.2.</a:t>
            </a:r>
          </a:p>
          <a:p>
            <a:r>
              <a:t>Say: "The third discipline needs a set of levers. The next slide gives the seven."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2.2 — THE 7 STRATEGIC UNCLOGGING LEVERS</a:t>
            </a:r>
          </a:p>
          <a:p/>
          <a:p>
            <a:r>
              <a:rPr b="1"/>
              <a:t>HOW TO TEACH IT:</a:t>
            </a:r>
          </a:p>
          <a:p/>
          <a:p>
            <a:r>
              <a:rPr b="1"/>
              <a:t>1. Introduce the toolkit.</a:t>
            </a:r>
          </a:p>
          <a:p>
            <a:r>
              <a:t>Say: "Think of these seven levers as the leadership toolkit for execution architecture. They restore the conditions that let the strategy move through the organisation at the speed and quality intended. Friction can come from anywhere: outdated technology, confusing reporting lines, a lack of trust. Each lever targets a specific dimension of the system, and together they let a leadership team stop fighting the system and start fine-tuning it."</a:t>
            </a:r>
          </a:p>
          <a:p>
            <a:r>
              <a:t>Say: "A lever is a structural adjustment: a redesigned decision right, a reset KPI, a rebuilt process, a named accountability. 'We need to improve communication' is too vague to act on."</a:t>
            </a:r>
          </a:p>
          <a:p/>
          <a:p>
            <a:r>
              <a:rPr b="1"/>
              <a:t>2. Lever 01 · Standardise · ensure consistency.</a:t>
            </a:r>
          </a:p>
          <a:p>
            <a:r>
              <a:t>Say: "Harmonises processes and service levels across teams so everyone works by the same rules. Variability is a silent killer of speed. Apply when variability across teams creates drag. Best applied to Structural Misfit, Misaligned Metrics &amp; Incentives, and Technology / Infrastructure Lag. Leaders define the standard, the measure that shows it is met and the leader who keeps it current, and leave local judgement where the strategy needs it."</a:t>
            </a:r>
          </a:p>
          <a:p>
            <a:r>
              <a:t>People: individuals work to one set of expectations and are held to the same measure of quality and timeliness. Organisation: Systems · Standardisation, three regions' onboarding processes become one, with one set of service levels; Governance · Policies &amp; Procedures, a named leader maintains the standard and reviews compliance each quarter.</a:t>
            </a:r>
          </a:p>
          <a:p/>
          <a:p>
            <a:r>
              <a:rPr b="1"/>
              <a:t>3. Lever 02 · Streamline · increase speed.</a:t>
            </a:r>
          </a:p>
          <a:p>
            <a:r>
              <a:t>Say: "Simplifies workflows and removes the layers that add no value to execution. Apply when approval processes create latency. Best applied to Decision Bottlenecks and Structural Misfit. Leaders map the path the work takes, mark where it waits, and remove or combine steps that change nothing in the outcome. Controls that protect the organisation stay, placed at the point of greatest risk."</a:t>
            </a:r>
          </a:p>
          <a:p>
            <a:r>
              <a:t>People: managers decide within clear limits and teams stop chasing approvals. Organisation: Governance · Authority, routine purchases below an agreed limit no longer need senior approval; Systems · Process Efficiency, one electronic approval route replaces email chains, and every request shows where it sits.</a:t>
            </a:r>
          </a:p>
          <a:p>
            <a:r>
              <a:t>Deepen, say: "Drift sets in when accumulated processes, activities and traditions become more important than the value they were meant to serve. Protect the core from the additions that obscure it."</a:t>
            </a:r>
          </a:p>
          <a:p>
            <a:r>
              <a:t>(Insight: Drift. Source: Journal, 25 September 2026 — Professional Insights: Strategy)</a:t>
            </a:r>
          </a:p>
          <a:p/>
          <a:p>
            <a:r>
              <a:rPr b="1"/>
              <a:t>4. Lever 03 · Clarify · eliminate confusion.</a:t>
            </a:r>
          </a:p>
          <a:p>
            <a:r>
              <a:t>Say: "Defines who owns what, where the handoffs are and who has the final say. Ambiguity breeds hesitation. Apply when ownership ambiguity causes hesitation. Best applied to Decision Bottlenecks, Structural Misfit and Leadership Avoidance. Leaders write the decision rights and hand-offs down, agree them across the functions and communicate them to everyone working across the boundary."</a:t>
            </a:r>
          </a:p>
          <a:p>
            <a:r>
              <a:t>People: individuals know which decisions are theirs, escalation falls, and accountability is fair because responsibility carries matching authority. Organisation: Governance · Authority, one executive owns the end-to-end customer-resolution outcome; Governance · Authority, each open trade-off has a named decision-maker and a decision date.</a:t>
            </a:r>
          </a:p>
          <a:p/>
          <a:p>
            <a:r>
              <a:rPr b="1"/>
              <a:t>5. Lever 04 · Upgrade · remove bottlenecks.</a:t>
            </a:r>
          </a:p>
          <a:p>
            <a:r>
              <a:t>Say: "Fixes underperforming technology and infrastructure. You cannot run a modern strategy on yesterday's tools. Apply when systems create friction that blocks flow. Best applied to Technology / Infrastructure Lag and Capability Gaps. Leaders define the performance the strategy needs in speed, reliability, visibility and scale, measure the gap and invest where it constrains the Key Result most."</a:t>
            </a:r>
          </a:p>
          <a:p>
            <a:r>
              <a:t>People: time spent on workarounds returns to the work the strategy needs. Organisation: Systems · Integration, the customer and transport systems are connected, so delivery status updates without manual entry; Environment · Infrastructure, field teams receive reliable connectivity, so orders reach operations the same day.</a:t>
            </a:r>
          </a:p>
          <a:p>
            <a:r>
              <a:t>Deepen, say: "Leaders who remain at the centre of every decision create dependency, slow decision-making and limited growth in others. Place responsibility close to the people who hold the knowledge and authority to carry it."</a:t>
            </a:r>
          </a:p>
          <a:p>
            <a:r>
              <a:t>(Insight: Placing responsibility. Source: Journal, 10 July 2026 — Professional Insights: Leadership)</a:t>
            </a:r>
          </a:p>
          <a:p/>
          <a:p>
            <a:r>
              <a:rPr b="1"/>
              <a:t>6. Lever 05 · Reinforce · strengthen behaviour.</a:t>
            </a:r>
          </a:p>
          <a:p>
            <a:r>
              <a:t>Say: "Equips the team with the skills, coaching and confidence to deliver. Strategy requires new behaviours. Apply when skills or confidence are the limiting factor. Best applied to Capability Gaps and Cultural Resistance. Leaders identify the behaviours the strategy depends on, provide training and coaching, model the behaviours themselves and recognise them when they appear."</a:t>
            </a:r>
          </a:p>
          <a:p>
            <a:r>
              <a:t>People: coaching through the first cycles turns new skills into habits; values and consequences, leaders' own decisions and recognition reflect the behaviours the strategy asks for. Organisation: Resources · Investment, a development programme in digital credit assessment is funded for the whole lending team; Environment · Technology, lending officers receive the credit-assessment software the training uses, so new skills are applied on live cases from the first week.</a:t>
            </a:r>
          </a:p>
          <a:p/>
          <a:p>
            <a:r>
              <a:rPr b="1"/>
              <a:t>7. Lever 06 · Realign · focus on results.</a:t>
            </a:r>
          </a:p>
          <a:p>
            <a:r>
              <a:t>Say: "Adjusts metrics and rewards so they match current strategic priorities. People do what they are measured on. Apply when effort flows only to what is measured. Best applied to Misaligned Metrics &amp; Incentives. Leaders trace each scorecard measure to the Key Result it serves, remove or reweight measures that reward local results at the expense of the enterprise, and add measures for shared results."</a:t>
            </a:r>
          </a:p>
          <a:p>
            <a:r>
              <a:t>People: individuals no longer choose between their rating and the strategy. Organisation: Governance · Policies &amp; Procedures, sales bonuses are paid on margin and customer retention alongside volume; Systems · Integration, shared enterprise measures appear on every functional scorecard that contributes to them.</a:t>
            </a:r>
          </a:p>
          <a:p>
            <a:r>
              <a:t>Say: "Keep Lever 06 Realign distinct from the REALIGN stage of the Unclogging Cycle you will meet in Section 4."</a:t>
            </a:r>
          </a:p>
          <a:p/>
          <a:p>
            <a:r>
              <a:rPr b="1"/>
              <a:t>8. Lever 07 · Rebuild Trust · restore credibility.</a:t>
            </a:r>
          </a:p>
          <a:p>
            <a:r>
              <a:t>Say: "Heals relationships and introduces the transparency people need to commit again. Trust is the social grease of execution. Apply when psychological safety or leadership credibility is the constraint. Best applied to Cultural Resistance and Leadership Avoidance. Leaders acknowledge what has gone wrong, act on the concerns raised, follow through on decisions and make their reasons visible."</a:t>
            </a:r>
          </a:p>
          <a:p>
            <a:r>
              <a:t>People: individuals raise problems early again; psychological safety, leaders open each review by asking what is blocking delivery, and act on what they hear. Organisation: Governance · Policies &amp; Procedures, commitments missed at senior level are addressed to the same standard applied elsewhere; Governance · Risk Management, delivery risks raised in a review are logged with an owner and a date, and the log is examined at the next review.</a:t>
            </a:r>
          </a:p>
          <a:p/>
          <a:p>
            <a:r>
              <a:rPr b="1"/>
              <a:t>9. State the lever selection principle.</a:t>
            </a:r>
          </a:p>
          <a:p>
            <a:r>
              <a:t>Say: "Identifying a clog starts the work. Lever selection completes it. If the clog is a Capability Gap, leaders may need to Upgrade the systems while Reinforcing the team's skills. If it is Leadership Avoidance, they will likely need to Clarify decision rights and Rebuild Trust."</a:t>
            </a:r>
          </a:p>
          <a:p>
            <a:r>
              <a:t>Ask: "Which lever combination addresses the root cause?"</a:t>
            </a:r>
          </a:p>
          <a:p>
            <a:r>
              <a:t>Deepen, say: "Organisations often stay frustrated because they announce priorities without creating the mechanisms through which people can act on them. A practical mechanism converts intention into measurable progress."</a:t>
            </a:r>
          </a:p>
          <a:p>
            <a:r>
              <a:t>(Insight: Mechanisms for action. Source: Journal, 21 July 2026 — Professional Insights: Strategy)</a:t>
            </a:r>
          </a:p>
          <a:p/>
          <a:p>
            <a:r>
              <a:rPr b="1"/>
              <a:t>10. Bridge to the reflection.</a:t>
            </a:r>
          </a:p>
          <a:p>
            <a:r>
              <a:t>Say: "Clogs clear when leaders detect, classify and resolve them with the lever that matches the clog."</a:t>
            </a:r>
          </a:p>
          <a:p/>
          <a:p>
            <a:r>
              <a:rPr b="1"/>
              <a:t>ON THE PORTAL, AFTER THE TEACHING:</a:t>
            </a:r>
          </a:p>
          <a:p>
            <a:r>
              <a:t>Participants write the reflection at the foot of part 2.2: for the clog they identified in Section 1, the primary lever, the second lever they would combine it with, and why this combination.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Where Do Executive Decisions and Practices Contribute to Performance Clogs?</a:t>
            </a:r>
          </a:p>
          <a:p/>
          <a:p>
            <a:r>
              <a:rPr b="1"/>
              <a:t>HOW THIS SECTION RUNS:</a:t>
            </a:r>
          </a:p>
          <a:p>
            <a:r>
              <a:t>1. 3.1 The CXO performance clog contributors: ten executive role cards, each traced through the Three Performance Lines of Sight.</a:t>
            </a:r>
          </a:p>
          <a:p>
            <a:r>
              <a:t>2. The Section 3 Reflections slide, a personal reflection completed as Portfolio work.</a:t>
            </a:r>
          </a:p>
          <a:p/>
          <a:p>
            <a:r>
              <a:rPr b="1"/>
              <a:t>SECTION LEARNING OUTCOMES:</a:t>
            </a:r>
          </a:p>
          <a:p>
            <a:r>
              <a:t>1. Evaluate how executive decisions and practices create or reinforce performance clogs.</a:t>
            </a:r>
          </a:p>
          <a:p>
            <a:r>
              <a:t>2. Anticipate and manage cross-functional performance consequences of executive decisions.</a:t>
            </a:r>
          </a:p>
          <a:p/>
          <a:p>
            <a:r>
              <a:rPr b="1"/>
              <a:t>HOW TO OPEN THE SECTION:</a:t>
            </a:r>
          </a:p>
          <a:p/>
          <a:p>
            <a:r>
              <a:rPr b="1"/>
              <a:t>1. Connect to Section 1.</a:t>
            </a:r>
          </a:p>
          <a:p>
            <a:r>
              <a:t>Say: "This section connects the seven clogs and the Three Performance Lines of Sight of part 1.4 to your own executive roles."</a:t>
            </a:r>
          </a:p>
          <a:p/>
          <a:p>
            <a:r>
              <a:rPr b="1"/>
              <a:t>2. Name the principle.</a:t>
            </a:r>
          </a:p>
          <a:p>
            <a:r>
              <a:t>Say: "Executive roles carry responsibility for different parts of the organisation's operating system. Through their decisions, executives determine how resources are allocated, work is organised, people are managed, performance is measured and risks are controlled. These decisions shape the conditions in which individuals and teams contribute to strategic results. A clog can form when a decision or practice in one function creates difficulties for people working elsewhere."</a:t>
            </a:r>
          </a:p>
          <a:p/>
          <a:p>
            <a:r>
              <a:rPr b="1"/>
              <a:t>3. Bridge to 3.1.</a:t>
            </a:r>
          </a:p>
          <a:p>
            <a:r>
              <a:t>Say: "We take ten roles. Start with your own, then the two closest to 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THE CXO PERFORMANCE CLOG CONTRIBUTORS</a:t>
            </a:r>
          </a:p>
          <a:p/>
          <a:p>
            <a:r>
              <a:rPr b="1"/>
              <a:t>HOW TO TEACH IT:</a:t>
            </a:r>
          </a:p>
          <a:p/>
          <a:p>
            <a:r>
              <a:rPr b="1"/>
              <a:t>1. Say how to read each card.</a:t>
            </a:r>
          </a:p>
          <a:p>
            <a:r>
              <a:t>Say: "Each card gives a realistic executive decision or practice, then traces it through the three lines of sight: the result affected, how people respond, and the clog that follows."</a:t>
            </a:r>
          </a:p>
          <a:p/>
          <a:p>
            <a:r>
              <a:t>2. Teach each participant's own role first, then the two roles closest to it. The ten cards:</a:t>
            </a:r>
          </a:p>
          <a:p/>
          <a:p>
            <a:r>
              <a:t>CEO · Enterprise Direction. Decision: the CEO repeatedly postpones a decision about which of two competing initiatives should receive priority. Outcome: both initiatives fall behind their milestones. Behaviour: teams continue pursuing competing priorities; managers divide resources and delay commitments while awaiting direction. Condition: Leadership Avoidance; the unresolved trade-off sustains conflicting priorities. Ask: "Which unresolved strategic trade-off may be causing competing priorities across the organisation?"</a:t>
            </a:r>
          </a:p>
          <a:p/>
          <a:p>
            <a:r>
              <a:t>CFO · Financial Stewardship. Decision: additional senior-level approvals for routine operational expenditure. Outcome: delivery milestones are missed despite adequate budget. Behaviour: managers wait for purchasing approval, work is delayed, routine requests escalate. Condition: Decision Bottlenecks; financial authority sits too far from routine operational decisions. Ask: "Where might our financial controls be delaying decisions needed for operational delivery?"</a:t>
            </a:r>
          </a:p>
          <a:p/>
          <a:p>
            <a:r>
              <a:t>COO · Operational Discipline. Decision: separate departmental responsibilities are kept for activities that need coordinated end-to-end delivery. Outcome: resolution times stay below standard. Behaviour: teams complete their tasks and transfer unresolved cases between departments. Condition: Structural Misfit; ownership of the customer outcome is fragmented. Ask: "Which operating arrangements make it difficult for teams to deliver shared outcomes?"</a:t>
            </a:r>
          </a:p>
          <a:p/>
          <a:p>
            <a:r>
              <a:t>CHRO · People and Culture. Decision: individual measures focused on task completion are kept when the strategy needs cross-functional collaboration. Outcome: functional targets are met while shared outcomes stay weak. Behaviour: people prioritise their own scorecards. Condition: Misaligned Metrics &amp; Incentives. Ask: "Which performance measures may be reinforcing behaviours that undermine collaboration?"</a:t>
            </a:r>
          </a:p>
          <a:p/>
          <a:p>
            <a:r>
              <a:t>CTO/CIO · Technology and Information. Decision: separate platforms are approved without the integration needed between functions. Outcome: turnaround times and information reliability deteriorate. Behaviour: duplicate entry, reconciling records, manual updates. Condition: Technology / Infrastructure Lag. Ask: "Where are technology limitations forcing employees to rely on workarounds?"</a:t>
            </a:r>
          </a:p>
          <a:p/>
          <a:p>
            <a:r>
              <a:t>CMO · Market and Customer Insight. Decision: promotional activity is increased without confirming the organisation can fulfil the demand. Outcome: complaints rise despite stronger campaign performance. Behaviour: customer-facing staff make commitments fulfilment teams struggle to meet. Condition: Structural Misfit; market activity and delivery capacity are not coordinated. Ask: "Where might our market-facing decisions be creating delivery expectations that other functions cannot meet?"</a:t>
            </a:r>
          </a:p>
          <a:p/>
          <a:p>
            <a:r>
              <a:t>CCO · Commercial Performance. Decision: aggressive volume incentives without delivery quality and retention. Outcome: volumes rise while margins and retention fall. Behaviour: teams close transactions with commitments that strain fulfilment. Condition: Misaligned Metrics &amp; Incentives. Ask: "Which commercial targets might encourage short-term gains that weaken overall results?"</a:t>
            </a:r>
          </a:p>
          <a:p/>
          <a:p>
            <a:r>
              <a:t>CPO · Procurement and Supply. Decision: lowest purchase price is prioritised over reliability and quality. Outcome: production interruptions and quality failures rise despite reported savings. Behaviour: operations spends time resolving supply problems. Condition: Misaligned Metrics &amp; Incentives; savings are measured in procurement and the cost of unreliable supply is felt elsewhere. Ask: "Where might procurement measures be encouraging savings that increase costs or delays in other functions?"</a:t>
            </a:r>
          </a:p>
          <a:p/>
          <a:p>
            <a:r>
              <a:t>CRO · Risk and Governance. Decision: the same extensive approval process for routine low-risk changes as for significant strategic decisions. Outcome: improvements and responses to emerging issues are delayed. Behaviour: managers defer small improvements and avoid decisions within their responsibility. Condition: Decision Bottlenecks; governance is disproportionate to the decisions involved. Ask: "Which approval requirements may be slowing routine decisions without materially improving risk control?"</a:t>
            </a:r>
          </a:p>
          <a:p/>
          <a:p>
            <a:r>
              <a:t>CSO · Strategic Integration. Decision: initiative progress is reported without examining unresolved dependencies between functions. Outcome: milestones slip despite satisfactory functional reports. Behaviour: leaders report their own activities while cross-functional obstacles stay unresolved. Condition: Structural Misfit; the review process does not surface fragmented ownership. Ask: "Which interdependencies remain unresolved despite regular strategic progress reporting?"</a:t>
            </a:r>
          </a:p>
          <a:p/>
          <a:p>
            <a:r>
              <a:rPr b="1"/>
              <a:t>3. Name what the cards have in common.</a:t>
            </a:r>
          </a:p>
          <a:p>
            <a:r>
              <a:t>Say: "Every executive function shapes the conditions in which other teams work. Traced through the three lines of sight, a decision or practice in one function can create or reinforce a clog in another."</a:t>
            </a:r>
          </a:p>
          <a:p/>
          <a:p>
            <a:r>
              <a:rPr b="1"/>
              <a:t>4. Ask, now that the roles are taught.</a:t>
            </a:r>
          </a:p>
          <a:p>
            <a:r>
              <a:t>Ask: "What is one decision, policy or practice in your own function that may be affecting another function's performance?"</a:t>
            </a:r>
          </a:p>
          <a:p>
            <a:r>
              <a:t>Take two answers in the chat.</a:t>
            </a:r>
          </a:p>
          <a:p/>
          <a:p>
            <a:r>
              <a:rPr b="1"/>
              <a:t>5. Bridge to the reflection.</a:t>
            </a:r>
          </a:p>
          <a:p>
            <a:r>
              <a:t>Say: "Executive decisions shape the conditions in which people and teams perform. Your reflection traces one of your own."</a:t>
            </a:r>
          </a:p>
          <a:p/>
          <a:p>
            <a:r>
              <a:rPr b="1"/>
              <a:t>ON THE PORTAL, AFTER THE TEACHING:</a:t>
            </a:r>
          </a:p>
          <a:p>
            <a:r>
              <a:t>Participants complete a personal reflection at the foot of part 3.1, as Portfolio work: their executive function; one decision, policy or practice within it that may be affecting another function; and its consequences through the three lines of sight: the result affected, what people are doing, delaying or unable to do because of it, and the clog it creates or reinforces.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Cross Leadership Clog Ownership</a:t>
            </a:r>
          </a:p>
          <a:p/>
          <a:p>
            <a:r>
              <a:rPr b="1"/>
              <a:t>HOW THIS SECTION RUNS:</a:t>
            </a:r>
          </a:p>
          <a:p>
            <a:r>
              <a:rPr b="1"/>
              <a:t>1. 4.1 Normalising the unclog: from crisis to habit.</a:t>
            </a:r>
          </a:p>
          <a:p>
            <a:r>
              <a:t>2. 4.2 The Unclogging Cycle: REVIEW, REALIGN and RESTORE, one slide each, each adding to the Unclogging Record.</a:t>
            </a:r>
          </a:p>
          <a:p>
            <a:r>
              <a:rPr b="1"/>
              <a:t>3. 4.3 The worked example: a manufacturing case.</a:t>
            </a:r>
          </a:p>
          <a:p>
            <a:r>
              <a:t>4. The Section 4 Reflections slide, a personal reflection completed as Portfolio work.</a:t>
            </a:r>
          </a:p>
          <a:p/>
          <a:p>
            <a:r>
              <a:rPr b="1"/>
              <a:t>SECTION LEARNING OUTCOMES:</a:t>
            </a:r>
          </a:p>
          <a:p>
            <a:r>
              <a:t>1. Mobilise cross-functional leadership to restore shared performance momentum.</a:t>
            </a:r>
          </a:p>
          <a:p>
            <a:r>
              <a:t>2. Establish a collective leadership rhythm for surfacing and resolving performance friction.</a:t>
            </a:r>
          </a:p>
          <a:p/>
          <a:p>
            <a:r>
              <a:rPr b="1"/>
              <a:t>HOW TO OPEN THE SECTION:</a:t>
            </a:r>
          </a:p>
          <a:p/>
          <a:p>
            <a:r>
              <a:rPr b="1"/>
              <a:t>1. Name the central shift.</a:t>
            </a:r>
          </a:p>
          <a:p>
            <a:r>
              <a:t>Say: "The central shift is from 'my clog' to 'our clog'. A blockage may surface in one function while the condition sustaining it sits in another. The leadership team, acting as the collective intelligence for execution discipline, owns the diagnostic conversation and the response together."</a:t>
            </a:r>
          </a:p>
          <a:p>
            <a:r>
              <a:t>Deepen, say: "Leaders who own only what they personally initiated leave inherited breaches to fester. The authority to fix a problem comes with the willingness to be accountable for it."</a:t>
            </a:r>
          </a:p>
          <a:p>
            <a:r>
              <a:t>(Insight: Owning inherited problems. Source: Journal, 2 June 2026 — Professional Insights: Leadership)</a:t>
            </a:r>
          </a:p>
          <a:p/>
          <a:p>
            <a:r>
              <a:rPr b="1"/>
              <a:t>2. Name the principle.</a:t>
            </a:r>
          </a:p>
          <a:p>
            <a:r>
              <a:t>Say: "See something, say something. Surfacing friction in another executive's domain can feel politically risky. Early identification is an act of shared leadership stewardship."</a:t>
            </a:r>
          </a:p>
          <a:p>
            <a:r>
              <a:t>Deepen, say: "Organisations are more effective at dismantling inherited problems than at confronting the ones current leadership has grown comfortable with. A complete audit asks what the current leadership is leaving in place."</a:t>
            </a:r>
          </a:p>
          <a:p>
            <a:r>
              <a:t>(Insight: Self-generated dysfunction. Source: Journal, 23 June 2026 — Professional Insights: Strategy)</a:t>
            </a:r>
          </a:p>
          <a:p/>
          <a:p>
            <a:r>
              <a:rPr b="1"/>
              <a:t>3. Bridge to 4.1.</a:t>
            </a:r>
          </a:p>
          <a:p>
            <a:r>
              <a:t>Say: "We start by making the unclog a habit."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NORMALISING THE UNCLOG: FROM CRISIS TO HABIT (The collective discipline)</a:t>
            </a:r>
          </a:p>
          <a:p/>
          <a:p>
            <a:r>
              <a:rPr b="1"/>
              <a:t>HOW TO TEACH IT:</a:t>
            </a:r>
          </a:p>
          <a:p/>
          <a:p>
            <a:r>
              <a:rPr b="1"/>
              <a:t>1. Teach friction as normal.</a:t>
            </a:r>
          </a:p>
          <a:p>
            <a:r>
              <a:t>Say: "Performance friction is a normal feature of organisational life. Priorities shift, resources become constrained, dependencies increase and operating arrangements may no longer support the required results. Without a shared discipline, these problems are discussed informally, handled within silos or carried from review to review."</a:t>
            </a:r>
          </a:p>
          <a:p/>
          <a:p>
            <a:r>
              <a:rPr b="1"/>
              <a:t>2. Define normalising the unclog.</a:t>
            </a:r>
          </a:p>
          <a:p>
            <a:r>
              <a:t>Say: "Normalising the unclog means making the early detection and removal of performance constraints part of how the executive team operates. Leaders raise concerns through evidence, examine the contributing conditions together and agree an accountable response. Surfacing friction counts as a contribution to organisational learning, including when the condition sits in another executive portfolio."</a:t>
            </a:r>
          </a:p>
          <a:p/>
          <a:p>
            <a:r>
              <a:rPr b="1"/>
              <a:t>3. Teach the consistent path, one line of the slide at a time.</a:t>
            </a:r>
          </a:p>
          <a:p>
            <a:r>
              <a:t>REVIEW the performance evidence and confirm the clog.</a:t>
            </a:r>
          </a:p>
          <a:p>
            <a:r>
              <a:t>REALIGN executive ownership and the changes required across people and organisational performance.</a:t>
            </a:r>
          </a:p>
          <a:p>
            <a:r>
              <a:t>RESTORE by activating the relevant Unclogging Lever and verifying recovery.</a:t>
            </a:r>
          </a:p>
          <a:p>
            <a:r>
              <a:t>Say: "Review–Realign–Restore is the cycle every performance review follows, from Unit 8. Here the executive team applies it together, as the Unclogging Cycle, to a clog that crosses executive portfolios."</a:t>
            </a:r>
          </a:p>
          <a:p/>
          <a:p>
            <a:r>
              <a:rPr b="1"/>
              <a:t>4. State the collective leadership principle.</a:t>
            </a:r>
          </a:p>
          <a:p>
            <a:r>
              <a:t>Read the last line of the slide: "Every executive makes emerging friction visible."</a:t>
            </a:r>
          </a:p>
          <a:p>
            <a:r>
              <a:t>Say: "The leaders who control the contributing conditions act together to remove it, with clear individual ownership for each agreed commitment."</a:t>
            </a:r>
          </a:p>
          <a:p/>
          <a:p>
            <a:r>
              <a:rPr b="1"/>
              <a:t>5. Ask, now that the principle is taught.</a:t>
            </a:r>
          </a:p>
          <a:p>
            <a:r>
              <a:t>Ask: "Which leader is responsible for the organisational condition behind your most active clog, and when was it last reviewed?"</a:t>
            </a:r>
          </a:p>
          <a:p/>
          <a:p>
            <a:r>
              <a:rPr b="1"/>
              <a:t>6. Bridge to 4.2.</a:t>
            </a:r>
          </a:p>
          <a:p>
            <a:r>
              <a:t>Say: "The cycle has three stages, and each completes part of one record. We take them one at a time."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REVIEW</a:t>
            </a:r>
          </a:p>
          <a:p/>
          <a:p>
            <a:r>
              <a:rPr b="1"/>
              <a:t>HOW TO TEACH IT:</a:t>
            </a:r>
          </a:p>
          <a:p/>
          <a:p>
            <a:r>
              <a:rPr b="1"/>
              <a:t>1. Introduce the cycle and the record.</a:t>
            </a:r>
          </a:p>
          <a:p>
            <a:r>
              <a:t>Say: "The Unclogging Cycle is the S2R® discipline the executive team follows to remove a clog. REVIEW establishes the performance reality and confirms the clog. REALIGN settles which leaders act and what must change. RESTORE activates the Unclogging Lever and verifies recovery. Each stage completes one part of the Unclogging Record, so the record the team holds at the end is the evidence of the whole cycle."</a:t>
            </a:r>
          </a:p>
          <a:p/>
          <a:p>
            <a:r>
              <a:rPr b="1"/>
              <a:t>2. Teach what REVIEW establishes.</a:t>
            </a:r>
          </a:p>
          <a:p>
            <a:r>
              <a:t>Say: "REVIEW establishes a shared, evidence-based understanding of the result falling short and the organisational condition contributing to it, using the three lines of sight."</a:t>
            </a:r>
          </a:p>
          <a:p>
            <a:r>
              <a:t>Performance Outcome: confirm the Key Result or KPI that is underperforming and establish the actual gap.</a:t>
            </a:r>
          </a:p>
          <a:p>
            <a:r>
              <a:t>Performance Behaviour: identify what individuals or teams are doing, delaying or unable to do that contributes to the gap.</a:t>
            </a:r>
          </a:p>
          <a:p>
            <a:r>
              <a:t>Performance Condition: test the evidence against the seven clogs and identify the condition sustaining the behaviour.</a:t>
            </a:r>
          </a:p>
          <a:p>
            <a:r>
              <a:t>Say: "The review conversation must let leaders surface friction across functional boundaries, through observable evidence, including where the condition may sit in another executive portfolio."</a:t>
            </a:r>
          </a:p>
          <a:p/>
          <a:p>
            <a:r>
              <a:rPr b="1"/>
              <a:t>3. Teach it on both sides.</a:t>
            </a:r>
          </a:p>
          <a:p>
            <a:r>
              <a:t>People performance: REVIEW examines what individuals and teams are doing, delaying or unable to do, and separates what is within their control from what the conditions impose. The evidence comes from the work itself: decisions waiting, hand-offs repeated, rework recorded.</a:t>
            </a:r>
          </a:p>
          <a:p>
            <a:r>
              <a:t>Organisational performance: REVIEW tests whether the conditions support the execution of the individuals' tasks, and locates the condition sustaining the behaviour, across executive portfolios, because the condition often sits outside the function where the clog shows.</a:t>
            </a:r>
          </a:p>
          <a:p>
            <a:r>
              <a:t>Deepen, say: "Naming a hidden problem specifically restores the capacity for forward movement. Build the conditions in which hidden problems can surface safely and early. Every resource spent hiding a problem compounds its eventual cost: make it cheaper to disclose than to hide, and model disclosure yourself."</a:t>
            </a:r>
          </a:p>
          <a:p>
            <a:r>
              <a:t>(Insight: Surfacing early. Source: Journal, 6 April and 28 May 2026 — Professional Insights: Culture and Leadership)</a:t>
            </a:r>
          </a:p>
          <a:p/>
          <a:p>
            <a:r>
              <a:rPr b="1"/>
              <a:t>4. Read the completion test on the slide.</a:t>
            </a:r>
          </a:p>
          <a:p>
            <a:r>
              <a:t>Say: "REVIEW is complete when the executive team agrees on the performance gap, the supporting evidence and the clog requiring intervention. Into the Unclogging Record go the performance gap, the evidence from the three lines of sight and the confirmed clog."</a:t>
            </a:r>
          </a:p>
          <a:p/>
          <a:p>
            <a:r>
              <a:rPr b="1"/>
              <a:t>5. Bridge to REALIGN.</a:t>
            </a:r>
          </a:p>
          <a:p>
            <a:r>
              <a:t>Say: "With the clog confirmed, the next question is who acts and what changes."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REALIGN</a:t>
            </a:r>
          </a:p>
          <a:p/>
          <a:p>
            <a:r>
              <a:rPr b="1"/>
              <a:t>HOW TO TEACH IT:</a:t>
            </a:r>
          </a:p>
          <a:p/>
          <a:p>
            <a:r>
              <a:rPr b="1"/>
              <a:t>1. Say what REALIGN does.</a:t>
            </a:r>
          </a:p>
          <a:p>
            <a:r>
              <a:t>Say: "Once a clog has been confirmed, the executive team determines which organisational condition needs to change and which leaders have the authority and responsibility to act. A clog may be experienced in one function and sustained by a decision or operating arrangement in another."</a:t>
            </a:r>
          </a:p>
          <a:p/>
          <a:p>
            <a:r>
              <a:rPr b="1"/>
              <a:t>2. Teach the three leadership decisions on the slide.</a:t>
            </a:r>
          </a:p>
          <a:p>
            <a:r>
              <a:t>What must change? Identify the specific organisational arrangement, practice or decision sustaining the clog.</a:t>
            </a:r>
          </a:p>
          <a:p>
            <a:r>
              <a:t>Who must act together? Appoint one coordinating executive owner and name the contributing executives needed to resolve the condition.</a:t>
            </a:r>
          </a:p>
          <a:p>
            <a:r>
              <a:t>What must be agreed? Establish the decisions, responsibilities, resources and timelines required for the intervention.</a:t>
            </a:r>
          </a:p>
          <a:p/>
          <a:p>
            <a:r>
              <a:rPr b="1"/>
              <a:t>3. Teach both sides, as the banner on the slide asks.</a:t>
            </a:r>
          </a:p>
          <a:p>
            <a:r>
              <a:t>People performance: what must change in expectations, authority, capabilities, behaviours or support so individuals and teams can deliver their contributions? The answer becomes the commitments made to the people delivering the result: the authority they receive, the support they are given and what is expected of them.</a:t>
            </a:r>
          </a:p>
          <a:p>
            <a:r>
              <a:t>Organisational performance: what must change in structures, processes, systems, resources, decision rights or governance so the enterprise can produce the intended result? The answer becomes the organisational change the executives agree, with the leader responsible for each part.</a:t>
            </a:r>
          </a:p>
          <a:p>
            <a:r>
              <a:t>Say: "The agreed intervention addresses the confirmed condition while enabling the people responsible for delivery to perform."</a:t>
            </a:r>
          </a:p>
          <a:p/>
          <a:p>
            <a:r>
              <a:rPr b="1"/>
              <a:t>4. Name the accountability.</a:t>
            </a:r>
          </a:p>
          <a:p>
            <a:r>
              <a:t>Say: "Every executive has a responsibility to recognise and surface friction. Collective ownership is supported by clear individual accountability: one leader coordinates the resolution, and the other executives remain accountable for their agreed contributions."</a:t>
            </a:r>
          </a:p>
          <a:p/>
          <a:p>
            <a:r>
              <a:rPr b="1"/>
              <a:t>5. Read the completion test.</a:t>
            </a:r>
          </a:p>
          <a:p>
            <a:r>
              <a:t>Say: "REALIGN is complete when the relevant leaders have agreed what must change, who will act and what each executive must deliver. Into the Unclogging Record go the coordinating executive, the contributing executives and the agreed changes for people and organisational performance."</a:t>
            </a:r>
          </a:p>
          <a:p/>
          <a:p>
            <a:r>
              <a:rPr b="1"/>
              <a:t>6. Bridge to RESTORE.</a:t>
            </a:r>
          </a:p>
          <a:p>
            <a:r>
              <a:t>Say: "Agreement is the decision. RESTORE turns it into action."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The Strategic Unclogging Clinic</a:t>
            </a:r>
          </a:p>
          <a:p/>
          <a:p>
            <a:r>
              <a:rPr b="1"/>
              <a:t>HOW THIS SECTION RUNS:</a:t>
            </a:r>
          </a:p>
          <a:p>
            <a:r>
              <a:t>This is group work and Capstone work.</a:t>
            </a:r>
          </a:p>
          <a:p>
            <a:r>
              <a:t>1. Each group selects one challenge from its Problem Charter and links it to one of its Objectives and Key Results (5.1).</a:t>
            </a:r>
          </a:p>
          <a:p>
            <a:r>
              <a:t>2. The group identifies the performance clog (5.2) and selects the Strategic Unclogging Lever (5.3).</a:t>
            </a:r>
          </a:p>
          <a:p>
            <a:r>
              <a:t>3. The group simulates the Unclogging Cycle, Review–Realign–Restore (5.4), then tests its response against the Diagnostic Quality Check (5.5).</a:t>
            </a:r>
          </a:p>
          <a:p>
            <a:r>
              <a:t>4. The group chooses its scribe for this work. The scribe types what the group agrees, and the entries appear on every member's page.</a:t>
            </a:r>
          </a:p>
          <a:p>
            <a:r>
              <a:t>5. In part 5.6 each member reads the group's record and selects Agree. When every member has agreed, the record feeds boxes 9A to 9E of the team's Capstone S2R® Blueprint.</a:t>
            </a:r>
          </a:p>
          <a:p/>
          <a:p>
            <a:r>
              <a:rPr b="1"/>
              <a:t>SECTION LEARNING OUTCOMES:</a:t>
            </a:r>
          </a:p>
          <a:p>
            <a:r>
              <a:t>1. Diagnose a Capstone challenge using the Seven Performance Clogs and select a suitable Unclogging Lever.</a:t>
            </a:r>
          </a:p>
          <a:p>
            <a:r>
              <a:t>2. Develop an integrated Review–Realign–Restore response addressing people and organisational performance.</a:t>
            </a:r>
          </a:p>
          <a:p/>
          <a:p>
            <a:r>
              <a:rPr b="1"/>
              <a:t>HOW TO OPEN THE SECTION:</a:t>
            </a:r>
          </a:p>
          <a:p/>
          <a:p>
            <a:r>
              <a:rPr b="1"/>
              <a:t>1. Link to the Problem Charter.</a:t>
            </a:r>
          </a:p>
          <a:p>
            <a:r>
              <a:t>Say: "In its Problem Charter, each group recorded recurring work-based challenges drawn from its members' experience and chose the challenges its executive team would address. Those challenges shaped your simulated Capstone organisation. You now return to that list, select one challenge and apply the diagnostic and intervention tools of this unit."</a:t>
            </a:r>
          </a:p>
          <a:p/>
          <a:p>
            <a:r>
              <a:rPr b="1"/>
              <a:t>2. Teach the sequence.</a:t>
            </a:r>
          </a:p>
          <a:p>
            <a:r>
              <a:t>Say: "The sequence is: original challenge, identify the clog, select the lever, Review–Realign–Restore. Your first classification is a working diagnosis. REVIEW checks it against the evidence before your team commits to action. If REVIEW reveals a different condition, you correct the clog and the lever."</a:t>
            </a:r>
          </a:p>
          <a:p/>
          <a:p>
            <a:r>
              <a:rPr b="1"/>
              <a:t>3. Say how the group works and where the work goes.</a:t>
            </a:r>
          </a:p>
          <a:p>
            <a:r>
              <a:t>Say: "This is group work. Your group agrees each entry and chooses its scribe for this work, and the entries appear on every member's page. This is Capstone work: when every member has agreed in 5.6, your record feeds your team's Capstone S2R® Blueprint."</a:t>
            </a:r>
          </a:p>
          <a:p>
            <a:r>
              <a:t>Your role in this section: guide how the work is completed. The Capstone work is reviewed independently at graduation.</a:t>
            </a:r>
          </a:p>
          <a:p>
            <a:r>
              <a:t>Close the group work with Our Position. Say: "When your record is complete, write as a group a short summary statement of your team's position from this unit, in the unit's own terms. Every member agrees it with the rest of the record. It closes this unit's section of your Capstone S2R Blueprint and guides the assessors through your 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5.1 — RETURN TO YOUR ORIGINAL WORK-BASED CHALLENGE (Capstone Work)</a:t>
            </a:r>
          </a:p>
          <a:p/>
          <a:p>
            <a:r>
              <a:rPr b="1"/>
              <a:t>HOW TO TEACH IT:</a:t>
            </a:r>
          </a:p>
          <a:p/>
          <a:p>
            <a:r>
              <a:rPr b="1"/>
              <a:t>1. Say what the group selects.</a:t>
            </a:r>
          </a:p>
          <a:p>
            <a:r>
              <a:t>Say: "Select one challenge from your Problem Charter that is still relevant to your Capstone organisation and has a clear connection to disappointing results."</a:t>
            </a:r>
          </a:p>
          <a:p>
            <a:r>
              <a:t>Point to the line at the foot of the slide: "Choose a challenge with a clear connection to disappointing results."</a:t>
            </a:r>
          </a:p>
          <a:p/>
          <a:p>
            <a:r>
              <a:rPr b="1"/>
              <a:t>2. Teach the three entries on the slide.</a:t>
            </a:r>
          </a:p>
          <a:p>
            <a:r>
              <a:t>The challenge: the group selects the challenge from its Problem Charter.</a:t>
            </a:r>
          </a:p>
          <a:p>
            <a:r>
              <a:t>The connection: the group selects the strategic Objective and the Key Result or KPI the challenge affects.</a:t>
            </a:r>
          </a:p>
          <a:p>
            <a:r>
              <a:t>The evidence: use the current result from existing Capstone performance information where available. If the group has not established one, agree a realistic illustrative figure consistent with the organisational scenario.</a:t>
            </a:r>
          </a:p>
          <a:p/>
          <a:p>
            <a:r>
              <a:rPr b="1"/>
              <a:t>3. Bridge to 5.2.</a:t>
            </a:r>
          </a:p>
          <a:p>
            <a:r>
              <a:t>Say: "The challenge describes what has been experienced. The next step names the condition behind it."</a:t>
            </a:r>
          </a:p>
          <a:p/>
          <a:p>
            <a:r>
              <a:rPr b="1"/>
              <a:t>LATER, WHEN THE GROUPS DO THE WORK ON THE PORTAL:</a:t>
            </a:r>
          </a:p>
          <a:p>
            <a:r>
              <a:t>Participants work as a group in Section 5 of their own file. The group chooses its scribe; the entries appear on every member's page. In 5.1 the group selects its challenge and its Objective and Key Result from drop-down lists.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5.4 — SIMULATE THE UNCLOGGING CYCLE (Capstone Work)</a:t>
            </a:r>
          </a:p>
          <a:p/>
          <a:p>
            <a:r>
              <a:rPr b="1"/>
              <a:t>HOW TO TEACH IT:</a:t>
            </a:r>
          </a:p>
          <a:p/>
          <a:p>
            <a:r>
              <a:rPr b="1"/>
              <a:t>1. Say what the group does.</a:t>
            </a:r>
          </a:p>
          <a:p>
            <a:r>
              <a:t>Say: "Your group simulates how its executive team takes the challenge through the Unclogging Cycle, REVIEW, REALIGN and RESTORE in turn. Together these complete your Strategic Unclogging Clinic Record."</a:t>
            </a:r>
          </a:p>
          <a:p/>
          <a:p>
            <a:r>
              <a:rPr b="1"/>
              <a:t>2. REVIEW: test the diagnosis against the evidence.</a:t>
            </a:r>
          </a:p>
          <a:p>
            <a:r>
              <a:t>Say: "Use the three lines of sight on your own challenge. Performance Outcome: the Key Result or KPI, its current result and its target. Performance Behaviour: what individuals and teams are doing, delaying or unable to do. Performance Condition: the organisational condition causing or reinforcing those behaviours. Then the diagnosis check: does this evidence confirm the clog you selected in 5.2? If not, revise both the clog and the lever before you go on."</a:t>
            </a:r>
          </a:p>
          <a:p/>
          <a:p>
            <a:r>
              <a:rPr b="1"/>
              <a:t>3. REALIGN: agree what must change, and who acts.</a:t>
            </a:r>
          </a:p>
          <a:p>
            <a:r>
              <a:t>Say: "As the simulated executive team, set out what must change for people performance, in expectations, decision authority, capability, behaviours or support, and for organisational performance, in structures, systems, processes, resources or governance. Then the leadership agreement: the coordinating executive owner, the contributing executive functions, the agreed organisational change and each executive's contribution."</a:t>
            </a:r>
          </a:p>
          <a:p/>
          <a:p>
            <a:r>
              <a:rPr b="1"/>
              <a:t>4. RESTORE: apply the lever, with owners and dates.</a:t>
            </a:r>
          </a:p>
          <a:p>
            <a:r>
              <a:t>Say: "Specify how the lever will be applied. The action must directly remove or reduce the condition and be clear enough for the responsible executive to implement. Write the intervention, the action and completion date, the people performance evidence, the organisational performance evidence, and the review commitment: when the executive team will check progress and decide whether further action is needed."</a:t>
            </a:r>
          </a:p>
          <a:p/>
          <a:p>
            <a:r>
              <a:rPr b="1"/>
              <a:t>5. Point to the last line of the slide.</a:t>
            </a:r>
          </a:p>
          <a:p>
            <a:r>
              <a:t>Say: "Evidence of recovery, on both sides: what will show that people are better enabled, and what will show the operating condition and the Key Result recovering."</a:t>
            </a:r>
          </a:p>
          <a:p/>
          <a:p>
            <a:r>
              <a:rPr b="1"/>
              <a:t>6. Bridge to 5.5.</a:t>
            </a:r>
          </a:p>
          <a:p>
            <a:r>
              <a:t>Say: "Before you finalise, test the record."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1.5 — WORKED DIAGNOSTIC EXAMPLE: IMPROVING CUSTOMER SERVICE (Tracing the three lines of sight)</a:t>
            </a:r>
          </a:p>
          <a:p/>
          <a:p>
            <a:r>
              <a:rPr b="1"/>
              <a:t>HOW TO TEACH IT:</a:t>
            </a:r>
          </a:p>
          <a:p/>
          <a:p>
            <a:r>
              <a:rPr b="1"/>
              <a:t>1. Set the example.</a:t>
            </a:r>
          </a:p>
          <a:p>
            <a:r>
              <a:t>Say: "Enterprise Objective: deliver a reliable and responsive customer service experience. Enterprise Key Result: increase customer enquiries resolved within 48 hours from 65% to 90% by year-end. The figures are illustrative."</a:t>
            </a:r>
          </a:p>
          <a:p/>
          <a:p>
            <a:r>
              <a:rPr b="1"/>
              <a:t>2. Line of Sight 1 · Performance Outcome.</a:t>
            </a:r>
          </a:p>
          <a:p>
            <a:r>
              <a:t>Say: "Only 65% of enquiries are resolved within 48 hours against a target of 90%. The enterprise is falling short of its intended responsiveness and service reliability."</a:t>
            </a:r>
          </a:p>
          <a:p/>
          <a:p>
            <a:r>
              <a:rPr b="1"/>
              <a:t>3. Line of Sight 2 · Performance Behaviour.</a:t>
            </a:r>
          </a:p>
          <a:p>
            <a:r>
              <a:t>Say: "Service agents process enquiries and escalate cases that need other departments. Cases are transferred without end-to-end ownership, managers wait for approval on routine refunds, and staff spend their time requesting updates while customer problems wait. Employees may be achieving their activity targets while the collective resolution outcome remains weak."</a:t>
            </a:r>
          </a:p>
          <a:p/>
          <a:p>
            <a:r>
              <a:rPr b="1"/>
              <a:t>4. Line of Sight 3 · Performance Condition.</a:t>
            </a:r>
          </a:p>
          <a:p>
            <a:r>
              <a:t>Say: "The diagnostic identifies four conditions behind the behaviour."</a:t>
            </a:r>
          </a:p>
          <a:p>
            <a:r>
              <a:t>40% of delayed cases require another department: Structural Misfit. Fragmented ownership and weak cross-functional handoffs delay resolution.</a:t>
            </a:r>
          </a:p>
          <a:p>
            <a:r>
              <a:t>Routine refunds require senior-management approval: Decision Bottlenecks. People closest to the enquiry lack the authority to resolve it.</a:t>
            </a:r>
          </a:p>
          <a:p>
            <a:r>
              <a:t>Employee scorecards emphasise enquiries processed: Misaligned Metrics &amp; Incentives. Volume is reinforced more strongly than complete and timely resolution.</a:t>
            </a:r>
          </a:p>
          <a:p>
            <a:r>
              <a:t>Employees cannot track cases after escalation: Technology / Infrastructure Lag. Fragmented information prevents follow-through.</a:t>
            </a:r>
          </a:p>
          <a:p/>
          <a:p>
            <a:r>
              <a:rPr b="1"/>
              <a:t>5. Read the three interpretations.</a:t>
            </a:r>
          </a:p>
          <a:p>
            <a:r>
              <a:t>Organisational performance: the coordination processes, decision rights, measures and information systems are not aligned to the customer-resolution outcome, so delays recur across the service chain.</a:t>
            </a:r>
          </a:p>
          <a:p>
            <a:r>
              <a:t>People performance: service employees complete assigned tasks and still lack the authority, information and cross-functional support to resolve cases. Any individual capability or behavioural gap is assessed against these conditions and the standards within each person's control.</a:t>
            </a:r>
          </a:p>
          <a:p>
            <a:r>
              <a:t>Strategic interpretation: the value proposition promises responsive service and the operating arrangements do not consistently enable it. The principal ABCV distortion is in the Value Proposition, with contributing constraints in Boundaries and Competition.</a:t>
            </a:r>
          </a:p>
          <a:p/>
          <a:p>
            <a:r>
              <a:rPr b="1"/>
              <a:t>6. Give the management response.</a:t>
            </a:r>
          </a:p>
          <a:p>
            <a:r>
              <a:t>Say: "Clarify end-to-end resolution ownership, adjust routine decision authority, align measures to resolution outcomes and improve case visibility across departments. Provide coaching or accountability interventions where evidence confirms individual capability or behavioural gaps."</a:t>
            </a:r>
          </a:p>
          <a:p/>
          <a:p>
            <a:r>
              <a:rPr b="1"/>
              <a:t>7. State the closing diagnostic principle.</a:t>
            </a:r>
          </a:p>
          <a:p>
            <a:r>
              <a:t>Say: "Performance is produced through people operating within an organisational system. A sound diagnosis examines the result, the behaviours shaping contributions and the organisational conditions that enable or constrain them. The 7-Clog Diagnostic Map shows where these relationships have become misaligned, which ABCV elements are affected and what must change."</a:t>
            </a:r>
          </a:p>
          <a:p/>
          <a:p>
            <a:r>
              <a:rPr b="1"/>
              <a:t>8. Bridge to the reflections.</a:t>
            </a:r>
          </a:p>
          <a:p>
            <a:r>
              <a:t>Say: "A strategic clog sits where people or organisational conditions block the flow from intent to execution, and the three lines of sight locate it."</a:t>
            </a:r>
          </a:p>
          <a:p/>
          <a:p>
            <a:r>
              <a:rPr b="1"/>
              <a:t>ON THE PORTAL, AFTER THE TEACHING:</a:t>
            </a:r>
          </a:p>
          <a:p>
            <a:r>
              <a:t>Participants complete the self-assessment at the foot of part 1.5: a rating of each of the seven clogs in their current strategy portfolio, from 1 (absent) to 5 (active), and the clog most active in their organisation, with the organisational condition it sits in.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5.5 — DIAGNOSTIC QUALITY CHECK (Before the response is finalised)</a:t>
            </a:r>
          </a:p>
          <a:p/>
          <a:p>
            <a:r>
              <a:rPr b="1"/>
              <a:t>HOW TO TEACH IT:</a:t>
            </a:r>
          </a:p>
          <a:p/>
          <a:p>
            <a:r>
              <a:rPr b="1"/>
              <a:t>1. Read the four criteria on the slide and what each means.</a:t>
            </a:r>
          </a:p>
          <a:p>
            <a:r>
              <a:t>01 Linked to a specific strategic result: the original challenge is linked to a specific strategic result and supported by realistic performance evidence.</a:t>
            </a:r>
          </a:p>
          <a:p>
            <a:r>
              <a:t>02 The clog names the condition behind the symptom: the selected clog names the underlying organisational condition.</a:t>
            </a:r>
          </a:p>
          <a:p>
            <a:r>
              <a:t>03 The lever fits; both sides are considered: the lever addresses the confirmed clog, and REALIGN considers both people and organisational performance.</a:t>
            </a:r>
          </a:p>
          <a:p>
            <a:r>
              <a:t>04 Specific, owned, time-bound and evidenced: the RESTORE intervention is specific, owned, time-bound and supported by evidence that will show whether performance is recovering.</a:t>
            </a:r>
          </a:p>
          <a:p/>
          <a:p>
            <a:r>
              <a:rPr b="1"/>
              <a:t>2. Say how the group uses it.</a:t>
            </a:r>
          </a:p>
          <a:p>
            <a:r>
              <a:t>Say: "If any criterion is not met, return to the relevant step and refine the response."</a:t>
            </a:r>
          </a:p>
          <a:p/>
          <a:p>
            <a:r>
              <a:rPr b="1"/>
              <a:t>3. Say how the work closes.</a:t>
            </a:r>
          </a:p>
          <a:p>
            <a:r>
              <a:t>Say: "In part 5.6 each of you reads your group's Strategic Unclogging Clinic Record on your own page and selects Agree. When every member has agreed, the record feeds your team's Capstone S2R® Blueprint."</a:t>
            </a:r>
          </a:p>
          <a:p/>
          <a:p>
            <a:r>
              <a:rPr b="1"/>
              <a:t>4. Invite the groups to share.</a:t>
            </a:r>
          </a:p>
          <a:p>
            <a:r>
              <a:t>Invite each group to explain briefly: the original challenge, the confirmed clog, the selected lever and the collective leadership response.</a:t>
            </a:r>
          </a:p>
          <a:p>
            <a:r>
              <a:t>Ask: "How has your understanding of this challenge changed since you first identified it in your Problem Charter?"</a:t>
            </a:r>
          </a:p>
          <a:p>
            <a:r>
              <a:t>Close on the integrated discipline: recognise the challenge, identify the clog, select the suitable lever, and apply Review–Realign–Restore to confirm the diagnosis, coordinate leadership decisions and verify recovery across people and organisational performance.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CAPSTONE PORTFOLIO OUTPUT (before the exercise)</a:t>
            </a:r>
          </a:p>
          <a:p/>
          <a:p>
            <a:r>
              <a:rPr b="1"/>
              <a:t>HOW TO USE THIS SLIDE:</a:t>
            </a:r>
          </a:p>
          <a:p/>
          <a:p>
            <a:r>
              <a:rPr b="1"/>
              <a:t>1. Show the group what it will produce before it starts.</a:t>
            </a:r>
          </a:p>
          <a:p>
            <a:r>
              <a:t>Say: "Your group produces one Strategic Unclogging Clinic Record. It holds four things."</a:t>
            </a:r>
          </a:p>
          <a:p>
            <a:r>
              <a:t>Challenge and clog: the original work-based challenge selected from your Problem Charter, the clog you identified and the reason for the diagnosis.</a:t>
            </a:r>
          </a:p>
          <a:p>
            <a:r>
              <a:t>The lever: the Strategic Unclogging Lever you selected and its intended purpose.</a:t>
            </a:r>
          </a:p>
          <a:p>
            <a:r>
              <a:t>Review–Realign–Restore: the completed REVIEW, REALIGN and RESTORE responses, with executive ownership and evidence of recovery.</a:t>
            </a:r>
          </a:p>
          <a:p/>
          <a:p>
            <a:r>
              <a:rPr b="1"/>
              <a:t>2. Set the standard.</a:t>
            </a:r>
          </a:p>
          <a:p>
            <a:r>
              <a:t>Say: "Support your diagnosis: explain why the clog fits the behaviours and conditions you observe. In REALIGN, set out the implications for people performance and organisational performance. In RESTORE, name the application of the lever, the executive owner, the completion date and the evidence of recovery."</a:t>
            </a:r>
          </a:p>
          <a:p/>
          <a:p>
            <a:r>
              <a:rPr b="1"/>
              <a:t>3. Say where it goes.</a:t>
            </a:r>
          </a:p>
          <a:p>
            <a:r>
              <a:t>Say: "In part 5.6 each of you reads the record on your own page and selects Agree. When every member has agreed, it feeds boxes 9A to 9E of your team's Capstone S2R® Blueprint."</a:t>
            </a:r>
          </a:p>
          <a:p/>
          <a:p>
            <a:r>
              <a:rPr b="1"/>
              <a:t>4. Bridge to 5.1.</a:t>
            </a:r>
          </a:p>
          <a:p>
            <a:r>
              <a:t>Say: "We start with the challenge."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SUMMARY · CLOSING</a:t>
            </a:r>
          </a:p>
          <a:p/>
          <a:p>
            <a:r>
              <a:rPr b="1"/>
              <a:t>HOW TO USE THIS SLIDE:</a:t>
            </a:r>
          </a:p>
          <a:p/>
          <a:p>
            <a:r>
              <a:rPr b="1"/>
              <a:t>1. Read the synthesis, one section at a time.</a:t>
            </a:r>
          </a:p>
          <a:p>
            <a:r>
              <a:t>Awareness — What: a Strategic Clog is an internal blockage that prevents strategic intent from flowing into execution. Clogs form where the strategy stretches today's organisation. Performance has two connected dimensions, organisational and people performance. The 7-Clog Diagnostic Map, aligned to ABCV Directional Integrity, examines both, and the Three Performance Lines of Sight trace a result from its outcome to the behaviours and conditions behind it.</a:t>
            </a:r>
          </a:p>
          <a:p>
            <a:r>
              <a:t>Intelligence — Why: leaders resolve clogs through three disciplines: early identification, accurate classification and targeted intervention. The 7 Strategic Unclogging Levers act on people performance and organisational performance together.</a:t>
            </a:r>
          </a:p>
          <a:p>
            <a:r>
              <a:t>Extrapolating — Where: every executive function shapes the conditions in which other teams work, and a decision in one function can create or reinforce a clog in another.</a:t>
            </a:r>
          </a:p>
          <a:p>
            <a:r>
              <a:t>Integration — Collective: clogs rarely stay in one lane. The leadership team removes them together through the Unclogging Cycle, and each stage completes part of the Unclogging Record.</a:t>
            </a:r>
          </a:p>
          <a:p>
            <a:r>
              <a:t>Application — In Practice: each group selected a challenge from its Problem Charter, identified the clog, selected the lever and simulated the Unclogging Cycle within its Capstone organisation. The agreed record feeds the team's Capstone S2R® Blueprint.</a:t>
            </a:r>
          </a:p>
          <a:p/>
          <a:p>
            <a:r>
              <a:rPr b="1"/>
              <a:t>2. Read the closing line.</a:t>
            </a:r>
          </a:p>
          <a:p>
            <a:r>
              <a:t>Say: "When unclogging becomes a habit, everything changes. Friction is a signal telling you how the organisation needs to evolve next. You start engineering flow."</a:t>
            </a:r>
          </a:p>
          <a:p/>
          <a:p>
            <a:r>
              <a:rPr b="1"/>
              <a:t>3. Ask the closing question on the slide.</a:t>
            </a:r>
          </a:p>
          <a:p>
            <a:r>
              <a:t>Ask each leader to name one clog that has been present in their organisation for more than six months: visible, discussed and not yet cleared.</a:t>
            </a:r>
          </a:p>
          <a:p>
            <a:r>
              <a:t>Ask: "What has it actually cost the organisation in strategic momentum? And what is the real reason it hasn't been cleared yet?"</a:t>
            </a:r>
          </a:p>
          <a:p>
            <a:r>
              <a:t>Say: "The answers to the second question are almost always the true clogs beneath the clogs. That conversation is the beginning of genuine execution engineering."</a:t>
            </a:r>
          </a:p>
          <a:p>
            <a:r>
              <a:t>Deepen, say: "Some present problems are the bill for a past breach. When a recurring problem resists treatment, investigate what older, unsettled matter it may be surfacing."</a:t>
            </a:r>
          </a:p>
          <a:p>
            <a:r>
              <a:t>(Insight: Old breaches. Source: Journal, 2 June 2026 — Professional Insights: Strategy)</a:t>
            </a:r>
          </a:p>
          <a:p>
            <a:r>
              <a:t>Deepen, say: "A dangerous cultural failure is high-performing indifference: people who step over a problem every day without registering it as theirs to solve. Put it on the agenda before the stepping-over becomes the culture."</a:t>
            </a:r>
          </a:p>
          <a:p>
            <a:r>
              <a:t>(Insight: Stepping over. Source: Journal, 17 June 2026 — Professional Insights: Culture)</a:t>
            </a:r>
          </a:p>
          <a:p/>
          <a:p>
            <a:r>
              <a:rPr b="1"/>
              <a:t>4. Bridge to Module 4.</a:t>
            </a:r>
          </a:p>
          <a:p>
            <a:r>
              <a:t>Say: "Each group has traced a real challenge to its clog, chosen the lever and set a Review–Realign–Restore response with clear ownership. Module 4 — Grounding begins with Unit 10 — ESRG Alignment, which strengthens the organisational operating conditions that anchor performance."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THE THREE PERFORMANCE LINES OF SIGHT (From the result to its cause)</a:t>
            </a:r>
          </a:p>
          <a:p/>
          <a:p>
            <a:r>
              <a:rPr b="1"/>
              <a:t>HOW TO TEACH IT:</a:t>
            </a:r>
          </a:p>
          <a:p/>
          <a:p>
            <a:r>
              <a:rPr b="1"/>
              <a:t>1. Name the discipline.</a:t>
            </a:r>
          </a:p>
          <a:p>
            <a:r>
              <a:t>Say: "The central discipline is to distinguish three levels of performance evidence. Each line of sight reveals a different part of the problem and moves leaders from symptoms to causes."</a:t>
            </a:r>
          </a:p>
          <a:p/>
          <a:p>
            <a:r>
              <a:rPr b="1"/>
              <a:t>2. Line 1 · Performance outcome.</a:t>
            </a:r>
          </a:p>
          <a:p>
            <a:r>
              <a:t>Say: "What result is falling short? Establish the intended strategic outcome, the actual result and the size or nature of the gap."</a:t>
            </a:r>
          </a:p>
          <a:p/>
          <a:p>
            <a:r>
              <a:rPr b="1"/>
              <a:t>3. Line 2 · Performance behaviour.</a:t>
            </a:r>
          </a:p>
          <a:p>
            <a:r>
              <a:t>Say: "What are people or teams doing, or unable to do, that contributes to the gap? Observe specific decisions, actions, omissions, collaboration patterns and delivery practices."</a:t>
            </a:r>
          </a:p>
          <a:p/>
          <a:p>
            <a:r>
              <a:rPr b="1"/>
              <a:t>4. Line 3 · Performance condition.</a:t>
            </a:r>
          </a:p>
          <a:p>
            <a:r>
              <a:t>Say: "What organisational arrangements, capabilities, incentives or leadership practices are causing or reinforcing that behaviour? Test the seven clogs to explain why the pattern persists."</a:t>
            </a:r>
          </a:p>
          <a:p/>
          <a:p>
            <a:r>
              <a:rPr b="1"/>
              <a:t>5. Say why the distinction matters.</a:t>
            </a:r>
          </a:p>
          <a:p>
            <a:r>
              <a:t>Say: "This keeps leaders from treating every disappointing result as an individual performance failure. It also keeps people accountable for actions within their control while recognising the organisation's responsibility for enabling conditions. A single outcome can reflect several interacting clogs."</a:t>
            </a:r>
          </a:p>
          <a:p/>
          <a:p>
            <a:r>
              <a:rPr b="1"/>
              <a:t>6. Ask, now that the three lines are taught.</a:t>
            </a:r>
          </a:p>
          <a:p>
            <a:r>
              <a:t>Ask: "Where a KPI has stalled in your area, what is happening in the individuals' performance, and do the organisational conditions support the execution of their tasks?"</a:t>
            </a:r>
          </a:p>
          <a:p/>
          <a:p>
            <a:r>
              <a:rPr b="1"/>
              <a:t>7. Bridge to 1.5.</a:t>
            </a:r>
          </a:p>
          <a:p>
            <a:r>
              <a:t>Say: "The worked example traces all three lines on one Key Result."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UNCLOGGING CYCLE: REVIEW–REALIGN–RESTORE · RESTORE</a:t>
            </a:r>
          </a:p>
          <a:p/>
          <a:p>
            <a:r>
              <a:rPr b="1"/>
              <a:t>HOW TO TEACH IT:</a:t>
            </a:r>
          </a:p>
          <a:p/>
          <a:p>
            <a:r>
              <a:rPr b="1"/>
              <a:t>1. Say what RESTORE does.</a:t>
            </a:r>
          </a:p>
          <a:p>
            <a:r>
              <a:t>Say: "RESTORE converts the agreed leadership response into organisational action. The seven Unclogging Levers on the slide are the established S2R® interventions for the conditions the seven clogs represent. The executive team selects the relevant lever, implements the agreed changes and reviews evidence of recovery."</a:t>
            </a:r>
          </a:p>
          <a:p/>
          <a:p>
            <a:r>
              <a:rPr b="1"/>
              <a:t>2. Recall the levers and what each is best applied to.</a:t>
            </a:r>
          </a:p>
          <a:p>
            <a:r>
              <a:t>01 Standardise, ensure consistency: Structural Misfit; Misaligned Metrics &amp; Incentives; Technology / Infrastructure Lag.</a:t>
            </a:r>
          </a:p>
          <a:p>
            <a:r>
              <a:t>02 Streamline, increase speed: Decision Bottlenecks; Structural Misfit.</a:t>
            </a:r>
          </a:p>
          <a:p>
            <a:r>
              <a:t>03 Clarify, eliminate confusion: Decision Bottlenecks; Structural Misfit; Leadership Avoidance.</a:t>
            </a:r>
          </a:p>
          <a:p>
            <a:r>
              <a:t>04 Upgrade, remove bottlenecks: Technology / Infrastructure Lag; Capability Gaps.</a:t>
            </a:r>
          </a:p>
          <a:p>
            <a:r>
              <a:t>05 Reinforce, strengthen behaviour: Capability Gaps; Cultural Resistance.</a:t>
            </a:r>
          </a:p>
          <a:p>
            <a:r>
              <a:t>06 Realign, focus on results: Misaligned Metrics &amp; Incentives.</a:t>
            </a:r>
          </a:p>
          <a:p>
            <a:r>
              <a:t>07 Rebuild Trust, restore credibility: Cultural Resistance; Leadership Avoidance.</a:t>
            </a:r>
          </a:p>
          <a:p>
            <a:r>
              <a:t>Say: "The REALIGN stage is the collective decision and ownership step. Lever 06, Realign, is the distinct intervention that adjusts metrics and rewards."</a:t>
            </a:r>
          </a:p>
          <a:p/>
          <a:p>
            <a:r>
              <a:rPr b="1"/>
              <a:t>3. Teach the three actions.</a:t>
            </a:r>
          </a:p>
          <a:p>
            <a:r>
              <a:t>Say: "Select the relevant lever: the intervention that addresses the confirmed clog. Activate it: implement the decisions and changes agreed in REALIGN. Verify recovery: confirm that the obstruction is reducing and that the affected measures are moving. Removing a clog requires evidence that the condition has changed, and sustained improvement is verified through the normal review rhythm."</a:t>
            </a:r>
          </a:p>
          <a:p/>
          <a:p>
            <a:r>
              <a:rPr b="1"/>
              <a:t>4. Teach both sides.</a:t>
            </a:r>
          </a:p>
          <a:p>
            <a:r>
              <a:t>People performance: RESTORE equips individuals to deliver under the changed conditions and verifies the change in their work: decisions taken at the right level, delays falling, rework reducing and problems raised early.</a:t>
            </a:r>
          </a:p>
          <a:p>
            <a:r>
              <a:t>Organisational performance: RESTORE applies the lever to the condition and verifies that it has changed: the approval route, the data source, the decision right or the measure now supports the individuals' tasks, and the Key Result begins to move.</a:t>
            </a:r>
          </a:p>
          <a:p/>
          <a:p>
            <a:r>
              <a:rPr b="1"/>
              <a:t>5. Close the record.</a:t>
            </a:r>
          </a:p>
          <a:p>
            <a:r>
              <a:t>Say: "Into the Unclogging Record go the selected lever, the actions with their owners and completion dates, the evidence of recovery and the date of the next review. The executive team completes the record as it moves through the cycle, then uses it at each later review to check that actions are complete and the evidence is moving."</a:t>
            </a:r>
          </a:p>
          <a:p/>
          <a:p>
            <a:r>
              <a:rPr b="1"/>
              <a:t>6. Bridge to 4.3.</a:t>
            </a:r>
          </a:p>
          <a:p>
            <a:r>
              <a:t>Say: "The worked example takes one clog through the whole cycle and ends with a completed record."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4.3 — WORKED EXAMPLE: THE UNCLOGGING CYCLE (A manufacturing case)</a:t>
            </a:r>
          </a:p>
          <a:p/>
          <a:p>
            <a:r>
              <a:rPr b="1"/>
              <a:t>HOW TO TEACH IT:</a:t>
            </a:r>
          </a:p>
          <a:p/>
          <a:p>
            <a:r>
              <a:rPr b="1"/>
              <a:t>1. Set the case.</a:t>
            </a:r>
          </a:p>
          <a:p>
            <a:r>
              <a:t>Point to the Key Result at the foot of the slide.</a:t>
            </a:r>
          </a:p>
          <a:p>
            <a:r>
              <a:t>Say: "Enterprise Objective: improve production reliability and on-time customer delivery. Enterprise Key Result: increase customer orders delivered on time from 72% to 95% by year-end. The figures are illustrative. The executive team notices that production interruptions are contributing to late deliveries."</a:t>
            </a:r>
          </a:p>
          <a:p/>
          <a:p>
            <a:r>
              <a:rPr b="1"/>
              <a:t>2. Step 1 · REVIEW: confirm the clog.</a:t>
            </a:r>
          </a:p>
          <a:p>
            <a:r>
              <a:t>Performance Outcome: only 72% of orders are delivered on time against 95%.</a:t>
            </a:r>
          </a:p>
          <a:p>
            <a:r>
              <a:t>Performance Behaviour: maintenance managers wait for approval before ordering routine replacement parts; repairs and production schedules are delayed.</a:t>
            </a:r>
          </a:p>
          <a:p>
            <a:r>
              <a:t>Performance Condition: financial approval requirements place routine maintenance decisions at senior management level, slowing necessary purchases.</a:t>
            </a:r>
          </a:p>
          <a:p>
            <a:r>
              <a:t>Say: "Identified clog: Decision Bottlenecks. The team confirms that avoidable approval delays contribute to maintenance downtime and late deliveries."</a:t>
            </a:r>
          </a:p>
          <a:p/>
          <a:p>
            <a:r>
              <a:rPr b="1"/>
              <a:t>3. Step 2 · REALIGN: agree collective ownership.</a:t>
            </a:r>
          </a:p>
          <a:p>
            <a:r>
              <a:t>Say: "The CFO and COO agree that routine maintenance decisions must be faster while appropriate financial controls remain."</a:t>
            </a:r>
          </a:p>
          <a:p>
            <a:r>
              <a:t>What must change: approval authority for routine maintenance expenditure. Who coordinates: the CFO, revising the financial approval arrangements. Who contributes: the COO, defining operational requirements and ensuring adoption. What must be agreed: delegated thresholds, control requirements, responsibilities and an implementation date.</a:t>
            </a:r>
          </a:p>
          <a:p>
            <a:r>
              <a:t>People performance: maintenance managers gain clear authority to purchase approved routine parts and act promptly within defined controls.</a:t>
            </a:r>
          </a:p>
          <a:p>
            <a:r>
              <a:t>Organisational performance: the approval system keeps financial oversight while enabling reliable maintenance and uninterrupted production.</a:t>
            </a:r>
          </a:p>
          <a:p/>
          <a:p>
            <a:r>
              <a:rPr b="1"/>
              <a:t>4. Step 3 · RESTORE: activate the lever.</a:t>
            </a:r>
          </a:p>
          <a:p>
            <a:r>
              <a:t>Say: "Selected lever: 02 Streamline, increase speed. It fits because the clog is Decision Bottlenecks and routine purchases are delayed by unnecessary approval steps."</a:t>
            </a:r>
          </a:p>
          <a:p>
            <a:r>
              <a:t>Activation: identify the approval steps that cause avoidable delays; remove redundant approvals and simplify the workflow; retain senior approval for exceptional or higher-risk expenditure; communicate and implement the process with maintenance and operations teams.</a:t>
            </a:r>
          </a:p>
          <a:p>
            <a:r>
              <a:t>Verification at the agreed executive review: routine approval turnaround time; equipment downtime caused by delayed parts; on-time delivery performance; compliance with the revised controls.</a:t>
            </a:r>
          </a:p>
          <a:p>
            <a:r>
              <a:t>Say: "The intervention is working when managers use the revised authority confidently, routine decisions are faster, approval-related downtime falls and delivery recovers without weakening financial control."</a:t>
            </a:r>
          </a:p>
          <a:p/>
          <a:p>
            <a:r>
              <a:rPr b="1"/>
              <a:t>5. Read the completed Unclogging Record.</a:t>
            </a:r>
          </a:p>
          <a:p>
            <a:r>
              <a:t>REVIEW: Decision Bottlenecks are contributing to maintenance and production delays.</a:t>
            </a:r>
          </a:p>
          <a:p>
            <a:r>
              <a:t>REALIGN: the CFO coordinates and the COO contributes; both agree revised approval authority and controls.</a:t>
            </a:r>
          </a:p>
          <a:p>
            <a:r>
              <a:t>RESTORE: activate Lever 02 Streamline and verify through approval time, downtime, delivery and financial-control evidence.</a:t>
            </a:r>
          </a:p>
          <a:p/>
          <a:p>
            <a:r>
              <a:rPr b="1"/>
              <a:t>6. Close the section.</a:t>
            </a:r>
          </a:p>
          <a:p>
            <a:r>
              <a:t>Say: "Leaders make emerging friction visible and respond collectively. The goal is to make removing clogs a consistent part of executive review, decision-making and follow-through. Section 5 applies the same discipline to your group's own challenge."</a:t>
            </a:r>
          </a:p>
          <a:p/>
          <a:p>
            <a:r>
              <a:rPr b="1"/>
              <a:t>ON THE PORTAL, AFTER THE TEACHING:</a:t>
            </a:r>
          </a:p>
          <a:p>
            <a:r>
              <a:t>Participants complete the personal reflection at the foot of part 4.3,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IDENTIFY THE PERFORMANCE CLOG (Capstone Work)</a:t>
            </a:r>
          </a:p>
          <a:p/>
          <a:p>
            <a:r>
              <a:rPr b="1"/>
              <a:t>HOW TO TEACH IT:</a:t>
            </a:r>
          </a:p>
          <a:p/>
          <a:p>
            <a:r>
              <a:rPr b="1"/>
              <a:t>1. Say what the group decides.</a:t>
            </a:r>
          </a:p>
          <a:p>
            <a:r>
              <a:t>Say: "Examine your challenge and identify which of the seven clogs best explains the difficulty. The challenge describes what has been experienced; the clog names the organisational condition believed to be constraining performance."</a:t>
            </a:r>
          </a:p>
          <a:p/>
          <a:p>
            <a:r>
              <a:rPr b="1"/>
              <a:t>2. Recall the diagnostic focus of each clog, from the slide.</a:t>
            </a:r>
          </a:p>
          <a:p>
            <a:r>
              <a:t>01 Structural Misfit: roles, reporting, ownership and coordination arrangements.</a:t>
            </a:r>
          </a:p>
          <a:p>
            <a:r>
              <a:t>02 Capability Gaps: skills, resources, tools or capacity required for delivery.</a:t>
            </a:r>
          </a:p>
          <a:p>
            <a:r>
              <a:t>03 Decision Bottlenecks: decision authority, approvals and escalation.</a:t>
            </a:r>
          </a:p>
          <a:p>
            <a:r>
              <a:t>04 Misaligned Metrics &amp; Incentives: measures and rewards reinforcing the wrong contributions.</a:t>
            </a:r>
          </a:p>
          <a:p>
            <a:r>
              <a:t>05 Cultural Resistance: established beliefs, norms and habits obstructing change.</a:t>
            </a:r>
          </a:p>
          <a:p>
            <a:r>
              <a:t>06 Technology / Infrastructure Lag: systems, information and infrastructure limiting delivery.</a:t>
            </a:r>
          </a:p>
          <a:p>
            <a:r>
              <a:t>07 Leadership Avoidance: unresolved leadership decisions, trade-offs and accountability.</a:t>
            </a:r>
          </a:p>
          <a:p/>
          <a:p>
            <a:r>
              <a:rPr b="1"/>
              <a:t>3. Say what the group writes.</a:t>
            </a:r>
          </a:p>
          <a:p>
            <a:r>
              <a:t>Say: "Select the single clog that best explains the challenge, and write the specific observations that make it the most likely clog. Treat it as your initial diagnosis: you test it in REVIEW."</a:t>
            </a:r>
          </a:p>
          <a:p>
            <a:r>
              <a:t>If a group chooses Cultural Resistance, ask: "Is that a culture problem, or a Leadership Avoidance problem that has produced cultural symptoms?"</a:t>
            </a:r>
          </a:p>
          <a:p/>
          <a:p>
            <a:r>
              <a:rPr b="1"/>
              <a:t>4. Bridge to 5.3.</a:t>
            </a:r>
          </a:p>
          <a:p>
            <a:r>
              <a:t>Say: "With the clog named, choose the lever."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5.3 — SELECT THE STRATEGIC UNCLOGGING LEVER (Capstone Work)</a:t>
            </a:r>
          </a:p>
          <a:p/>
          <a:p>
            <a:r>
              <a:rPr b="1"/>
              <a:t>HOW TO TEACH IT:</a:t>
            </a:r>
          </a:p>
          <a:p/>
          <a:p>
            <a:r>
              <a:rPr b="1"/>
              <a:t>1. Say what the group decides.</a:t>
            </a:r>
          </a:p>
          <a:p>
            <a:r>
              <a:t>Say: "Select the established Strategic Unclogging Lever most appropriate for removing the obstruction you identified. One clog may have more than one suitable lever; select the primary lever for the specific condition in your case."</a:t>
            </a:r>
          </a:p>
          <a:p/>
          <a:p>
            <a:r>
              <a:rPr b="1"/>
              <a:t>2. Recall what each lever is commonly applied to.</a:t>
            </a:r>
          </a:p>
          <a:p>
            <a:r>
              <a:t>01 Standardise: Structural Misfit; Misaligned Metrics &amp; Incentives; Technology / Infrastructure Lag.</a:t>
            </a:r>
          </a:p>
          <a:p>
            <a:r>
              <a:t>02 Streamline: Decision Bottlenecks; Structural Misfit.</a:t>
            </a:r>
          </a:p>
          <a:p>
            <a:r>
              <a:t>03 Clarify: Decision Bottlenecks; Structural Misfit; Leadership Avoidance.</a:t>
            </a:r>
          </a:p>
          <a:p>
            <a:r>
              <a:t>04 Upgrade: Technology / Infrastructure Lag; Capability Gaps.</a:t>
            </a:r>
          </a:p>
          <a:p>
            <a:r>
              <a:t>05 Reinforce: Capability Gaps; Cultural Resistance.</a:t>
            </a:r>
          </a:p>
          <a:p>
            <a:r>
              <a:t>06 Realign: Misaligned Metrics &amp; Incentives.</a:t>
            </a:r>
          </a:p>
          <a:p>
            <a:r>
              <a:t>07 Rebuild Trust: Cultural Resistance; Leadership Avoidance.</a:t>
            </a:r>
          </a:p>
          <a:p/>
          <a:p>
            <a:r>
              <a:rPr b="1"/>
              <a:t>3. Say what the group writes.</a:t>
            </a:r>
          </a:p>
          <a:p>
            <a:r>
              <a:t>Say: "Select the lever and write how it removes or reduces the clog. Selection does not start the intervention: the lever is tested and activated through Review–Realign–Restore, once the diagnosis has been confirmed."</a:t>
            </a:r>
          </a:p>
          <a:p/>
          <a:p>
            <a:r>
              <a:rPr b="1"/>
              <a:t>4. Bridge to 5.4.</a:t>
            </a:r>
          </a:p>
          <a:p>
            <a:r>
              <a:t>Say: "Now your group runs the cycle as its executive team."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REFLECTIONS</a:t>
            </a:r>
          </a:p>
          <a:p/>
          <a:p>
            <a:r>
              <a:rPr b="1"/>
              <a:t>HOW TO USE THIS SLIDE:</a:t>
            </a:r>
          </a:p>
          <a:p/>
          <a:p>
            <a:r>
              <a:rPr b="1"/>
              <a:t>1. Show the slide and read each prompt aloud.</a:t>
            </a:r>
          </a:p>
          <a:p>
            <a:r>
              <a:t>1.1 Reflection — Strategic Clog in Your Organisation: "Think of a strategy initiative that stalled in your organisation. Was the plan wrong, or was something in the system blocking its flow? What was the blockage? Could it have been named earlier? Which organisational condition did the individuals' tasks depend on, and did it support their execution?"</a:t>
            </a:r>
          </a:p>
          <a:p>
            <a:r>
              <a:t>1.2 Reflection — Where Is Your System Not Yet Ready?: "Given your current strategic direction, which element of your operating system is most likely to create friction (structure, decision rights, culture, metrics, capability or technology)? Why is this predictable given your strategy?"</a:t>
            </a:r>
          </a:p>
          <a:p>
            <a:r>
              <a:t>1.5 Reflection — Which Clogs Are Active?: "Rate each clog in your current strategy portfolio (1 = absent, 5 = active). Then name the clog most active in your organisation, and the organisational condition it sits in."</a:t>
            </a:r>
          </a:p>
          <a:p/>
          <a:p>
            <a:r>
              <a:rPr b="1"/>
              <a:t>2. Say what the reflections are for.</a:t>
            </a:r>
          </a:p>
          <a:p>
            <a:r>
              <a:t>Point learners to the portal section that they will be required to complete with as much depth as possible.</a:t>
            </a:r>
          </a:p>
          <a:p>
            <a:r>
              <a:t>The reflections build the learning portfolio they receive at the end of the programme.</a:t>
            </a:r>
          </a:p>
          <a:p>
            <a:r>
              <a:t>Say: "You write these reflections on the portal after the teaching, with as much depth as you can."</a:t>
            </a:r>
          </a:p>
          <a:p/>
          <a:p>
            <a:r>
              <a:rPr b="1"/>
              <a:t>3. Set the standard.</a:t>
            </a:r>
          </a:p>
          <a:p>
            <a:r>
              <a:t>Say: "Name a real initiative, a real blockage and the condition behind it. Rate the clogs honestly, and keep the most active clog in mind: Section 2 asks which lever you would pull for it."</a:t>
            </a:r>
          </a:p>
          <a:p/>
          <a:p>
            <a:r>
              <a:rPr b="1"/>
              <a:t>4. Bridge to Section 2.</a:t>
            </a:r>
          </a:p>
          <a:p>
            <a:r>
              <a:t>Say: "Section 1 gave you the map. Section 2 asks why disciplined intervention clears what the map finds."</a:t>
            </a:r>
          </a:p>
          <a:p/>
          <a:p>
            <a:r>
              <a:rPr b="1"/>
              <a:t>ON THE PORTAL, AFTER THE TEACHING:</a:t>
            </a:r>
          </a:p>
          <a:p>
            <a:r>
              <a:t>Participants write these reflections in Section 1 of the participant file, at the foot of parts 1.1, 1.2 and 1.5.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REFLECTIONS</a:t>
            </a:r>
          </a:p>
          <a:p/>
          <a:p>
            <a:r>
              <a:rPr b="1"/>
              <a:t>HOW TO USE THIS SLIDE:</a:t>
            </a:r>
          </a:p>
          <a:p/>
          <a:p>
            <a:r>
              <a:rPr b="1"/>
              <a:t>1. Show the slide and read the prompt aloud.</a:t>
            </a:r>
          </a:p>
          <a:p>
            <a:r>
              <a:t>2.2 Reflection — Your Lever: "For the clog you identified in Awareness: which primary lever would you pull, which second lever would you combine it with, and why this combination?"</a:t>
            </a:r>
          </a:p>
          <a:p/>
          <a:p>
            <a:r>
              <a:rPr b="1"/>
              <a:t>2. Say what the reflection is for.</a:t>
            </a:r>
          </a:p>
          <a:p>
            <a:r>
              <a:t>Point learners to the portal section that they will be required to complete with as much depth as possible.</a:t>
            </a:r>
          </a:p>
          <a:p>
            <a:r>
              <a:t>The reflections build the learning portfolio they receive at the end of the programme.</a:t>
            </a:r>
          </a:p>
          <a:p>
            <a:r>
              <a:t>Say: "You write this reflection on the portal after the teaching, with as much depth as you can."</a:t>
            </a:r>
          </a:p>
          <a:p/>
          <a:p>
            <a:r>
              <a:rPr b="1"/>
              <a:t>3. Set the standard.</a:t>
            </a:r>
          </a:p>
          <a:p>
            <a:r>
              <a:t>Say: "Name the clog from your Section 1 reflection, two levers and the order you would pull them in. Name what each lever changes."</a:t>
            </a:r>
          </a:p>
          <a:p>
            <a:r>
              <a:t>Ask: "You have selected a lever. What would have to be true for that lever to actually clear the clog?"</a:t>
            </a:r>
          </a:p>
          <a:p/>
          <a:p>
            <a:r>
              <a:rPr b="1"/>
              <a:t>4. Bridge to Section 3.</a:t>
            </a:r>
          </a:p>
          <a:p>
            <a:r>
              <a:t>Say: "Section 3 asks where executive decisions, including our own, create the clogs we have just learned to clear."</a:t>
            </a:r>
          </a:p>
          <a:p/>
          <a:p>
            <a:r>
              <a:rPr b="1"/>
              <a:t>ON THE PORTAL, AFTER THE TEACHING:</a:t>
            </a:r>
          </a:p>
          <a:p>
            <a:r>
              <a:t>Participants write this reflection in Section 2 of the participant file, at the foot of part 2.2.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REFLECTIONS</a:t>
            </a:r>
          </a:p>
          <a:p/>
          <a:p>
            <a:r>
              <a:rPr b="1"/>
              <a:t>HOW TO USE THIS SLIDE:</a:t>
            </a:r>
          </a:p>
          <a:p/>
          <a:p>
            <a:r>
              <a:rPr b="1"/>
              <a:t>1. Show the slide and read the prompt aloud.</a:t>
            </a:r>
          </a:p>
          <a:p>
            <a:r>
              <a:t>3.1 Reflection — My Executive Contribution to Performance (Portfolio work): "Think about one decision, policy or management practice within your own executive function that may be affecting the performance of another team or function. Examine its consequences through the Three Performance Lines of Sight."</a:t>
            </a:r>
          </a:p>
          <a:p>
            <a:r>
              <a:t>Name the five boxes: my executive function; the decision or management practice; 1 · Performance Outcome, which organisational result is affected; 2 · Performance Behaviour, what people are doing, delaying or unable to do because of it; 3 · Performance Condition, which of the seven clogs it creates or reinforces.</a:t>
            </a:r>
          </a:p>
          <a:p/>
          <a:p>
            <a:r>
              <a:rPr b="1"/>
              <a:t>2. Say what the reflection is for.</a:t>
            </a:r>
          </a:p>
          <a:p>
            <a:r>
              <a:t>Point learners to the portal section that they will be required to complete with as much depth as possible.</a:t>
            </a:r>
          </a:p>
          <a:p>
            <a:r>
              <a:t>The reflection is Portfolio work and builds the learning portfolio they receive at the end of the programme.</a:t>
            </a:r>
          </a:p>
          <a:p>
            <a:r>
              <a:t>Say: "You complete this on the portal after the teaching, with as much depth as you can."</a:t>
            </a:r>
          </a:p>
          <a:p/>
          <a:p>
            <a:r>
              <a:rPr b="1"/>
              <a:t>3. Set the standard.</a:t>
            </a:r>
          </a:p>
          <a:p>
            <a:r>
              <a:t>Say: "Choose a decision you own, a function it affects and a clog you can name with evidence."</a:t>
            </a:r>
          </a:p>
          <a:p/>
          <a:p>
            <a:r>
              <a:rPr b="1"/>
              <a:t>4. Bridge to Section 4.</a:t>
            </a:r>
          </a:p>
          <a:p>
            <a:r>
              <a:t>Say: "If clogs cross functions, so must the response. Section 4 makes clearing them a shared executive habit."</a:t>
            </a:r>
          </a:p>
          <a:p/>
          <a:p>
            <a:r>
              <a:rPr b="1"/>
              <a:t>ON THE PORTAL, AFTER THE TEACHING:</a:t>
            </a:r>
          </a:p>
          <a:p>
            <a:r>
              <a:t>Participants complete this reflection in Section 3 of the participant file, at the foot of part 3.1.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REFLECTIONS</a:t>
            </a:r>
          </a:p>
          <a:p/>
          <a:p>
            <a:r>
              <a:rPr b="1"/>
              <a:t>HOW TO USE THIS SLIDE:</a:t>
            </a:r>
          </a:p>
          <a:p/>
          <a:p>
            <a:r>
              <a:rPr b="1"/>
              <a:t>1. Show the slide and read the prompt aloud.</a:t>
            </a:r>
          </a:p>
          <a:p>
            <a:r>
              <a:t>4.3 Reflection — My Leadership Contribution to Strategic Unclogging (Portfolio work): "Reflect on how your leadership decisions and practices may enable or constrain people and organisational performance. Think about a performance clog you have observed in your organisation, particularly one that may have been created, reinforced or left unresolved through decisions within your area of responsibility."</a:t>
            </a:r>
          </a:p>
          <a:p>
            <a:r>
              <a:t>Name the three stages participants write in the first person: REVIEW, the clog, and its effect on people's performance and on organisational performance; REALIGN, the decision, practice or behaviour within their control that may be contributing, what they must change and the leaders they need to engage; RESTORE, the Unclogging Lever, the action they will take and the evidence that will show improvement.</a:t>
            </a:r>
          </a:p>
          <a:p/>
          <a:p>
            <a:r>
              <a:rPr b="1"/>
              <a:t>2. Say what the reflection is for.</a:t>
            </a:r>
          </a:p>
          <a:p>
            <a:r>
              <a:t>Point learners to the portal section that they will be required to complete with as much depth as possible.</a:t>
            </a:r>
          </a:p>
          <a:p>
            <a:r>
              <a:t>The reflection is Portfolio work and builds the learning portfolio they receive at the end of the programme.</a:t>
            </a:r>
          </a:p>
          <a:p>
            <a:r>
              <a:t>Say: "You complete this on the portal after the teaching, with as much depth as you can."</a:t>
            </a:r>
          </a:p>
          <a:p/>
          <a:p>
            <a:r>
              <a:rPr b="1"/>
              <a:t>3. Set the standard.</a:t>
            </a:r>
          </a:p>
          <a:p>
            <a:r>
              <a:t>Say: "Choose a clog you have allowed to persist, name your own part in it, and commit to one action with evidence you can check."</a:t>
            </a:r>
          </a:p>
          <a:p/>
          <a:p>
            <a:r>
              <a:rPr b="1"/>
              <a:t>4. Bridge to Section 5.</a:t>
            </a:r>
          </a:p>
          <a:p>
            <a:r>
              <a:t>Say: "Unclogging becomes a habit when the leadership team owns friction collectively and works through it in a regular cycle. In Section 5 your group runs the cycle on a challenge from its own Problem Charter."</a:t>
            </a:r>
          </a:p>
          <a:p/>
          <a:p>
            <a:r>
              <a:rPr b="1"/>
              <a:t>ON THE PORTAL, AFTER THE TEACHING:</a:t>
            </a:r>
          </a:p>
          <a:p>
            <a:r>
              <a:t>Participants complete this reflection in Section 4 of the participant file, at the foot of part 4.3.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 Id="rId6"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1.xml"/><Relationship Id="rId10" Type="http://schemas.openxmlformats.org/officeDocument/2006/relationships/image" Target="../media/image1.png"/><Relationship Id="rId11" Type="http://schemas.openxmlformats.org/officeDocument/2006/relationships/image" Target="../media/image2.png"/><Relationship Id="rId1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2.xml"/><Relationship Id="rId10" Type="http://schemas.openxmlformats.org/officeDocument/2006/relationships/image" Target="../media/image3.png"/><Relationship Id="rId11"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3.xml"/><Relationship Id="rId10"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8-2.png"/><Relationship Id="rId4" Type="http://schemas.openxmlformats.org/officeDocument/2006/relationships/image" Target="../media/image-18-3.png"/><Relationship Id="rId5"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34.xml"/><Relationship Id="rId10"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9</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Strategic Unclogging</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Engineering the Flow of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Diagnose systemic constraints in people and organisational performance that impede strategy delivery.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Differentiate visible performance symptoms from underlying causes to target intervention.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and resolve interdependent enterprise conditions contributing to stalled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Mobilise coordinated organisational responses that restore strategic coherence and momentum.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a Strategic Clog?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systemic blockages between strategic intent and execution.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early friction signals to locate constraints in people and organisational conditions.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a Strategic Clog?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Strategy sets the destination. Flow determines whether you have the power to arrive.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 clog is an internal blockage that prevents strategic intent from flowing into execution.</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1.2 · Where performance becomes constrained</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Where are our people and our organisational conditions not yet ready to carry the strategy?</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Clogs form where the strategy stretches today’s organisation beyond what it was designed to carry.</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Seven Performance Clogs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 Arena</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 Boundaries</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 Value Proposition</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 Competition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 Arena + Boundaries</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Three performance lines of sight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What result is falling short?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What are people doing, or unable to do?</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What is causing or reinforcing it?</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1.5 · Worked example: improving customer service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Performance outcome  </a:t>
            </a:r>
            <a:pPr indent="0" marL="0">
              <a:buNone/>
            </a:pPr>
            <a:r>
              <a:rPr lang="en-US" sz="2600" dirty="0">
                <a:solidFill>
                  <a:srgbClr val="1F2A22"/>
                </a:solidFill>
                <a:latin typeface="Calibri" pitchFamily="34" charset="0"/>
                <a:ea typeface="Calibri" pitchFamily="34" charset="-122"/>
                <a:cs typeface="Calibri" pitchFamily="34" charset="-120"/>
              </a:rPr>
              <a:t>65% of enquiries resolved within 48 hours, against 90%.</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Performance behaviour  </a:t>
            </a:r>
            <a:pPr indent="0" marL="0">
              <a:buNone/>
            </a:pPr>
            <a:r>
              <a:rPr lang="en-US" sz="2600" dirty="0">
                <a:solidFill>
                  <a:srgbClr val="1F2A22"/>
                </a:solidFill>
                <a:latin typeface="Calibri" pitchFamily="34" charset="0"/>
                <a:ea typeface="Calibri" pitchFamily="34" charset="-122"/>
                <a:cs typeface="Calibri" pitchFamily="34" charset="-120"/>
              </a:rPr>
              <a:t>Cases pass between departments; routine refunds wait for approval.</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Performance condition  </a:t>
            </a:r>
            <a:pPr indent="0" marL="0">
              <a:buNone/>
            </a:pPr>
            <a:r>
              <a:rPr lang="en-US" sz="2600" dirty="0">
                <a:solidFill>
                  <a:srgbClr val="1F2A22"/>
                </a:solidFill>
                <a:latin typeface="Calibri" pitchFamily="34" charset="0"/>
                <a:ea typeface="Calibri" pitchFamily="34" charset="-122"/>
                <a:cs typeface="Calibri" pitchFamily="34" charset="-120"/>
              </a:rPr>
              <a:t>Structural Misfit, Decision Bottlenecks, Misaligned Metrics, Technology Lag.</a:t>
            </a:r>
            <a:endParaRPr lang="en-US" sz="26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10"/>
          <a:stretch>
            <a:fillRect/>
          </a:stretch>
        </p:blipFill>
        <p:spPr>
          <a:xfrm>
            <a:off x="1691640" y="1463040"/>
            <a:ext cx="10058400" cy="1657186"/>
          </a:xfrm>
          <a:prstGeom prst="rect">
            <a:avLst/>
          </a:prstGeom>
        </p:spPr>
      </p:pic>
      <p:sp>
        <p:nvSpPr>
          <p:cNvPr id="4" name="Part 1.1"/>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5" descr="ref_1.2.png"/>
          <p:cNvPicPr>
            <a:picLocks noChangeAspect="1"/>
          </p:cNvPicPr>
          <p:nvPr/>
        </p:nvPicPr>
        <p:blipFill>
          <a:blip r:embed="rId11"/>
          <a:stretch>
            <a:fillRect/>
          </a:stretch>
        </p:blipFill>
        <p:spPr>
          <a:xfrm>
            <a:off x="1691640" y="4980205"/>
            <a:ext cx="10058400" cy="1311339"/>
          </a:xfrm>
          <a:prstGeom prst="rect">
            <a:avLst/>
          </a:prstGeom>
        </p:spPr>
      </p:pic>
      <p:sp>
        <p:nvSpPr>
          <p:cNvPr id="6" name="Part 1.5"/>
          <p:cNvSpPr/>
          <p:nvPr/>
        </p:nvSpPr>
        <p:spPr>
          <a:xfrm>
            <a:off x="548640" y="5201534"/>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1.5</a:t>
            </a:r>
          </a:p>
        </p:txBody>
      </p:sp>
      <p:pic>
        <p:nvPicPr>
          <p:cNvPr id="7" name="Reflection 1.2" descr="image.png"/>
          <p:cNvPicPr>
            <a:picLocks noChangeAspect="1"/>
          </p:cNvPicPr>
          <p:nvPr/>
        </p:nvPicPr>
        <p:blipFill>
          <a:blip r:embed="rId12"/>
          <a:stretch>
            <a:fillRect/>
          </a:stretch>
        </p:blipFill>
        <p:spPr>
          <a:xfrm>
            <a:off x="1691640" y="3394546"/>
            <a:ext cx="10058400" cy="1311339"/>
          </a:xfrm>
          <a:prstGeom prst="rect">
            <a:avLst/>
          </a:prstGeom>
        </p:spPr>
      </p:pic>
      <p:sp>
        <p:nvSpPr>
          <p:cNvPr id="8" name="Part 1.2"/>
          <p:cNvSpPr/>
          <p:nvPr/>
        </p:nvSpPr>
        <p:spPr>
          <a:xfrm>
            <a:off x="548640" y="361587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Disciplined Intervention Clears Strategic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Select and apply responses to strategic clogs across people and organisational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Intervene early in emerging execution friction before it compounds.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Three disciplines of execution engineering</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Early Identification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Detect signals before they compound.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Accurate Classification</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Name the clog precisely before intervening.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Targeted Intervention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Pull the right lever with precision.</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Identify the Clog → Select the Lever → Targeted Intervention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The 7 Strategic Unclogging Levers</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5" name="Reflection 2.2" descr="ref_2.3.png"/>
          <p:cNvPicPr>
            <a:picLocks noChangeAspect="1"/>
          </p:cNvPicPr>
          <p:nvPr/>
        </p:nvPicPr>
        <p:blipFill>
          <a:blip r:embed="rId11"/>
          <a:stretch>
            <a:fillRect/>
          </a:stretch>
        </p:blipFill>
        <p:spPr>
          <a:xfrm>
            <a:off x="1691640" y="1463040"/>
            <a:ext cx="10058400" cy="1311339"/>
          </a:xfrm>
          <a:prstGeom prst="rect">
            <a:avLst/>
          </a:prstGeom>
        </p:spPr>
      </p:pic>
      <p:sp>
        <p:nvSpPr>
          <p:cNvPr id="6" name="Part 2.2"/>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Do Executive Decisions and Practices Contribute to Performance Clogs?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how executive decisions and practices create or reinforce performance clogs.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Anticipate and manage cross-functional performance consequences of executive decisions.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3.1 · The CXO performance clog contributors</a:t>
            </a:r>
            <a:endParaRPr lang="en-US" sz="3600" dirty="0"/>
          </a:p>
        </p:txBody>
      </p:sp>
      <p:sp>
        <p:nvSpPr>
          <p:cNvPr id="3" name="Shape 1"/>
          <p:cNvSpPr/>
          <p:nvPr/>
        </p:nvSpPr>
        <p:spPr>
          <a:xfrm>
            <a:off x="548640" y="1600000"/>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670941" y="1722301"/>
            <a:ext cx="244602" cy="244602"/>
          </a:xfrm>
          <a:prstGeom prst="rect">
            <a:avLst/>
          </a:prstGeom>
        </p:spPr>
      </p:pic>
      <p:sp>
        <p:nvSpPr>
          <p:cNvPr id="5" name="Text 2"/>
          <p:cNvSpPr txBox="1"/>
          <p:nvPr/>
        </p:nvSpPr>
        <p:spPr>
          <a:xfrm>
            <a:off x="135788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CEO  </a:t>
            </a:r>
            <a:pPr indent="0" marL="0">
              <a:buNone/>
            </a:pPr>
            <a:r>
              <a:rPr lang="en-US" sz="2400" dirty="0">
                <a:solidFill>
                  <a:srgbClr val="1F2A22"/>
                </a:solidFill>
                <a:latin typeface="Calibri" pitchFamily="34" charset="0"/>
                <a:ea typeface="Calibri" pitchFamily="34" charset="-122"/>
                <a:cs typeface="Calibri" pitchFamily="34" charset="-120"/>
              </a:rPr>
              <a:t>Enterprise Direction</a:t>
            </a:r>
            <a:endParaRPr lang="en-US" sz="2400" dirty="0"/>
          </a:p>
        </p:txBody>
      </p:sp>
      <p:sp>
        <p:nvSpPr>
          <p:cNvPr id="6" name="Shape 3"/>
          <p:cNvSpPr/>
          <p:nvPr/>
        </p:nvSpPr>
        <p:spPr>
          <a:xfrm>
            <a:off x="548640" y="2560000"/>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670941" y="2682301"/>
            <a:ext cx="244602" cy="244602"/>
          </a:xfrm>
          <a:prstGeom prst="rect">
            <a:avLst/>
          </a:prstGeom>
        </p:spPr>
      </p:pic>
      <p:sp>
        <p:nvSpPr>
          <p:cNvPr id="8" name="Text 4"/>
          <p:cNvSpPr txBox="1"/>
          <p:nvPr/>
        </p:nvSpPr>
        <p:spPr>
          <a:xfrm>
            <a:off x="135788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CFO  </a:t>
            </a:r>
            <a:pPr indent="0" marL="0">
              <a:buNone/>
            </a:pPr>
            <a:r>
              <a:rPr lang="en-US" sz="2400" dirty="0">
                <a:solidFill>
                  <a:srgbClr val="1F2A22"/>
                </a:solidFill>
                <a:latin typeface="Calibri" pitchFamily="34" charset="0"/>
                <a:ea typeface="Calibri" pitchFamily="34" charset="-122"/>
                <a:cs typeface="Calibri" pitchFamily="34" charset="-120"/>
              </a:rPr>
              <a:t>Financial Stewardship</a:t>
            </a:r>
            <a:endParaRPr lang="en-US" sz="2400" dirty="0"/>
          </a:p>
        </p:txBody>
      </p:sp>
      <p:sp>
        <p:nvSpPr>
          <p:cNvPr id="9" name="Shape 5"/>
          <p:cNvSpPr/>
          <p:nvPr/>
        </p:nvSpPr>
        <p:spPr>
          <a:xfrm>
            <a:off x="548640" y="3520000"/>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670941" y="3642301"/>
            <a:ext cx="244602" cy="244602"/>
          </a:xfrm>
          <a:prstGeom prst="rect">
            <a:avLst/>
          </a:prstGeom>
        </p:spPr>
      </p:pic>
      <p:sp>
        <p:nvSpPr>
          <p:cNvPr id="11" name="Text 6"/>
          <p:cNvSpPr txBox="1"/>
          <p:nvPr/>
        </p:nvSpPr>
        <p:spPr>
          <a:xfrm>
            <a:off x="135788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COO  </a:t>
            </a:r>
            <a:pPr indent="0" marL="0">
              <a:buNone/>
            </a:pPr>
            <a:r>
              <a:rPr lang="en-US" sz="2400" dirty="0">
                <a:solidFill>
                  <a:srgbClr val="1F2A22"/>
                </a:solidFill>
                <a:latin typeface="Calibri" pitchFamily="34" charset="0"/>
                <a:ea typeface="Calibri" pitchFamily="34" charset="-122"/>
                <a:cs typeface="Calibri" pitchFamily="34" charset="-120"/>
              </a:rPr>
              <a:t>Operational Discipline</a:t>
            </a:r>
            <a:endParaRPr lang="en-US" sz="2400" dirty="0"/>
          </a:p>
        </p:txBody>
      </p:sp>
      <p:sp>
        <p:nvSpPr>
          <p:cNvPr id="12" name="Shape 7"/>
          <p:cNvSpPr/>
          <p:nvPr/>
        </p:nvSpPr>
        <p:spPr>
          <a:xfrm>
            <a:off x="548640" y="4480000"/>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670941" y="4602301"/>
            <a:ext cx="244602" cy="244602"/>
          </a:xfrm>
          <a:prstGeom prst="rect">
            <a:avLst/>
          </a:prstGeom>
        </p:spPr>
      </p:pic>
      <p:sp>
        <p:nvSpPr>
          <p:cNvPr id="14" name="Text 8"/>
          <p:cNvSpPr txBox="1"/>
          <p:nvPr/>
        </p:nvSpPr>
        <p:spPr>
          <a:xfrm>
            <a:off x="135788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CHRO  </a:t>
            </a:r>
            <a:pPr indent="0" marL="0">
              <a:buNone/>
            </a:pPr>
            <a:r>
              <a:rPr lang="en-US" sz="2400" dirty="0">
                <a:solidFill>
                  <a:srgbClr val="1F2A22"/>
                </a:solidFill>
                <a:latin typeface="Calibri" pitchFamily="34" charset="0"/>
                <a:ea typeface="Calibri" pitchFamily="34" charset="-122"/>
                <a:cs typeface="Calibri" pitchFamily="34" charset="-120"/>
              </a:rPr>
              <a:t>People and Culture</a:t>
            </a:r>
            <a:endParaRPr lang="en-US" sz="2400" dirty="0"/>
          </a:p>
        </p:txBody>
      </p:sp>
      <p:sp>
        <p:nvSpPr>
          <p:cNvPr id="15" name="Shape 9"/>
          <p:cNvSpPr/>
          <p:nvPr/>
        </p:nvSpPr>
        <p:spPr>
          <a:xfrm>
            <a:off x="548640" y="5440000"/>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5"/>
          <a:stretch>
            <a:fillRect/>
          </a:stretch>
        </p:blipFill>
        <p:spPr>
          <a:xfrm>
            <a:off x="670941" y="5562301"/>
            <a:ext cx="244602" cy="244602"/>
          </a:xfrm>
          <a:prstGeom prst="rect">
            <a:avLst/>
          </a:prstGeom>
        </p:spPr>
      </p:pic>
      <p:sp>
        <p:nvSpPr>
          <p:cNvPr id="17" name="Text 10"/>
          <p:cNvSpPr txBox="1"/>
          <p:nvPr/>
        </p:nvSpPr>
        <p:spPr>
          <a:xfrm>
            <a:off x="135788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CTO/CIO  </a:t>
            </a:r>
            <a:pPr indent="0" marL="0">
              <a:buNone/>
            </a:pPr>
            <a:r>
              <a:rPr lang="en-US" sz="2400" dirty="0">
                <a:solidFill>
                  <a:srgbClr val="1F2A22"/>
                </a:solidFill>
                <a:latin typeface="Calibri" pitchFamily="34" charset="0"/>
                <a:ea typeface="Calibri" pitchFamily="34" charset="-122"/>
                <a:cs typeface="Calibri" pitchFamily="34" charset="-120"/>
              </a:rPr>
              <a:t>Technology and Information</a:t>
            </a:r>
            <a:endParaRPr lang="en-US" sz="2400" dirty="0"/>
          </a:p>
        </p:txBody>
      </p:sp>
      <p:sp>
        <p:nvSpPr>
          <p:cNvPr id="18" name="Shape 11"/>
          <p:cNvSpPr/>
          <p:nvPr/>
        </p:nvSpPr>
        <p:spPr>
          <a:xfrm>
            <a:off x="6250000" y="1600000"/>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6"/>
          <a:stretch>
            <a:fillRect/>
          </a:stretch>
        </p:blipFill>
        <p:spPr>
          <a:xfrm>
            <a:off x="6372301" y="1722301"/>
            <a:ext cx="244602" cy="244602"/>
          </a:xfrm>
          <a:prstGeom prst="rect">
            <a:avLst/>
          </a:prstGeom>
        </p:spPr>
      </p:pic>
      <p:sp>
        <p:nvSpPr>
          <p:cNvPr id="20" name="Text 12"/>
          <p:cNvSpPr txBox="1"/>
          <p:nvPr/>
        </p:nvSpPr>
        <p:spPr>
          <a:xfrm>
            <a:off x="7059244" y="145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CMO  </a:t>
            </a:r>
            <a:pPr indent="0" marL="0">
              <a:buNone/>
            </a:pPr>
            <a:r>
              <a:rPr lang="en-US" sz="2400" dirty="0">
                <a:solidFill>
                  <a:srgbClr val="1F2A22"/>
                </a:solidFill>
                <a:latin typeface="Calibri" pitchFamily="34" charset="0"/>
                <a:ea typeface="Calibri" pitchFamily="34" charset="-122"/>
                <a:cs typeface="Calibri" pitchFamily="34" charset="-120"/>
              </a:rPr>
              <a:t>Market and Customer Insight</a:t>
            </a:r>
            <a:endParaRPr lang="en-US" sz="2400" dirty="0"/>
          </a:p>
        </p:txBody>
      </p:sp>
      <p:sp>
        <p:nvSpPr>
          <p:cNvPr id="21" name="Shape 13"/>
          <p:cNvSpPr/>
          <p:nvPr/>
        </p:nvSpPr>
        <p:spPr>
          <a:xfrm>
            <a:off x="6250000" y="2560000"/>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7"/>
          <a:stretch>
            <a:fillRect/>
          </a:stretch>
        </p:blipFill>
        <p:spPr>
          <a:xfrm>
            <a:off x="6372301" y="2682301"/>
            <a:ext cx="244602" cy="244602"/>
          </a:xfrm>
          <a:prstGeom prst="rect">
            <a:avLst/>
          </a:prstGeom>
        </p:spPr>
      </p:pic>
      <p:sp>
        <p:nvSpPr>
          <p:cNvPr id="23" name="Text 14"/>
          <p:cNvSpPr txBox="1"/>
          <p:nvPr/>
        </p:nvSpPr>
        <p:spPr>
          <a:xfrm>
            <a:off x="7059244" y="241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CCO  </a:t>
            </a:r>
            <a:pPr indent="0" marL="0">
              <a:buNone/>
            </a:pPr>
            <a:r>
              <a:rPr lang="en-US" sz="2400" dirty="0">
                <a:solidFill>
                  <a:srgbClr val="1F2A22"/>
                </a:solidFill>
                <a:latin typeface="Calibri" pitchFamily="34" charset="0"/>
                <a:ea typeface="Calibri" pitchFamily="34" charset="-122"/>
                <a:cs typeface="Calibri" pitchFamily="34" charset="-120"/>
              </a:rPr>
              <a:t>Commercial Performance</a:t>
            </a:r>
            <a:endParaRPr lang="en-US" sz="2400" dirty="0"/>
          </a:p>
        </p:txBody>
      </p:sp>
      <p:sp>
        <p:nvSpPr>
          <p:cNvPr id="21" name="Shape 13_x0"/>
          <p:cNvSpPr/>
          <p:nvPr/>
        </p:nvSpPr>
        <p:spPr>
          <a:xfrm>
            <a:off x="6250000" y="3520000"/>
            <a:ext cx="489204" cy="489204"/>
          </a:xfrm>
          <a:prstGeom prst="ellipse">
            <a:avLst/>
          </a:prstGeom>
          <a:solidFill>
            <a:srgbClr val="C6A24C"/>
          </a:solidFill>
          <a:ln w="12700">
            <a:solidFill>
              <a:srgbClr val="C6A24C"/>
            </a:solidFill>
            <a:prstDash val="solid"/>
          </a:ln>
        </p:spPr>
        <p:txBody>
          <a:bodyPr/>
          <a:p/>
        </p:txBody>
      </p:sp>
      <p:pic>
        <p:nvPicPr>
          <p:cNvPr id="22" name="Image 6_x0" descr="preencoded.png">    </p:cNvPr>
          <p:cNvPicPr>
            <a:picLocks noChangeAspect="1"/>
          </p:cNvPicPr>
          <p:nvPr/>
        </p:nvPicPr>
        <p:blipFill>
          <a:blip r:embed="rId7"/>
          <a:stretch>
            <a:fillRect/>
          </a:stretch>
        </p:blipFill>
        <p:spPr>
          <a:xfrm>
            <a:off x="6372301" y="3642301"/>
            <a:ext cx="244602" cy="244602"/>
          </a:xfrm>
          <a:prstGeom prst="rect">
            <a:avLst/>
          </a:prstGeom>
        </p:spPr>
      </p:pic>
      <p:sp>
        <p:nvSpPr>
          <p:cNvPr id="23" name="Text 14_x0"/>
          <p:cNvSpPr txBox="1"/>
          <p:nvPr/>
        </p:nvSpPr>
        <p:spPr>
          <a:xfrm>
            <a:off x="7059244" y="337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CPO  </a:t>
            </a:r>
            <a:pPr indent="0" marL="0">
              <a:buNone/>
            </a:pPr>
            <a:r>
              <a:rPr lang="en-US" sz="2400" dirty="0">
                <a:solidFill>
                  <a:srgbClr val="1F2A22"/>
                </a:solidFill>
                <a:latin typeface="Calibri" pitchFamily="34" charset="0"/>
                <a:ea typeface="Calibri" pitchFamily="34" charset="-122"/>
                <a:cs typeface="Calibri" pitchFamily="34" charset="-120"/>
              </a:rPr>
              <a:t>Procurement and Supply</a:t>
            </a:r>
            <a:endParaRPr lang="en-US" sz="2400" dirty="0"/>
          </a:p>
        </p:txBody>
      </p:sp>
      <p:sp>
        <p:nvSpPr>
          <p:cNvPr id="21" name="Shape 13_x1"/>
          <p:cNvSpPr/>
          <p:nvPr/>
        </p:nvSpPr>
        <p:spPr>
          <a:xfrm>
            <a:off x="6250000" y="4480000"/>
            <a:ext cx="489204" cy="489204"/>
          </a:xfrm>
          <a:prstGeom prst="ellipse">
            <a:avLst/>
          </a:prstGeom>
          <a:solidFill>
            <a:srgbClr val="C6A24C"/>
          </a:solidFill>
          <a:ln w="12700">
            <a:solidFill>
              <a:srgbClr val="C6A24C"/>
            </a:solidFill>
            <a:prstDash val="solid"/>
          </a:ln>
        </p:spPr>
        <p:txBody>
          <a:bodyPr/>
          <a:p/>
        </p:txBody>
      </p:sp>
      <p:pic>
        <p:nvPicPr>
          <p:cNvPr id="22" name="Image 6_x1" descr="preencoded.png">    </p:cNvPr>
          <p:cNvPicPr>
            <a:picLocks noChangeAspect="1"/>
          </p:cNvPicPr>
          <p:nvPr/>
        </p:nvPicPr>
        <p:blipFill>
          <a:blip r:embed="rId7"/>
          <a:stretch>
            <a:fillRect/>
          </a:stretch>
        </p:blipFill>
        <p:spPr>
          <a:xfrm>
            <a:off x="6372301" y="4602301"/>
            <a:ext cx="244602" cy="244602"/>
          </a:xfrm>
          <a:prstGeom prst="rect">
            <a:avLst/>
          </a:prstGeom>
        </p:spPr>
      </p:pic>
      <p:sp>
        <p:nvSpPr>
          <p:cNvPr id="23" name="Text 14_x1"/>
          <p:cNvSpPr txBox="1"/>
          <p:nvPr/>
        </p:nvSpPr>
        <p:spPr>
          <a:xfrm>
            <a:off x="7059244" y="433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CRO  </a:t>
            </a:r>
            <a:pPr indent="0" marL="0">
              <a:buNone/>
            </a:pPr>
            <a:r>
              <a:rPr lang="en-US" sz="2400" dirty="0">
                <a:solidFill>
                  <a:srgbClr val="1F2A22"/>
                </a:solidFill>
                <a:latin typeface="Calibri" pitchFamily="34" charset="0"/>
                <a:ea typeface="Calibri" pitchFamily="34" charset="-122"/>
                <a:cs typeface="Calibri" pitchFamily="34" charset="-120"/>
              </a:rPr>
              <a:t>Risk and Governance</a:t>
            </a:r>
            <a:endParaRPr lang="en-US" sz="2400" dirty="0"/>
          </a:p>
        </p:txBody>
      </p:sp>
      <p:sp>
        <p:nvSpPr>
          <p:cNvPr id="21" name="Shape 13_x2"/>
          <p:cNvSpPr/>
          <p:nvPr/>
        </p:nvSpPr>
        <p:spPr>
          <a:xfrm>
            <a:off x="6250000" y="5440000"/>
            <a:ext cx="489204" cy="489204"/>
          </a:xfrm>
          <a:prstGeom prst="ellipse">
            <a:avLst/>
          </a:prstGeom>
          <a:solidFill>
            <a:srgbClr val="C6A24C"/>
          </a:solidFill>
          <a:ln w="12700">
            <a:solidFill>
              <a:srgbClr val="C6A24C"/>
            </a:solidFill>
            <a:prstDash val="solid"/>
          </a:ln>
        </p:spPr>
        <p:txBody>
          <a:bodyPr/>
          <a:p/>
        </p:txBody>
      </p:sp>
      <p:pic>
        <p:nvPicPr>
          <p:cNvPr id="22" name="Image 6_x2" descr="preencoded.png">    </p:cNvPr>
          <p:cNvPicPr>
            <a:picLocks noChangeAspect="1"/>
          </p:cNvPicPr>
          <p:nvPr/>
        </p:nvPicPr>
        <p:blipFill>
          <a:blip r:embed="rId7"/>
          <a:stretch>
            <a:fillRect/>
          </a:stretch>
        </p:blipFill>
        <p:spPr>
          <a:xfrm>
            <a:off x="6372301" y="5562301"/>
            <a:ext cx="244602" cy="244602"/>
          </a:xfrm>
          <a:prstGeom prst="rect">
            <a:avLst/>
          </a:prstGeom>
        </p:spPr>
      </p:pic>
      <p:sp>
        <p:nvSpPr>
          <p:cNvPr id="23" name="Text 14_x2"/>
          <p:cNvSpPr txBox="1"/>
          <p:nvPr/>
        </p:nvSpPr>
        <p:spPr>
          <a:xfrm>
            <a:off x="7059244" y="5290000"/>
            <a:ext cx="4750000" cy="789204"/>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CSO  </a:t>
            </a:r>
            <a:pPr indent="0" marL="0">
              <a:buNone/>
            </a:pPr>
            <a:r>
              <a:rPr lang="en-US" sz="2400" dirty="0">
                <a:solidFill>
                  <a:srgbClr val="1F2A22"/>
                </a:solidFill>
                <a:latin typeface="Calibri" pitchFamily="34" charset="0"/>
                <a:ea typeface="Calibri" pitchFamily="34" charset="-122"/>
                <a:cs typeface="Calibri" pitchFamily="34" charset="-120"/>
              </a:rPr>
              <a:t>Strategic Integration</a:t>
            </a:r>
            <a:endParaRPr lang="en-US" sz="24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10"/>
          <a:stretch>
            <a:fillRect/>
          </a:stretch>
        </p:blipFill>
        <p:spPr>
          <a:xfrm>
            <a:off x="1691640" y="1463040"/>
            <a:ext cx="10058400" cy="1311339"/>
          </a:xfrm>
          <a:prstGeom prst="rect">
            <a:avLst/>
          </a:prstGeom>
        </p:spPr>
      </p:pic>
      <p:sp>
        <p:nvSpPr>
          <p:cNvPr id="4" name="Part 3.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 Leadership Clog Ownership</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Mobilise cross-functional leadership to restore shared performance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Establish a collective leadership rhythm for surfacing and resolving performance friction.</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Normalising the unclog: from crisis to habit</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the evidence, and confirm the clog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ownership, and the changes on both sides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activate the lever, and verify recovery</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Every executive  </a:t>
            </a:r>
            <a:pPr indent="0" marL="0">
              <a:buNone/>
            </a:pPr>
            <a:r>
              <a:rPr lang="en-US" sz="2600" dirty="0">
                <a:solidFill>
                  <a:srgbClr val="1F2A22"/>
                </a:solidFill>
                <a:latin typeface="Calibri" pitchFamily="34" charset="0"/>
                <a:ea typeface="Calibri" pitchFamily="34" charset="-122"/>
                <a:cs typeface="Calibri" pitchFamily="34" charset="-120"/>
              </a:rPr>
              <a:t>makes emerging friction visible</a:t>
            </a:r>
            <a:endParaRPr lang="en-US" sz="2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4.2 · The Unclogging Cycle: REVIEW</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REVIEW is complete when the executive team agrees on the performance gap, the supporting evidence and the clog requiring intervention.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Outcome, behaviour, condition: the Three Performance Lines of Sight.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REALIGN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What must change?</a:t>
            </a:r>
            <a:endParaRPr lang="en-US" sz="2600" dirty="0"/>
          </a:p>
        </p:txBody>
      </p:sp>
      <p:sp>
        <p:nvSpPr>
          <p:cNvPr id="7" name="Text 4"/>
          <p:cNvSpPr txBox="1"/>
          <p:nvPr/>
        </p:nvSpPr>
        <p:spPr>
          <a:xfrm>
            <a:off x="777240"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arrangement, practice or decision sustaining the clog.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838200"/>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Who must act together?</a:t>
            </a:r>
            <a:endParaRPr lang="en-US" sz="2600" dirty="0"/>
          </a:p>
        </p:txBody>
      </p:sp>
      <p:sp>
        <p:nvSpPr>
          <p:cNvPr id="12" name="Text 8"/>
          <p:cNvSpPr txBox="1"/>
          <p:nvPr/>
        </p:nvSpPr>
        <p:spPr>
          <a:xfrm>
            <a:off x="4565904" y="3539252"/>
            <a:ext cx="3057144" cy="176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coordinating owner, and the contributing executives.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83820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must be agreed?</a:t>
            </a:r>
            <a:endParaRPr lang="en-US" sz="2600" dirty="0"/>
          </a:p>
        </p:txBody>
      </p:sp>
      <p:sp>
        <p:nvSpPr>
          <p:cNvPr id="17" name="Text 12"/>
          <p:cNvSpPr txBox="1"/>
          <p:nvPr/>
        </p:nvSpPr>
        <p:spPr>
          <a:xfrm>
            <a:off x="8354568" y="3539252"/>
            <a:ext cx="3057144" cy="176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Decisions, responsibilities, resources and timelines.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Consider both: people performance and organisational performance.</a:t>
            </a:r>
            <a:endParaRPr lang="en-US" sz="24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The Unclogging Cycle: RESTORE</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Worked example: the Unclogging Cycle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Decision Bottlenecks: routine maintenance purchases wait for senior approval.</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CFO coordinates and the COO contributes: revised approval authority and controls.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Lever 02 · Streamline, verified through approval time, downtime, delivery and controls.</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Increase customer orders delivered on time from 72% to 95% by year-end.</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 descr="ref_4.png"/>
          <p:cNvPicPr>
            <a:picLocks noChangeAspect="1"/>
          </p:cNvPicPr>
          <p:nvPr/>
        </p:nvPicPr>
        <p:blipFill>
          <a:blip r:embed="rId10"/>
          <a:stretch>
            <a:fillRect/>
          </a:stretch>
        </p:blipFill>
        <p:spPr>
          <a:xfrm>
            <a:off x="1691640" y="1463040"/>
            <a:ext cx="10058400" cy="1657186"/>
          </a:xfrm>
          <a:prstGeom prst="rect">
            <a:avLst/>
          </a:prstGeom>
        </p:spPr>
      </p:pic>
      <p:sp>
        <p:nvSpPr>
          <p:cNvPr id="4" name="Part 4"/>
          <p:cNvSpPr/>
          <p:nvPr/>
        </p:nvSpPr>
        <p:spPr>
          <a:xfrm>
            <a:off x="548640" y="1857293"/>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The Strategic Unclogging Clinic</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p/>
        </p:txBody>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Diagnose a Capstone challenge using the Seven Performance Clogs and select a suitable Unclogging Lever.</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Develop an integrated Review–Realign–Restore response addressing people and organisational performance.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Section 5 · Capstone portfolio output</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Challenge and clog</a:t>
            </a:r>
            <a:endParaRPr lang="en-US" sz="2600" dirty="0"/>
          </a:p>
        </p:txBody>
      </p:sp>
      <p:sp>
        <p:nvSpPr>
          <p:cNvPr id="7" name="Text 4"/>
          <p:cNvSpPr txBox="1"/>
          <p:nvPr/>
        </p:nvSpPr>
        <p:spPr>
          <a:xfrm>
            <a:off x="777240"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original challenge, the clog, and the reason for the diagnosis.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lever</a:t>
            </a:r>
            <a:endParaRPr lang="en-US" sz="2600" dirty="0"/>
          </a:p>
        </p:txBody>
      </p:sp>
      <p:sp>
        <p:nvSpPr>
          <p:cNvPr id="12" name="Text 8"/>
          <p:cNvSpPr txBox="1"/>
          <p:nvPr/>
        </p:nvSpPr>
        <p:spPr>
          <a:xfrm>
            <a:off x="4565904" y="3955304"/>
            <a:ext cx="3057144" cy="226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selected lever and its intended purpose.</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Review–Realign–Restore</a:t>
            </a:r>
            <a:endParaRPr lang="en-US" sz="2600" dirty="0"/>
          </a:p>
        </p:txBody>
      </p:sp>
      <p:sp>
        <p:nvSpPr>
          <p:cNvPr id="17" name="Text 12"/>
          <p:cNvSpPr txBox="1"/>
          <p:nvPr/>
        </p:nvSpPr>
        <p:spPr>
          <a:xfrm>
            <a:off x="8354568" y="3955304"/>
            <a:ext cx="3057144" cy="226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With executive ownership and evidence of recovery.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Return to your original work-based challenge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p/>
        </p:txBody>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challenge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One challenge from your group’s Problem Charter.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p/>
        </p:txBody>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The connection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The Objective, and the Key Result or KPI it affects.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The evidence</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The current result, or a realistic illustrative figure.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Choose a challenge with a clear connection to disappointing results.</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Identify the performance clog</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Structural Misfit  </a:t>
            </a:r>
            <a:pPr indent="0" marL="0">
              <a:buNone/>
            </a:pPr>
            <a:r>
              <a:rPr lang="en-US" sz="2400" dirty="0">
                <a:solidFill>
                  <a:srgbClr val="1F2A22"/>
                </a:solidFill>
                <a:latin typeface="Calibri" pitchFamily="34" charset="0"/>
                <a:ea typeface="Calibri" pitchFamily="34" charset="-122"/>
                <a:cs typeface="Calibri" pitchFamily="34" charset="-120"/>
              </a:rPr>
              <a:t>Roles, ownership, coordination</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Capability Gaps  </a:t>
            </a:r>
            <a:pPr indent="0" marL="0">
              <a:buNone/>
            </a:pPr>
            <a:r>
              <a:rPr lang="en-US" sz="2400" dirty="0">
                <a:solidFill>
                  <a:srgbClr val="1F2A22"/>
                </a:solidFill>
                <a:latin typeface="Calibri" pitchFamily="34" charset="0"/>
                <a:ea typeface="Calibri" pitchFamily="34" charset="-122"/>
                <a:cs typeface="Calibri" pitchFamily="34" charset="-120"/>
              </a:rPr>
              <a:t>Skills, tools, capacity</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Decision Bottlenecks  </a:t>
            </a:r>
            <a:pPr indent="0" marL="0">
              <a:buNone/>
            </a:pPr>
            <a:r>
              <a:rPr lang="en-US" sz="2400" dirty="0">
                <a:solidFill>
                  <a:srgbClr val="1F2A22"/>
                </a:solidFill>
                <a:latin typeface="Calibri" pitchFamily="34" charset="0"/>
                <a:ea typeface="Calibri" pitchFamily="34" charset="-122"/>
                <a:cs typeface="Calibri" pitchFamily="34" charset="-120"/>
              </a:rPr>
              <a:t>Authority, approvals, escalation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Misaligned Metrics &amp; Incentives  </a:t>
            </a:r>
            <a:pPr indent="0" marL="0">
              <a:buNone/>
            </a:pPr>
            <a:r>
              <a:rPr lang="en-US" sz="2400" dirty="0">
                <a:solidFill>
                  <a:srgbClr val="1F2A22"/>
                </a:solidFill>
                <a:latin typeface="Calibri" pitchFamily="34" charset="0"/>
                <a:ea typeface="Calibri" pitchFamily="34" charset="-122"/>
                <a:cs typeface="Calibri" pitchFamily="34" charset="-120"/>
              </a:rPr>
              <a:t>Measures and rewards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Cultural Resistance  </a:t>
            </a:r>
            <a:pPr indent="0" marL="0">
              <a:buNone/>
            </a:pPr>
            <a:r>
              <a:rPr lang="en-US" sz="2400" dirty="0">
                <a:solidFill>
                  <a:srgbClr val="1F2A22"/>
                </a:solidFill>
                <a:latin typeface="Calibri" pitchFamily="34" charset="0"/>
                <a:ea typeface="Calibri" pitchFamily="34" charset="-122"/>
                <a:cs typeface="Calibri" pitchFamily="34" charset="-120"/>
              </a:rPr>
              <a:t>Beliefs, norms, habits</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Technology / Infrastructure Lag  </a:t>
            </a:r>
            <a:pPr indent="0" marL="0">
              <a:buNone/>
            </a:pPr>
            <a:r>
              <a:rPr lang="en-US" sz="2400" dirty="0">
                <a:solidFill>
                  <a:srgbClr val="1F2A22"/>
                </a:solidFill>
                <a:latin typeface="Calibri" pitchFamily="34" charset="0"/>
                <a:ea typeface="Calibri" pitchFamily="34" charset="-122"/>
                <a:cs typeface="Calibri" pitchFamily="34" charset="-120"/>
              </a:rPr>
              <a:t>Systems, information</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Leadership Avoidance  </a:t>
            </a:r>
            <a:pPr indent="0" marL="0">
              <a:buNone/>
            </a:pPr>
            <a:r>
              <a:rPr lang="en-US" sz="2400" dirty="0">
                <a:solidFill>
                  <a:srgbClr val="1F2A22"/>
                </a:solidFill>
                <a:latin typeface="Calibri" pitchFamily="34" charset="0"/>
                <a:ea typeface="Calibri" pitchFamily="34" charset="-122"/>
                <a:cs typeface="Calibri" pitchFamily="34" charset="-120"/>
              </a:rPr>
              <a:t>Unresolved decisions, trade-offs</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Select the Strategic Unclogging Lever</a:t>
            </a:r>
            <a:endParaRPr lang="en-US" sz="3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2"/>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01 · Standardise  </a:t>
            </a:r>
            <a:pPr indent="0" marL="0">
              <a:buNone/>
            </a:pPr>
            <a:r>
              <a:rPr lang="en-US" sz="2400" dirty="0">
                <a:solidFill>
                  <a:srgbClr val="1F2A22"/>
                </a:solidFill>
                <a:latin typeface="Calibri" pitchFamily="34" charset="0"/>
                <a:ea typeface="Calibri" pitchFamily="34" charset="-122"/>
                <a:cs typeface="Calibri" pitchFamily="34" charset="-120"/>
              </a:rPr>
              <a:t>ensure consistency</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3"/>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02 · Streamline  </a:t>
            </a:r>
            <a:pPr indent="0" marL="0">
              <a:buNone/>
            </a:pPr>
            <a:r>
              <a:rPr lang="en-US" sz="2400" dirty="0">
                <a:solidFill>
                  <a:srgbClr val="1F2A22"/>
                </a:solidFill>
                <a:latin typeface="Calibri" pitchFamily="34" charset="0"/>
                <a:ea typeface="Calibri" pitchFamily="34" charset="-122"/>
                <a:cs typeface="Calibri" pitchFamily="34" charset="-120"/>
              </a:rPr>
              <a:t>increase speed</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4"/>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03 · Clarify  </a:t>
            </a:r>
            <a:pPr indent="0" marL="0">
              <a:buNone/>
            </a:pPr>
            <a:r>
              <a:rPr lang="en-US" sz="2400" dirty="0">
                <a:solidFill>
                  <a:srgbClr val="1F2A22"/>
                </a:solidFill>
                <a:latin typeface="Calibri" pitchFamily="34" charset="0"/>
                <a:ea typeface="Calibri" pitchFamily="34" charset="-122"/>
                <a:cs typeface="Calibri" pitchFamily="34" charset="-120"/>
              </a:rPr>
              <a:t>eliminate confusion</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5"/>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04 · Upgrade  </a:t>
            </a:r>
            <a:pPr indent="0" marL="0">
              <a:buNone/>
            </a:pPr>
            <a:r>
              <a:rPr lang="en-US" sz="2400" dirty="0">
                <a:solidFill>
                  <a:srgbClr val="1F2A22"/>
                </a:solidFill>
                <a:latin typeface="Calibri" pitchFamily="34" charset="0"/>
                <a:ea typeface="Calibri" pitchFamily="34" charset="-122"/>
                <a:cs typeface="Calibri" pitchFamily="34" charset="-120"/>
              </a:rPr>
              <a:t>remove bottlenecks</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p/>
        </p:txBody>
      </p:sp>
      <p:pic>
        <p:nvPicPr>
          <p:cNvPr id="16" name="Image 4" descr="preencoded.png">    </p:cNvPr>
          <p:cNvPicPr>
            <a:picLocks noChangeAspect="1"/>
          </p:cNvPicPr>
          <p:nvPr/>
        </p:nvPicPr>
        <p:blipFill>
          <a:blip r:embed="rId6"/>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05 · Reinforce  </a:t>
            </a:r>
            <a:pPr indent="0" marL="0">
              <a:buNone/>
            </a:pPr>
            <a:r>
              <a:rPr lang="en-US" sz="2400" dirty="0">
                <a:solidFill>
                  <a:srgbClr val="1F2A22"/>
                </a:solidFill>
                <a:latin typeface="Calibri" pitchFamily="34" charset="0"/>
                <a:ea typeface="Calibri" pitchFamily="34" charset="-122"/>
                <a:cs typeface="Calibri" pitchFamily="34" charset="-120"/>
              </a:rPr>
              <a:t>strengthen behaviour</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p/>
        </p:txBody>
      </p:sp>
      <p:pic>
        <p:nvPicPr>
          <p:cNvPr id="19" name="Image 5" descr="preencoded.png">    </p:cNvPr>
          <p:cNvPicPr>
            <a:picLocks noChangeAspect="1"/>
          </p:cNvPicPr>
          <p:nvPr/>
        </p:nvPicPr>
        <p:blipFill>
          <a:blip r:embed="rId7"/>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06 · Realign  </a:t>
            </a:r>
            <a:pPr indent="0" marL="0">
              <a:buNone/>
            </a:pPr>
            <a:r>
              <a:rPr lang="en-US" sz="2400" dirty="0">
                <a:solidFill>
                  <a:srgbClr val="1F2A22"/>
                </a:solidFill>
                <a:latin typeface="Calibri" pitchFamily="34" charset="0"/>
                <a:ea typeface="Calibri" pitchFamily="34" charset="-122"/>
                <a:cs typeface="Calibri" pitchFamily="34" charset="-120"/>
              </a:rPr>
              <a:t>focus on results</a:t>
            </a:r>
            <a:endParaRPr lang="en-US" sz="2400" dirty="0"/>
          </a:p>
        </p:txBody>
      </p:sp>
      <p:sp>
        <p:nvSpPr>
          <p:cNvPr id="21" name="Shape 13"/>
          <p:cNvSpPr/>
          <p:nvPr/>
        </p:nvSpPr>
        <p:spPr>
          <a:xfrm>
            <a:off x="548640" y="5806767"/>
            <a:ext cx="489204" cy="489204"/>
          </a:xfrm>
          <a:prstGeom prst="ellipse">
            <a:avLst/>
          </a:prstGeom>
          <a:solidFill>
            <a:srgbClr val="C6A24C"/>
          </a:solidFill>
          <a:ln w="12700">
            <a:solidFill>
              <a:srgbClr val="C6A24C"/>
            </a:solidFill>
            <a:prstDash val="solid"/>
          </a:ln>
        </p:spPr>
        <p:txBody>
          <a:bodyPr/>
          <a:p/>
        </p:txBody>
      </p:sp>
      <p:pic>
        <p:nvPicPr>
          <p:cNvPr id="22" name="Image 6" descr="preencoded.png">    </p:cNvPr>
          <p:cNvPicPr>
            <a:picLocks noChangeAspect="1"/>
          </p:cNvPicPr>
          <p:nvPr/>
        </p:nvPicPr>
        <p:blipFill>
          <a:blip r:embed="rId8"/>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07 · Rebuild Trust  </a:t>
            </a:r>
            <a:pPr indent="0" marL="0">
              <a:buNone/>
            </a:pPr>
            <a:r>
              <a:rPr lang="en-US" sz="2400" dirty="0">
                <a:solidFill>
                  <a:srgbClr val="1F2A22"/>
                </a:solidFill>
                <a:latin typeface="Calibri" pitchFamily="34" charset="0"/>
                <a:ea typeface="Calibri" pitchFamily="34" charset="-122"/>
                <a:cs typeface="Calibri" pitchFamily="34" charset="-120"/>
              </a:rPr>
              <a:t>restore credibility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5.4 · Simulate the Unclogging Cycle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REVIEW  </a:t>
            </a:r>
            <a:pPr indent="0" marL="0">
              <a:buNone/>
            </a:pPr>
            <a:r>
              <a:rPr lang="en-US" sz="2600" dirty="0">
                <a:solidFill>
                  <a:srgbClr val="1F2A22"/>
                </a:solidFill>
                <a:latin typeface="Calibri" pitchFamily="34" charset="0"/>
                <a:ea typeface="Calibri" pitchFamily="34" charset="-122"/>
                <a:cs typeface="Calibri" pitchFamily="34" charset="-120"/>
              </a:rPr>
              <a:t>test the diagnosis against the evidence</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REALIGN  </a:t>
            </a:r>
            <a:pPr indent="0" marL="0">
              <a:buNone/>
            </a:pPr>
            <a:r>
              <a:rPr lang="en-US" sz="2600" dirty="0">
                <a:solidFill>
                  <a:srgbClr val="1F2A22"/>
                </a:solidFill>
                <a:latin typeface="Calibri" pitchFamily="34" charset="0"/>
                <a:ea typeface="Calibri" pitchFamily="34" charset="-122"/>
                <a:cs typeface="Calibri" pitchFamily="34" charset="-120"/>
              </a:rPr>
              <a:t>agree what must change, and who acts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RESTORE  </a:t>
            </a:r>
            <a:pPr indent="0" marL="0">
              <a:buNone/>
            </a:pPr>
            <a:r>
              <a:rPr lang="en-US" sz="2600" dirty="0">
                <a:solidFill>
                  <a:srgbClr val="1F2A22"/>
                </a:solidFill>
                <a:latin typeface="Calibri" pitchFamily="34" charset="0"/>
                <a:ea typeface="Calibri" pitchFamily="34" charset="-122"/>
                <a:cs typeface="Calibri" pitchFamily="34" charset="-120"/>
              </a:rPr>
              <a:t>apply the lever, with owners and dates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Evidence  </a:t>
            </a:r>
            <a:pPr indent="0" marL="0">
              <a:buNone/>
            </a:pPr>
            <a:r>
              <a:rPr lang="en-US" sz="2600" dirty="0">
                <a:solidFill>
                  <a:srgbClr val="1F2A22"/>
                </a:solidFill>
                <a:latin typeface="Calibri" pitchFamily="34" charset="0"/>
                <a:ea typeface="Calibri" pitchFamily="34" charset="-122"/>
                <a:cs typeface="Calibri" pitchFamily="34" charset="-120"/>
              </a:rPr>
              <a:t>of recovery, on both sides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5.5 · Diagnostic quality check</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p/>
        </p:txBody>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01  </a:t>
            </a:r>
            <a:pPr indent="0" marL="0">
              <a:buNone/>
            </a:pPr>
            <a:r>
              <a:rPr lang="en-US" sz="2600" dirty="0">
                <a:solidFill>
                  <a:srgbClr val="1F2A22"/>
                </a:solidFill>
                <a:latin typeface="Calibri" pitchFamily="34" charset="0"/>
                <a:ea typeface="Calibri" pitchFamily="34" charset="-122"/>
                <a:cs typeface="Calibri" pitchFamily="34" charset="-120"/>
              </a:rPr>
              <a:t>Linked to a specific strategic result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p/>
        </p:txBody>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02  </a:t>
            </a:r>
            <a:pPr indent="0" marL="0">
              <a:buNone/>
            </a:pPr>
            <a:r>
              <a:rPr lang="en-US" sz="2600" dirty="0">
                <a:solidFill>
                  <a:srgbClr val="1F2A22"/>
                </a:solidFill>
                <a:latin typeface="Calibri" pitchFamily="34" charset="0"/>
                <a:ea typeface="Calibri" pitchFamily="34" charset="-122"/>
                <a:cs typeface="Calibri" pitchFamily="34" charset="-120"/>
              </a:rPr>
              <a:t>The clog names the condition behind the symptom</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p/>
        </p:txBody>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03  </a:t>
            </a:r>
            <a:pPr indent="0" marL="0">
              <a:buNone/>
            </a:pPr>
            <a:r>
              <a:rPr lang="en-US" sz="2600" dirty="0">
                <a:solidFill>
                  <a:srgbClr val="1F2A22"/>
                </a:solidFill>
                <a:latin typeface="Calibri" pitchFamily="34" charset="0"/>
                <a:ea typeface="Calibri" pitchFamily="34" charset="-122"/>
                <a:cs typeface="Calibri" pitchFamily="34" charset="-120"/>
              </a:rPr>
              <a:t>The lever fits; both sides are considered</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p/>
        </p:txBody>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04  </a:t>
            </a:r>
            <a:pPr indent="0" marL="0">
              <a:buNone/>
            </a:pPr>
            <a:r>
              <a:rPr lang="en-US" sz="2600" dirty="0">
                <a:solidFill>
                  <a:srgbClr val="1F2A22"/>
                </a:solidFill>
                <a:latin typeface="Calibri" pitchFamily="34" charset="0"/>
                <a:ea typeface="Calibri" pitchFamily="34" charset="-122"/>
                <a:cs typeface="Calibri" pitchFamily="34" charset="-120"/>
              </a:rPr>
              <a:t>Specific, owned, time-bound and evidenced</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p/>
        </p:txBody>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clog that has been present in your organisation for more than six months.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“What has it actually cost the organisation in strategic momentum? And what is the real reason it hasn’t been cleared yet?”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9 · Strategic Unclogging</dc:title>
  <dc:subject>PptxGenJS Presentation</dc:subject>
  <dc:creator>Institute of Behavioural Strategy &amp; Leadership</dc:creator>
  <cp:lastModifiedBy>Institute of Behavioural Strategy &amp; Leadership</cp:lastModifiedBy>
  <cp:revision>1</cp:revision>
  <dcterms:created xsi:type="dcterms:W3CDTF">2026-09-29T13:20:41Z</dcterms:created>
  <dcterms:modified xsi:type="dcterms:W3CDTF">2026-09-29T13:20:41Z</dcterms:modified>
</cp:coreProperties>
</file>