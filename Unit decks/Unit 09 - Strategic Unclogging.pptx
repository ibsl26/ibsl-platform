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 STRATEGIC UNCLOGGING
Module 3 · Influence · Unit 9
Unit intent (Facilitator Guide):
Unit 9 sits at a pivotal moment in the S2R® climb. By this point, the strategy is clear, performance expectations are set, and commitments have been secured. Now the gears begin grinding. This unit names that friction precisely — and gives the leadership team the engineering vocabulary and diagnostic discipline to address it.
The central reframe is powerful and must land clearly: a clog is a signal. It indicates where the organisation’s current operating system has not yet adapted to the new strategic direction. Leaders who understand this stop asking “Why are we failing?” and start asking “Where is the system not yet designed to carry the strategy?”
The Clog Clinic in Application is the centrepiece — protect the full 45 minutes. It must use real stalled KPIs. The quality of the diagnostic conversation is the measure of this unit.
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Recognise systemic conditions that constrain strategic execution and organisational progress.
2. Distinguish visible performance symptoms from their underlying organisational causes.
3. Evaluate the interdependent enterprise conditions that contribute to stalled or declining performance.
4. Determine the organisational response required to restore strategic coherence and performance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Clog Clinic (45 minutes: 5 minutes silent prep, 30 minutes triads, 10 minutes Alignment Brigade Challenge). Awareness and Intelligence can move at pace; Extrapolating benefits from brief functional discussion.
Key Facilitation Questions
“Think of a strategy that stalled in your organisation. Was the plan wrong — or was something in the system blocking its flow?”
“When you last named a performance gap, did you name the symptom or the root cause? What’s the difference in your context?”
“Which of the seven clogs is most predictable in your organisation given your current strategic direction? What does that tell you about where to look first?”
“If Cultural Resistance is your diagnosis — is that genuinely a culture problem, or is it a Leadership Avoidance problem that has produced cultural symptoms?”
“You’ve selected a lever. What would have to be true for that lever to actually clear the clog?”
Tone &amp; Watch Points
Watch for: the relief response. When leaders first encounter the clog map, they often feel relieved — they recognise their organisations immediately. The facilitation risk is that the conversation stays at the level of recognition and stalls before diagnosis and intervention. Push past identification: “Recognising it is the start. Now name it precisely and select the lever.”
Watch for: Cultural Resistance overuse. It is the most comfortable diagnosis because it externalises the problem. Challenge it every time: “Is this a culture issue, or is it the downstream consequence of Leadership Avoidance?”
Watch for: lever vagueness. “We need to improve communication” is too vague to act on. A lever is a structural adjustment — a redesigned decision right, a reset KPI, a rebuilt process, a named accountability. Push every group until their intervention is concrete enough to own.
Timing: Awareness and Intelligence can move at pace. Extrapolating benefits from brief functional discussion. Reserve the full 45 minutes for the Clog Clinic — it should not be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 Strategic Clog?
Naming the internal blockages that prevent strategic intent from flowing into execution — and introducing the 7-clog diagnostic map aligned to ABCV Directional Integrity.
Section learning outcomes:
1. Recognise the systemic blockages that widen the gap between strategic intent and execution.
2. Identify the observable symptoms of friction in execution.
FACILITATOR GUIDANCE — Awareness
Open with the scenario: strategy is clear, objectives are defined, performance expectations are in motion — and then the gears begin grinding. The three friction signals (Decision Paralysis, Kinetic Misalignment, Output-Outcome Gap) are the entry point. Invite leaders to identify which of the three they are most frequently experiencing.
The key conceptual shift is from “failure of strategy” to “failure of flow.” Clogs are evidence that the system carrying the plan has not yet adapted. This reframe is essential before moving to the 7-clog map.
Work through the clog map deliberately. Do not rush. Each clog has a distinct observable pattern, a distinct ABCV element it distorts, and a distinct strategic consequence. Encourage leaders to identify which clogs are currently present in their organisation before moving to Intelligence.
Time: the facilitator file gives no minute timing for this section (see the Timing watch point in the Session Overview).</a:t>
            </a:r>
            <a:endParaRPr lang="en-US" dirty="0"/>
          </a:p>
          <a:p/>
          <a:p>
            <a:r>
              <a:t>Source detail (S2R® manuscript):</a:t>
            </a:r>
          </a:p>
          <a:p/>
          <a:p>
            <a:r>
              <a:t>Facilitator script (closing lines): The friction may well be a failure of flow while the strategy itself holds. When the “what” and the “why” are settled and the “how” remains erratic, the leadership team is facing an organisational blockage.</a:t>
            </a:r>
          </a:p>
          <a:p/>
          <a:p>
            <a:r>
              <a:t>Professional insights:</a:t>
            </a:r>
          </a:p>
          <a:p/>
          <a:p>
            <a:r>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A STRATEGIC CLOG? (Core concept)
Content:
At this point, the strategy is clear. Objectives are defined. Performance expectations are in motion. Then the gears begin grinding.
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
Strategy sets the destination. Flow determines whether you have the power to arrive.
To navigate this phase of the execution climb, leadership must evolve. Designing a brilliant strategy is only the start. The role of the leadership team is to become Engineers of Execution Flow — developing the diagnostic eyes to detect clogs early, before they compound into stalled momentum or declining performance.
Every clog interferes with one or more elements of ABCV Directional Integrity:
Arena — clarity of the problem space and customer end-game
Boundaries — structural, operational, and regulatory constraints
Competition — how the organisation defines alternatives and threats
Value Proposition — how the organisation creates distinct value
When execution is clogged, strategy loses directional integrity — gradually and silently.
System Logic: A clog acts like a pressure distortion point in the system. It redirects effort away from intended outcomes, weakens coherence across functions, and creates misinterpretation of strategic intent.
Participant file (1.1 — What is a Strategic Clog?) — prompts participants complete:
- ✎ Reflection — Strategic Clog in Your Organisation — Think of a strategy initiative that stalled in your organisation. Was the plan wrong — or was something in the system blocking its flow? What was the blockage? Could it have been named earlier?</a:t>
            </a:r>
            <a:endParaRPr lang="en-US" dirty="0"/>
          </a:p>
          <a:p/>
          <a:p>
            <a:r>
              <a:t>Source detail (S2R® manuscript):</a:t>
            </a:r>
          </a:p>
          <a:p/>
          <a:p>
            <a:r>
              <a:t>Scale of a clog: Clogs go well beyond minor inconveniences or “growing pains”.</a:t>
            </a:r>
          </a:p>
          <a:p>
            <a:r>
              <a:t>Why detection takes diagnostic “eyes”: When execution is clogged, strategy does not fail visibly.</a:t>
            </a:r>
          </a:p>
          <a:p/>
          <a:p>
            <a:r>
              <a:t>Professional insights:</a:t>
            </a:r>
          </a:p>
          <a:p/>
          <a:p>
            <a:r>
              <a:t>Looking at the source: Organisations that look away from what went wrong delay the examination until the cost is higher. Look directly at what is causing the damage and stop managing the distance from it.</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THREE OBSERVABLE FRICTION SIGNALS (How clogs first appear)
Facilitator Prompt
Ask the group: “Which of these three signals is most visible in your organisation right now? Raise your hand for the one you recognise most immediately.” Use the show of hands to calibrate which clog category to explore first in the map below.
Content:
Despite the clarity of the plan, the reality of the work will periodically be characterised by friction. Three patterns signal that a clog is forming.
⏱
Decision Paralysis
Choices that should be instinctive begin taking longer than expected, creating a bottleneck at the top. Leaders hesitate where they should act.
⇄
Kinetic Misalignment
Teams move with intensity but pull in different directions, cancelling each other’s efforts. Energy is high; progress is not.
📊
Output–Outcome Gap
Tasks are completed and boxes are checked, but the needle on actual strategic goals isn’t moving. Activity is high; advancement is not.</a:t>
            </a:r>
            <a:endParaRPr lang="en-US" dirty="0"/>
          </a:p>
          <a:p/>
          <a:p>
            <a:r>
              <a:t>Professional insights:</a:t>
            </a:r>
          </a:p>
          <a:p/>
          <a:p>
            <a:r>
              <a:t>Decision Paralysis: Prolonged indecision is itself a decision, usually the worst one, because it commits resources to neither path while the cost of waiting compounds. At the decisive moment, force the choice into the open.</a:t>
            </a:r>
          </a:p>
          <a:p>
            <a:r>
              <a:t>Source: Journal, 14 June 2026 — Professional Insights: Leadership</a:t>
            </a:r>
          </a:p>
          <a:p/>
          <a:p>
            <a:r>
              <a:t>Kinetic Misalignment: When the priority is wrong, maximum effort produces minimum return: the activity is genuine, the energy is real and the output stays below what the input should produce. Fix the priority before improving the effort.</a:t>
            </a:r>
          </a:p>
          <a:p>
            <a:r>
              <a:t>Source: Journal, 11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7-CLOG DIAGNOSTIC MAP (ABCV-aligned · Select each clog to explore)
Diagnostic Principle
Ask: “Which ABCV element is being distorted — and by which clog?”
If multiple signals point to Boundaries → structural or decision system issue
If multiple signals point to Arena → capability or strategic participation issue
If multiple signals point to Value Proposition → behavioural or measurement misalignment
If multiple signals point to Competition → speed, responsiveness, or system capability gap
Content:
Each clog category represents a distinct type of system misalignment. Select each to examine the structural reality, observable patterns, early warning signals, and strategic impact.
Clog 01
Structural Misfit
Boundaries
Structural Reality
Organisational design (roles, reporting lines, decision rights, governance layers) is misaligned to the current strategy. Structure reflects legacy priorities.
Observable Patterns
Bottlenecks at functional handoffs; duplication of work; fragmented ownership of outcomes; breakdown between front-office and back-office; conflicting priorities across functions.
Early Warnings: Increasing coordination time; rising dependency on informal workarounds; escalation frequency increases; unclear ownership of outcomes.
Strategic Impact: The organisation operates within the wrong structural logic. Execution becomes disjointed, coordination costs increase, and strategy cannot move coherently across the enterprise system.
Clog 02
Capability Gaps
Arena
Structural Reality
Critical capabilities (skills, systems, tools, capacity, partnerships) required to deliver the strategy are absent, underdeveloped, or unevenly distributed.
Observable Patterns
Projects stall or slow; over-reliance on key individuals; inconsistent delivery quality; repeated outsourcing of core capabilities; inability to scale execution.
Early Warnings: Missed milestones; uneven performance across similar initiatives; burnout of key talent; increasing rework.
Strategic Impact: The organisation cannot fully operate within its chosen strategic space. The defined arena becomes theoretical — execution lacks the capability backbone required to compete and deliver.
Clog 03
Decision Bottlenecks
Boundaries
Structural Reality
Decision rights are unclear, overly centralised, or embedded in outdated hierarchical processes. Authority is not aligned to execution proximity.
Observable Patterns
Slow approvals; repeated escalation loops; “waiting culture”; overloaded senior leadership; avoidance of decision ownership at middle levels.
Early Warnings: Decision cycle times increase; growing backlog of unresolved issues; repeated agenda items in meetings; teams hesitate to act without approval.
Strategic Impact: Decision flow is constrained, weakening execution rhythm. The organisation loses responsiveness and cannot adapt at the speed required by the strategy or environment.
Clog 04
Misaligned Metrics &amp; Incentives
Value Proposition
Structural Reality
KPIs, scorecards, and reward systems reinforce behaviours that conflict with strategic intent. Legacy metrics remain active post-strategy shift.
Observable Patterns
Functional optimisation over enterprise outcomes; gaming of metrics; resistance to collaboration; short-term delivery at the expense of long-term value.
Early Warnings: High KPI achievement with weak strategic progress; conflicting performance narratives across functions; misalignment between reported success and actual outcomes.
Strategic Impact: Effort is redirected toward what is measured, whether or not it creates value. The organisation produces activity and output without differentiated strategic outcomes.
Clog 05
Cultural Resistance
Value Proposition
Structural Reality
Deeply embedded beliefs, norms, and habits contradict the behavioural shifts required by the strategy. Informal culture overrides formal direction.
Observable Patterns
Reversion to legacy behaviours under pressure; passive resistance; low initiative; compliance without commitment; scepticism toward change.
Early Warnings: Low engagement in strategic initiatives; limited experimentation; silence or avoidance in critical conversations; informal narratives contradicting strategy.
Strategic Impact: The organisation cannot consistently deliver its intended value because behaviour does not align with strategic intent. Cultural inertia preserves the past, weakening transformation capability.
Clog 06
Technology / Infrastructure Lag
Competition
Structural Reality
Legacy systems, fragmented platforms, and poorly integrated infrastructure cannot support execution demands. Data architecture is incomplete or delayed.
Observable Patterns
Manual workarounds; spreadsheet dependency; delayed reporting; poor data visibility; system integration failures; limited automation.
Early Warnings: Data inconsistencies; long reporting cycles; operational errors increase at scale; inability to track real-time performance.
Strategic Impact: The organisation loses execution speed and intelligence. It cannot respond, scale, or compete effectively against more technologically enabled alternatives.
Clog 07
Leadership Avoidance
Arena + Boundaries
Structural Reality
Leaders avoid confronting trade-offs, underperformance, structural misalignment, or difficult decisions required for strategy execution.
Observable Patterns
Persistent unresolved issues; repeated discussions without closure; weak accountability; shifting priorities; lack of enforcement of decisions.
Early Warnings: Recurring strategic issues across multiple cycles; low trust in leadership decisions; ambiguity in direction; declining ownership across teams.
Strategic Impact: Strategic clarity erodes as unresolved tensions accumulate. The organisation drifts between priorities, weakening both strategic focus (Arena) and execution discipline (Boundaries).
Participant file (1.3 — The 7-Clog Diagnostic Map) — prompts participants complete:
- ✎ Your Self-Assessment — Which Clogs Are Active? Rate each clog in your current strategy portfolio (1 = absent, 5 = active). Structural Misfit Capability Gaps Decision Bottlenecks Misaligned Metrics Cultural Resistance Tech/Infrastructure Lag Leadership Avoidance The clog I will bring to the Clog Clinic</a:t>
            </a:r>
            <a:endParaRPr lang="en-US" dirty="0"/>
          </a:p>
          <a:p/>
          <a:p>
            <a:r>
              <a:t>Source detail (S2R® manuscript):</a:t>
            </a:r>
          </a:p>
          <a:p/>
          <a:p>
            <a:r>
              <a:t>The map in full: Strategic Clog Map, Deep Diagnostic Layer (ABCV-aligned). Its columns are: Root Cause; What It Looks Like (Structural Reality); How It Shows Up (Observable Patterns); Signal Indicators (Early Warnings); ABCV Element Distorted; Strategic Impact (System Consequence).</a:t>
            </a:r>
          </a:p>
          <a:p/>
          <a:p>
            <a:r>
              <a:t>How to use the map, in three moves:</a:t>
            </a:r>
          </a:p>
          <a:p>
            <a:r>
              <a:t>1. Diagnose at the level of distortion. Replace the question “What is going wrong?” with the question in the Diagnostic Principle above.</a:t>
            </a:r>
          </a:p>
          <a:p>
            <a:r>
              <a:t>2. Look for pattern clustering. Read where multiple signals point, as set out in the Diagnostic Principle above.</a:t>
            </a:r>
          </a:p>
          <a:p>
            <a:r>
              <a:t>3. Anchor the intervention correctly. Each clog requires targeted intervention; general pressure will not clear it.</a:t>
            </a:r>
          </a:p>
          <a:p/>
          <a:p>
            <a:r>
              <a:t>Closing point for the map: Strategic clogs are points where direction and execution lose alignment. The role of leadership is to identify where the distortion is occurring and restore the system so that strategy can flow as intended.</a:t>
            </a:r>
          </a:p>
          <a:p/>
          <a:p>
            <a:r>
              <a:t>Professional insights:</a:t>
            </a:r>
          </a:p>
          <a:p/>
          <a:p>
            <a:r>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t>Source: Journal, 29 April 2026 — Professional Insights: Culture</a:t>
            </a:r>
          </a:p>
          <a:p/>
          <a:p>
            <a:r>
              <a:t>03 · Decision Bottlenecks: The single leader who handles everything because no one else is appointed to handle anything is one of the most common and costly organisational design failures. Structure the work so each matter is handled at the appropriate level.</a:t>
            </a:r>
          </a:p>
          <a:p>
            <a:r>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Explain why execution friction is a predictable consequence of strategy stretching the operating system.
2. Recognise the leadership disciplines that detect and resolve friction early.
FACILITATOR GUIDANCE — Intelligence
The ignition point of this section is the mindset shift: from “Why is the strategy failing?” to “Where is the system not yet designed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a:p/>
          <a:p>
            <a:r>
              <a:t>Source detail (S2R® manuscript):</a:t>
            </a:r>
          </a:p>
          <a:p/>
          <a:p>
            <a:r>
              <a:t>Purpose of the unit: In complex systems, some level of friction is unavoidable, so eliminating clogs entirely is outside the purpose of this unit. The objective is to ensure that clogs are identified early, understood correctly, and addressed deliberately.</a:t>
            </a:r>
          </a:p>
          <a:p>
            <a:r>
              <a:t>At that moment, the leadership team transitions from reacting to stalled initiatives to actively engineering the flow of execution. That shift marks the ignition point of execution mastery.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a:p/>
          <a:p>
            <a:r>
              <a:t>Source detail (S2R® manuscript):</a:t>
            </a:r>
          </a:p>
          <a:p/>
          <a:p>
            <a:r>
              <a:t>Today’s operating system in full. That system includes:</a:t>
            </a:r>
          </a:p>
          <a:p>
            <a:r>
              <a:t>- organisational structure</a:t>
            </a:r>
          </a:p>
          <a:p>
            <a:r>
              <a:t>- decision rights and governance pathways</a:t>
            </a:r>
          </a:p>
          <a:p>
            <a:r>
              <a:t>- cultural norms and behavioural expectations</a:t>
            </a:r>
          </a:p>
          <a:p>
            <a:r>
              <a:t>- performance metrics and incentives</a:t>
            </a:r>
          </a:p>
          <a:p>
            <a:r>
              <a:t>- capabilities, skills, and leadership capacity</a:t>
            </a:r>
          </a:p>
          <a:p>
            <a:r>
              <a:t>- technology platforms and operational infrastructure</a:t>
            </a:r>
          </a:p>
          <a:p/>
          <a:p>
            <a:r>
              <a:t>Clogs emerge at organisational pressure points. The four examples in full:</a:t>
            </a:r>
          </a:p>
          <a:p>
            <a:r>
              <a:t>- A strategy requiring rapid cross-functional coordination will expose structural misfits in reporting lines and governance processes.</a:t>
            </a:r>
          </a:p>
          <a:p>
            <a:r>
              <a:t>- A strategy dependent on data-driven decision-making will reveal capability gaps in analytical skills and technology platforms.</a:t>
            </a:r>
          </a:p>
          <a:p>
            <a:r>
              <a:t>- A strategy requiring decentralised execution will expose decision bottlenecks embedded in hierarchical approval structures.</a:t>
            </a:r>
          </a:p>
          <a:p>
            <a:r>
              <a:t>- A strategy dependent on collaboration will surface cultural resistance where incentives reward individual performance.</a:t>
            </a:r>
          </a:p>
          <a:p/>
          <a:p>
            <a:r>
              <a:t>The mindset: Experienced leadership teams recognise that execution friction is a normal consequence of strategic change. Moving from the question “Why is the strategy failing?” to the question on the slide reframes execution from reactive troubleshooting to proactive execution architecture.</a:t>
            </a:r>
          </a:p>
          <a:p>
            <a:r>
              <a:t>The CXO role: Within the DIG framework, the CXO plays a critical role in managing execution flow. Their responsibility is to detect and manage clogs before they compound into systemic execution failures.</a:t>
            </a:r>
          </a:p>
          <a:p/>
          <a:p>
            <a:r>
              <a:t>Professional insights:</a:t>
            </a:r>
          </a:p>
          <a:p/>
          <a:p>
            <a:r>
              <a:t>Resistance is predictable: The first response to significant change is almost always resistance and escalation, and intensifying friction can be evidence that the direction is right. Plan for the first phase of resistance before launching the change.</a:t>
            </a:r>
          </a:p>
          <a:p>
            <a:r>
              <a:t>Source: Journal, 5 February 2026 — Professional Insights: Strategy</a:t>
            </a:r>
          </a:p>
          <a:p/>
          <a:p>
            <a:r>
              <a:t>A structural problem: Leaders caught between what they know is right and what their environment allows must address the environment as well as the decision. The problem is structural.</a:t>
            </a:r>
          </a:p>
          <a:p>
            <a:r>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a:p/>
          <a:p>
            <a:r>
              <a:t>Source detail (S2R® manuscript):</a:t>
            </a:r>
          </a:p>
          <a:p/>
          <a:p>
            <a:r>
              <a:t>From diagnosis to intervention: Once a clog is identified, the leadership task shifts from diagnosis to intervention. The deliberate adjustment is to the organisation’s “plumbing”: the structural, behavioural, and operational settings that dictate how work actually gets done.</a:t>
            </a:r>
          </a:p>
          <a:p>
            <a:r>
              <a:t>What mastery of the rhythm gives: When leaders master this, execution stops being a stressful, reactive struggle. It becomes a resilient, continuous process of adjustment, allowing them to execute consistently and at scale.</a:t>
            </a:r>
          </a:p>
          <a:p/>
          <a:p>
            <a:r>
              <a:t>Professional insights:</a:t>
            </a:r>
          </a:p>
          <a:p/>
          <a:p>
            <a:r>
              <a:t>Early Identification: Confident diagnosis from incomplete data is a common failure. Distinguish present difficulty from final outcome.</a:t>
            </a:r>
          </a:p>
          <a:p>
            <a:r>
              <a:t>Source: Journal, 21 August 2026 — Professional Insights: Strategy</a:t>
            </a:r>
          </a:p>
          <a:p/>
          <a:p>
            <a:r>
              <a:t>Accurate Classification: Misdiagnosis leads to wrong action. Challenge the assumptions behind a diagnosis before choosing the intervention.</a:t>
            </a:r>
          </a:p>
          <a:p>
            <a:r>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a:p/>
          <a:p>
            <a:r>
              <a:t>Source detail (S2R® manuscript):</a:t>
            </a:r>
          </a:p>
          <a:p/>
          <a:p>
            <a:r>
              <a:t>Role of the levers: The levers are not meant to replace the organisational strategy. Friction can come from anywhere: outdated tech, confusing reporting lines, or a lack of trust. Together, the levers allow a leadership team to stop fighting the system and start fine-tuning it.</a:t>
            </a:r>
          </a:p>
          <a:p>
            <a:r>
              <a:t>How each lever entry reads: Strategic Role; What It Enables; Why This Lever Works.</a:t>
            </a:r>
          </a:p>
          <a:p>
            <a:r>
              <a:t>02 · Streamline (why it works): This lever is about removing bureaucratic weight.</a:t>
            </a:r>
          </a:p>
          <a:p>
            <a:r>
              <a:t>05 · Reinforce (in the Capability Gap example): the team’s skills are reinforced through training.</a:t>
            </a:r>
          </a:p>
          <a:p/>
          <a:p>
            <a:r>
              <a:t>Professional insights:</a:t>
            </a:r>
          </a:p>
          <a:p/>
          <a:p>
            <a:r>
              <a:t>02 · Streamline: Drift sets in when accumulated processes, activities and traditions become more important than the value they were meant to serve. Protect the core from the additions that obscure it.</a:t>
            </a:r>
          </a:p>
          <a:p>
            <a:r>
              <a:t>Source: Journal, 25 September 2026 — Professional Insights: Strategy</a:t>
            </a:r>
          </a:p>
          <a:p/>
          <a:p>
            <a:r>
              <a:t>04 · Upgrade: Leaders who remain at the centre of every decision create dependency, slow decision-making and limited growth in others. Place responsibility close to the people who hold the knowledge and authority to carry it.</a:t>
            </a:r>
          </a:p>
          <a:p>
            <a:r>
              <a:t>Source: Journal, 10 July 2026 — Professional Insights: Leadership</a:t>
            </a:r>
          </a:p>
          <a:p/>
          <a:p>
            <a:r>
              <a:t>Mechanisms for action: Organisations often stay frustrated because they announce priorities without creating the mechanisms through which people can act on them. A practical mechanism converts intention into measurable progress.</a:t>
            </a:r>
          </a:p>
          <a:p>
            <a:r>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Highest-Flammability Clog Zones?
Using COMPASS as the primary diagnostic instrument to locate where execution friction is accumulating — and applying the 4-step Strategic Unclogging activation process.
Section learning outcomes:
1. Evaluate where interdependent conditions are causing friction to accumulate across the enterprise.
2. Distinguish visible symptoms from their underlying organisational causes.
FACILITATOR GUIDANCE — Extrapolating
Open with the key shift: from generic problem-solving to precise system intervention. COMPASS gives the leadership team a shared coordinate system for locating where clogs are forming, pinpointing the domain in the execution architecture where friction is accumulating.
The interpretation guidance is critical: a capability gap located in People &amp; Capability is a skills issue; the same gap located in Systems &amp; Execution may be an operating model issue. The combination of clog + zone provides precision that clog category alone does not. Walk through two or three examples before the 4-step activation.
For the 4-step activation: this is the procedural backbone that connects directly to the Excel Unclogging Tool participants have. Walk it as a live demonstration with one stalled KPI from the group before moving to Application.
Time: the facilitator file gives no minute timing for this section (see the Timing watch point in the Session Overview).</a:t>
            </a:r>
            <a:endParaRPr lang="en-US" dirty="0"/>
          </a:p>
          <a:p/>
          <a:p>
            <a:r>
              <a:t>Source detail (S2R® manuscript):</a:t>
            </a:r>
          </a:p>
          <a:p/>
          <a:p>
            <a:r>
              <a:t>When the tool is used: When a Key Result/KPI is at risk of not being achieved, the leader can use the Strategic Unclogging Tool to diagnose the underlying execution blockage and identify where within the organisation the friction is occurring. This allows the leader to determine the specific clog category affecting progress and pinpoint the organisational dimension, enabling targeted intervention to restore execution flow.</a:t>
            </a:r>
          </a:p>
          <a:p>
            <a:r>
              <a:t>What the tool is: The Strategic Unclogging Tool functions as a baseline diagnostic instrument designed to help leadership teams identify early execution risks before they escalate into systemic blockages. It gathers structured signals that indicate where execution friction may be developing.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7 COMPASS HIGH-FLAMMABILITY ZONES (Select each zone to explore)
Content:
Each clog will surface within one or more of the following COMPASS zones. By locating clogs within COMPASS, leaders move from reactive problem-solving to precise system intervention.
C
Clarity of Direction
Signals confusion, drift, or competing priorities in the strategic direction. When this zone heats up, people are unclear what the strategy actually requires of them day-to-day.
Warning signals: Strategy described differently by each leader; too many unranked priorities; teams treat strategy as an annual event not daily guidance; people wait for clarity before acting.
Most common clogs: Decision Bottlenecks, Leadership Avoidance, Cultural Resistance.
O
Organisational Alignment
Signals fragmentation across functions. When this zone heats up, different parts of the organisation are executing to different priorities or conflicting incentives.
Warning signals: KPIs conflict across functions; incentives reward wrong behaviours; silos resist shared outcomes; customer issues bounce between teams unresolved.
Most common clogs: Structural Misfit, Misaligned Metrics &amp; Incentives, Cultural Resistance.
M
Management Discipline
Signals weak follow-through and accountability. When this zone heats up, governance is producing reports with no decisions, and performance gaps are tolerated and left uncorrected.
Warning signals: No clear review cadence; decision rights unclear; leaders tolerate repeated misses; accountability conversations avoided; teams hide problems.
Most common clogs: Decision Bottlenecks, Leadership Avoidance, Cultural Resistance.
P
People &amp; Capability
Signals execution strain or capacity gaps. When this zone heats up, the strategy is demanding capabilities the organisation has not yet built or deployed.
Warning signals: Strategy requires skills not available; over-reliance on consultants without internal transfer; people fear speaking up; performance standards vary across teams.
Most common clogs: Capability Gaps, Leadership Avoidance, Cultural Resistance.
A
Allocation of Resources
Signals misalignment between stated priorities and actual investment decisions. When this zone heats up, money and people are flowing to the wrong places relative to the strategy.
Warning signals: Budget follows history not priorities; too many projects funded simultaneously; leaders commit to outcomes without resourcing; teams compete defensively for resources.
Most common clogs: Structural Misfit, Leadership Avoidance, Cultural Resistance.
S1
Systems &amp; Execution
Signals operational or structural friction slowing execution throughput. When this zone heats up, the machinery of delivery is creating drag on flow.
Warning signals: Operating model doesn’t support strategic priorities; critical work delayed by approvals; tools slow delivery; leaders don’t remove blockers; firefighting feels normal.
Most common clogs: Structural Misfit, Technology / Infrastructure Lag, Leadership Avoidance.
S2
Sensing &amp; Adaptation
Signals missed or ignored internal and external feedback. When this zone heats up, the organisation is operating on stale information and has lost its ability to adapt in real time.
Warning signals: Customer churn visible but ignored; competitor moves tracked late; leaders defend outdated forecasts; people hide bad news; teams stick to plans when reality has shifted.
Most common clogs: Capability Gaps, Leadership Avoidance, Cultural Resistance.</a:t>
            </a:r>
            <a:endParaRPr lang="en-US" dirty="0"/>
          </a:p>
          <a:p/>
          <a:p>
            <a:r>
              <a:t>Source detail (S2R® manuscript):</a:t>
            </a:r>
          </a:p>
          <a:p/>
          <a:p>
            <a:r>
              <a:t>Using COMPASS to locate clog zones: Leaders use the COMPASS framework as the primary diagnostic instrument to identify where execution friction is accumulating. It gathers structured signals from performance reviews and execution observations to:</a:t>
            </a:r>
          </a:p>
          <a:p>
            <a:r>
              <a:t>- identify where execution is beginning to strain,</a:t>
            </a:r>
          </a:p>
          <a:p>
            <a:r>
              <a:t>- determine the underlying clog category,</a:t>
            </a:r>
          </a:p>
          <a:p>
            <a:r>
              <a:t>- locate the COMPASS domain where friction is accumulating.</a:t>
            </a:r>
          </a:p>
          <a:p/>
          <a:p>
            <a:r>
              <a:t>Purpose of the diagnostic signals: Execution risk becomes visible when specific COMPASS zones begin to heat up.</a:t>
            </a:r>
          </a:p>
          <a:p>
            <a:r>
              <a:t>What changes: Execution moves from being managed through escalation to being managed through targeted restoration of flow within the system.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4-STEP UNCLOGGING ACTIVATION (Step through each stage)
Content:
The Strategic Unclogging activation is triggered when a KR/KPI shows signs of execution risk. The objective is precise diagnosis of the obstruction preventing flow.
Step 1
Identify Clog Category
Step 2
Locate in COMPASS
Step 3
Trigger Lever
Step 4
Rate Severity
Select the Type of Friction
Review the 7 clog categories and select the one that best describes the execution blockage:
Structural Misfit
Capability Gaps
Decision Bottlenecks
Misaligned Metrics or Incentives
Cultural Resistance
Technology / Infrastructure Lag
Leadership Avoidance
This step establishes the type of friction affecting execution. It is the most important diagnostic step — an incorrectly classified clog will attract an incorrectly selected lever.
Pinpoint Where in the System the Clog Is Forming
Identify the relevant COMPASS zone: C · O · M · P · A · S1 · S2
The combination of clog category + COMPASS zone provides diagnostic precision:
Clog Category | COMPASS Zone | Diagnosis
Capability Gap | People &amp; Capability | Skills or capacity issue — build or recruit
Decision Bottleneck | Management Discipline | Governance breakdown — clarify decision rights
Structural Misfit | Systems &amp; Execution | Operating model misalignment — redesign
Cultural Resistance | Organisational Alignment | Behavioural fragmentation — reinforce + rebuild trust
Activate the Appropriate Lever
Once the clog and COMPASS zone are identified, select the intervention lever:
Standardise — establish consistent frameworks or processes
Streamline — simplify workflows or decision pathways
Clarify — define roles, ownership, and decision rights
Upgrade — modernise systems, tools, or infrastructure
Reinforce — strengthen capability through coaching or development
Realign — adjust incentives, metrics, or priorities
Rebuild Trust — restore credibility through visible leadership action
This enables rapid movement from diagnosis to intervention. The lever must be matched to the root cause.
Prioritise the Intervention
Assess the level of execution risk to determine urgency:
Low — early signal present; limited impact on momentum. Monitor and pre-empt.
Medium — clear friction affecting progress; intervention required within 5 working days.
High — significant execution risk; immediate action required; escalate to Alignment Brigade.
Severity rating allows leadership teams to prioritise interventions across the strategy portfolio. A portfolio view of all active clogs — their categories, COMPASS zones, and severity ratings — constitutes the Enterprise Unclogging Agenda.
Guidance (Section 3): Walk the four steps as a live demonstration with one stalled KPI from the group before moving to Application.</a:t>
            </a:r>
            <a:endParaRPr lang="en-US" dirty="0"/>
          </a:p>
          <a:p/>
          <a:p>
            <a:r>
              <a:t>Source detail (S2R® manuscript):</a:t>
            </a:r>
          </a:p>
          <a:p/>
          <a:p>
            <a:r>
              <a:t>Who runs the activation: The leader responsible for the KR follows the structured process, with no escalation and no blame at this point.</a:t>
            </a:r>
          </a:p>
          <a:p>
            <a:r>
              <a:t>Step 2 (why COMPASS): This step replaces generic organisational dimensions and anchors the diagnosis in the enterprise execution architecture. Pairing clog category with COMPASS zone allows leaders to move beyond symptoms and diagnose the true source of execution friction.</a:t>
            </a:r>
          </a:p>
          <a:p>
            <a:r>
              <a:t>Interpretation guidance, further wording: A decision bottleneck located in Management Discipline signals breakdown in governance or accountability. Cultural resistance located in Organisational Alignment signals behavioural fragmentation across teams.</a:t>
            </a:r>
          </a:p>
          <a:p/>
          <a:p>
            <a:r>
              <a:t>What the anchoring gives: By anchoring the diagnostic process in COMPASS, the Strategic Unclogging Tool becomes part of a coherent execution system. Leadership teams gain the ability to:</a:t>
            </a:r>
          </a:p>
          <a:p>
            <a:r>
              <a:t>- identify the type of clog affecting execution</a:t>
            </a:r>
          </a:p>
          <a:p>
            <a:r>
              <a:t>- locate precisely where in the system it is forming</a:t>
            </a:r>
          </a:p>
          <a:p>
            <a:r>
              <a:t>- trigger targeted intervention aligned to the root cause</a:t>
            </a:r>
          </a:p>
          <a:p>
            <a:r>
              <a:t>- prioritise action based on severity and systemic risk</a:t>
            </a:r>
          </a:p>
          <a:p/>
          <a:p>
            <a:r>
              <a:t>Closing point for the section: Execution breaks in identifiable zones. The discipline of strategic unclogging is the ability to detect where the system is heating up and restore flow before performance collapses.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Clog Ownership
Building the collective discipline of normalising the unclog — where detecting and clearing execution friction becomes a shared leadership habit.
Section learning outcomes:
1. Recognise why restoring execution momentum requires collective leadership stewardship.
2. Establish a shared leadership rhythm for surfacing and resolving friction.
FACILITATOR GUIDANCE — Integration
The central shift in this zone is from my clog to our clog. Most execution blockages surface in one function but originate in another. A technology lag in IT may actually reflect a resource allocation decision in Finance. A cultural resistance in Sales may be the downstream consequence of a leadership avoidance pattern at the top. The Alignment Brigade must own the diagnostic conversation collectively.
The “see something, say something” principle is culturally important. In most organisations, surfacing a problem in someone else’s domain is politically risky. Reframe this explicitly: detecting friction early is an act of leadership stewardship.
Close this zone by having each CXO name one clog they suspect is forming outside their function — and the COMPASS zone where they believe it is accumulating. This is the seed of the Enterprise Unclogging Agenda.
Time: the facilitator file gives no minute timing for this section (see the Timing watch point in the Session Overview).</a:t>
            </a:r>
            <a:endParaRPr lang="en-US" dirty="0"/>
          </a:p>
          <a:p/>
          <a:p>
            <a:r>
              <a:t>Source detail (S2R® manuscript):</a:t>
            </a:r>
          </a:p>
          <a:p/>
          <a:p>
            <a:r>
              <a:t>Collective Intelligence of Execution: This section covers cross-leadership clog ownership and priority unclogging actions. Its theme is normalising the “unclog”: from guesswork to a shared habit. It goes beyond spotting problems to standardising how the leadership team fixes them.</a:t>
            </a:r>
          </a:p>
          <a:p/>
          <a:p>
            <a:r>
              <a:t>Professional insights:</a:t>
            </a:r>
          </a:p>
          <a:p/>
          <a:p>
            <a:r>
              <a:t>Owning inherited problems: Leaders who own only what they personally initiated leave inherited breaches to fester. Accept the full liabilities of the position: the authority to fix a problem comes with the willingness to be accountable for it.</a:t>
            </a:r>
          </a:p>
          <a:p>
            <a:r>
              <a:t>Source: Journal, 2 June 2026 — Professional Insights: Leadership</a:t>
            </a:r>
          </a:p>
          <a:p/>
          <a:p>
            <a:r>
              <a:t>Self-generated dysfunction: Organisations are more effective at dismantling inherited problems than at confronting the ones current leadership has grown comfortable with. A complete audit asks what the current leadership is leaving in place.</a:t>
            </a:r>
          </a:p>
          <a:p>
            <a:r>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NORMALISING THE UNCLOG: FROM CRISIS TO HABIT (The collective discipline)
Content:
In most organisations, when execution hits a snag, the response is messy. Leaders vent in hallways, complain about “poor execution” in silos, and fixes are applied inconsistently. It is reactive, exhausting, and typically produces a cycle of constant firefighting with little genuine improvement.
The purpose of the Integration section is to standardise how the leadership team finds and fixes blockages. By using a shared unclogging process, the entire leadership team operates with a common language and a reliable toolkit. Fixing execution friction becomes a normal part of how the organisation runs.
When “unclogging” is a standard discipline, flagging a problem is no longer seen as a failure or a critique of a colleague. It is treated as valuable data. Leaders build a culture where detecting friction early is celebrated — because it is how the organisation learns to adapt.
This gives the Alignment Brigade a clear shared path:
Is there a clog?
What category does it fall into?
Which part of the system is it affecting?
Which lever do we pull to fix it?
When leaders standardise how they find and fix blockages, they develop a genuine organisational superpower: the ability to maintain the flow of strategy. They stop letting friction build up in the corners of the organisation. The result is a team that executes strategy with discipline, transparency, and a collective “we’ve got this” attitude.
Participant file (4.1 — Normalising the Unclog: From Crisis to Habit) — prompts participants complete:
- ✎ Reflection — Clog Outside Your Function The clog I suspect is forming outside my function: Clog category COMPASS zone Signal I'm observing Why I haven't raised it yet The consequence of not raising it</a:t>
            </a:r>
            <a:endParaRPr lang="en-US" dirty="0"/>
          </a:p>
          <a:p/>
          <a:p>
            <a:r>
              <a:t>Source detail (S2R® manuscript):</a:t>
            </a:r>
          </a:p>
          <a:p/>
          <a:p>
            <a:r>
              <a:t>What the shared process changes: A shared unclogging process gives the leadership team a standardised discipline, so fixing friction stops being a panicked response to a crisis. The clear path replaces reliance on “gut feel” and informal chats.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“SEE SOMETHING, SAY SOMETHING” PRINCIPLE (Shared stewardship of execution)
Facilitator Exercise
Ask each CXO to complete the following statement silently, then share in the group:
“The clog I suspect is forming outside my function is [clog category] in the [COMPASS zone]. The signal I’m observing is [signal]. I’m not raising it because [barrier]. I should raise it because [consequence of not raising it].”
The barriers that emerge — political risk, uncertainty, not wanting to appear critical — are the cultural patterns that must be addressed before the unclogging discipline can become a genuine team habit.
Content:
Even though every KR has a specific leadership owner, blockages rarely stay in one lane. A technical delay in IT might actually be a people problem in Marketing or a process clog in Finance. Because execution is a team sport, the unclogging tool is for everyone.
If any leader sees friction forming, including outside their own area of execution, they are encouraged to surface it. This is about shared stewardship. Surfacing a blockage early is an act of leadership, ensuring that small hitches do not turn into organisation-wide delays.</a:t>
            </a:r>
            <a:endParaRPr lang="en-US" dirty="0"/>
          </a:p>
          <a:p/>
          <a:p>
            <a:r>
              <a:t>Source detail (S2R® manuscript):</a:t>
            </a:r>
          </a:p>
          <a:p/>
          <a:p>
            <a:r>
              <a:t>Seeing smoke: If any leader sees smoke, even outside “their” area of execution, they are encouraged to pull the lever. Doing so is shared stewardship, with no stepping on toes.</a:t>
            </a:r>
          </a:p>
          <a:p/>
          <a:p>
            <a:r>
              <a:t>Professional insights:</a:t>
            </a:r>
          </a:p>
          <a:p/>
          <a:p>
            <a:r>
              <a:t>Surfacing early: Naming a hidden problem specifically restores the capacity for forward movement. Build the conditions in which hidden problems can surface safely and early, before they surface at the worst possible moment.</a:t>
            </a:r>
          </a:p>
          <a:p>
            <a:r>
              <a:t>Source: Journal, 6 April 2026 — Professional Insights: Culture</a:t>
            </a:r>
          </a:p>
          <a:p/>
          <a:p>
            <a:r>
              <a:t>The arithmetic of the cover-up: Every resource spent hiding a problem compounds its eventual cost. Make it cheaper to disclose than to hide, and model disclosure yourself; the leader who covers teaches everyone below to cover too.</a:t>
            </a:r>
          </a:p>
          <a:p>
            <a:r>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ENTERPRISE UNCLOGGING AGENDA: COLLECTIVE CAPTURE (Build the shared priority list)
FACILITATOR GUIDANCE
Participants add their contributions to the Enterprise Unclogging Agenda in their own file. Consolidate them on a shared board by COMPASS zone and severity, and agree the top three items with named owners.
Facilitator Closing Note — Integration
Close by naming the shift that has occurred. The group has moved from reacting to stalled initiatives to actively engineering the flow of execution. The Enterprise Unclogging Agenda is a leadership instrument. Each item on it represents an opportunity to restore strategic momentum before performance collapse makes the intervention far more costly.
Content:
The Integration section closes with each CXO contributing to a shared Enterprise Unclogging Agenda — the collective view of where clogs are forming, their severity, and the levers required. This replaces the informal “hallway complaints” with a structured, visible, collectively owned priority list.
Participant file (4.3 — Enterprise Unclogging Agenda: Your Contribution) — prompts participants complete:
- ✎ Your Contribution to the Enterprise Unclogging Agenda KR at Risk COMPASS Zone Clog Category Recommended Lever Severity Why this must be named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The Clog Clinic
A structured 3-part exercise where participants practise moving from execution symptom to precise diagnosis to targeted intervention — using a real stalled KPI from their own organisation.
Section learning outcomes:
1. Diagnose the root cause of a stalled priority in their current portfolio.
2. Determine a targeted response with a named owner, action and completion date.
FACILITATOR GUIDANCE — The Clog Clinic
This exercise is non-negotiable and must use real data. Hypothetical clogs produce hypothetical insights. The Diagnostician must bring an actual stalled KPI — one that has been visible for more than two review cycles without resolution. The discomfort of working on a real problem in front of colleagues is precisely the point.
Watch for the symptom-to-lever skip. The most common failure is jumping from observable symptom directly to lever selection without naming the clog. A lever applied to the wrong clog will not clear it — and may make the underlying problem worse. If this happens, pause and redirect: “Wait. Before we select the lever, have we correctly classified the clog? Let’s go back to Q3.”
Watch for Cultural Resistance overuse. It is the most comfortable diagnosis because it externalises the problem. Challenge it: “Is this genuinely a culture issue — or is it a Leadership Avoidance clog that has produced cultural symptoms?”
Watch for vague levers. “We’ll improve communication” is too vague to act on. A lever is a structural change — a redesigned decision right, a reset KPI, a rebuilt process, a named accountability. Push until the action is concrete enough to be owned.
Timing: 5 minutes silent prep + 30 minutes triads (10 minutes per person) + 10 minutes Alignment Brigade Challenge. Total: 45 minutes. Do not compress the triad rounds.
Content:
◆ Strategic Unclogging Tool — Reference
Participants should have the S2R® Strategic Unclogging Tool (Excel) open during this exercise. The tool’s Diagnostic Form guides them through the same 4-step activation sequence used in this exercise: select COMPASS Zone → select Signal → auto-diagnose Clog → receive Lever recommendation → rate Severity. The Quick Reference tab provides the full signal library organised by zone.
Time: 45 minutes in total — 5 minutes silent prep + 30 minutes triads (10 minutes per person) + 10 minutes Alignment Brigade Challenge. Do not compress the triad rounds.</a:t>
            </a:r>
            <a:endParaRPr lang="en-US" dirty="0"/>
          </a:p>
          <a:p/>
          <a:p>
            <a:r>
              <a:t>Source detail (S2R® manuscript):</a:t>
            </a:r>
          </a:p>
          <a:p/>
          <a:p>
            <a:r>
              <a:t>Purpose (full wording): To practise moving from execution symptom to precise diagnosis to targeted intervention, using the Review–Realign–Restore rhythm and the Strategic Unclogging framework as the diagnostic instrument.</a:t>
            </a:r>
          </a:p>
          <a:p/>
          <a:p>
            <a:r>
              <a:t>Additional wording for the watch points:</a:t>
            </a:r>
          </a:p>
          <a:p>
            <a:r>
              <a:t>Symptom-to-lever skip, a second redirect question: “Are we sure we’ve named the blockage correctly?”</a:t>
            </a:r>
          </a:p>
          <a:p>
            <a:r>
              <a:t>Vague interventions, a second example: “We’ll have a conversation about this.”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CLOG CLINIC: EXERCISE STRUCTURE (3 parts · 45 minutes total)
FACILITATOR GUIDANCE
Give participants five minutes of silent preparation: the stalled KPI, the COMPASS zone and the observed signal. Start the triads only once every participant has prepared.
Content:
Part 1 · 5 min
Individual Prep
Part 2 · 30 min
Diagnostic Triads
Part 3 · 10 min
Brigade Challenge
Silent Individual Preparation
Each participant identifies one KPI or Key Result from their current portfolio that is:
Below target or stalled
Not yet resolved despite being visible for more than two review cycles
They complete three lines privately before the triad begins:
The Diagnostic Conversation — 10 Minutes Per Person
Participants work in triads: Diagnostician · Challenger · Observer. Roles rotate after each round so every participant runs the diagnostic once.
👤 Diagnostician
Presents the stalled KPI. Reasons aloud through the four questions. Must not skip Q3.
👤 Challenger
Guides through the four questions in sequence. Challenges comfortable answers. Does not give the diagnosis — draws it out.
👤 Observer
Listens and evaluates against the four criteria. Provides structured feedback after the round.
Participant file (5.1 — The Clog Clinic: Exercise Structure) — prompts participants complete:
- Individual Preparation My stalled KR/KPI Current progress vs target What I observe happening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QUESTIONS (5.1 · Part 2 · Diagnostic Triads)
Content:
Four Questions — in sequence, without skipping:
Q1 — Where is the friction?
“Which COMPASS zone best describes where the pain is showing up — C, O, M, P, A, S1, or S2?”
Q2 — What is the signal?
“Of the signals in that zone — which one most precisely describes what you are observing?”
Q3 — What is the clog?
“Based on that signal — what type of blockage is at the root? Structure, capability, decision, metrics, culture, technology, or leadership?” The Challenger challenges: “Are you sure that’s the root — or is that the symptom of something deeper?”
Q4 — What lever would you pull?
“Given that diagnosis — what is the first action you would take? A specific action, with an owner and a date.”
Guidance (Section 5): Watch for the symptom-to-lever skip. If a triad jumps from symptom to lever, pause and redirect: “Wait. Before we select the lever, have we correctly classified the clog? Let’s go back to Q3.”</a:t>
            </a:r>
            <a:endParaRPr lang="en-US" dirty="0"/>
          </a:p>
          <a:p/>
          <a:p>
            <a:r>
              <a:t>Source detail (S2R® manuscript):</a:t>
            </a:r>
          </a:p>
          <a:p/>
          <a:p>
            <a:r>
              <a:t>Q1 with the zones named in full: “Which COMPASS zone best describes where the pain is showing up: Clarity of Direction, Organisational Alignment, Management Discipline, People &amp; Capability, Allocation of Resources, Systems &amp; Execution, or Sensing &amp; Adaptation?”</a:t>
            </a:r>
          </a:p>
          <a:p>
            <a:r>
              <a:t>Q3 in full: The Challenger does not tell them the answer and asks: “Based on that signal, what type of blockage do you think is at the root? Is this a structure problem, a capability problem, a decision problem, a metrics problem, a culture problem, a technology problem, or a leadership problem?” Allow the Diagnostician to reason aloud. The Challenger challenges if the diagnosis feels too comfortable.</a:t>
            </a:r>
          </a:p>
          <a:p/>
          <a:p>
            <a:r>
              <a:t>Professional insights:</a:t>
            </a:r>
          </a:p>
          <a:p/>
          <a:p>
            <a:r>
              <a:t>Bring the plan: Leaders who present an immediately actionable response alongside the problem get the room and keep it. If you bring a diagnosis, bring a plan. Use this with Q4.</a:t>
            </a:r>
          </a:p>
          <a:p>
            <a:r>
              <a:t>Source: Journal, 26 January 2026 — Professional Insights: Strategy</a:t>
            </a:r>
          </a:p>
          <a:p/>
          <a:p>
            <a:r>
              <a:t>Act on what you know: When the usual signals go quiet, the instinct is to commission new intelligence. List the conclusions already reached and not acted on, and execute one.</a:t>
            </a:r>
          </a:p>
          <a:p>
            <a:r>
              <a:t>Source: Journal, 19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 THE ALIGNMENT BRIGADE CHALLENGE (10 minutes)
Content:
The Alignment Brigade Challenge — Full Group
Each triad nominates one diagnosis to bring to the full group — ideally the one they found most difficult to crack. The nominated Diagnostician presents in 90 seconds:
“Our KR was [X]. The friction zone was [Y]. The signal was [Z]. We diagnosed [clog]. Our proposed lever is [action] — owned by [person] — by [date].”
The full group then challenges for three minutes:
Is the COMPASS zone correctly identified?
Is the clog category the root cause or just a surface symptom?
Is the lever precise enough — or is it still general pressure?
The facilitator closes each challenge with:
“What would have to be true for that lever to actually clear the clog?”</a:t>
            </a:r>
            <a:endParaRPr lang="en-US" dirty="0"/>
          </a:p>
          <a:p/>
          <a:p>
            <a:r>
              <a:t>Professional insights:</a:t>
            </a:r>
          </a:p>
          <a:p/>
          <a:p>
            <a:r>
              <a:t>Testing the intervention: Test whether an intervention is helping or adding burden. Execution depends on coordinated diversity of roles.</a:t>
            </a:r>
          </a:p>
          <a:p>
            <a:r>
              <a:t>Source: Journal, 25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OBSERVER EVALUATION CRITERIA (4 criteria for diagnostic quality)
Content:
Criterion 01 — The Diagnostician Reasoned Through It
Did the Diagnostician go straight to the comfortable answer — or genuinely reason through the diagnostic sequence? A good diagnostic conversation shows visible thinking.
Criterion 02 — The Clog Was Distinguished from the Symptom
Was the clog correctly separated from what was initially observed? The symptom is what leadership sees first (e.g. slow delivery). The clog is the root cause (e.g. decision bottleneck). These must remain distinct.
Criterion 03 — The Challenger Used Curiosity
Did the Challenger draw out the diagnosis through questions — or push the Diagnostician toward a conclusion? A good challenger maintains diagnostic curiosity throughout and challenges without prescribing.
Criterion 04 — The Intervention Was Concrete
Did the conversation end with a specific, time-bound action that both parties understood and accepted? “We’ll improve communication” is too vague to act on. A lever is a structural change with a named owner and a date.</a:t>
            </a:r>
            <a:endParaRPr lang="en-US" dirty="0"/>
          </a:p>
          <a:p/>
          <a:p>
            <a:r>
              <a:t>Source detail (S2R® manuscript):</a:t>
            </a:r>
          </a:p>
          <a:p/>
          <a:p>
            <a:r>
              <a:t>The Observer’s test for the intervention: Was the intervention specific enough to actually move?</a:t>
            </a:r>
          </a:p>
          <a:p/>
          <a:p>
            <a:r>
              <a:t>Professional insights:</a:t>
            </a:r>
          </a:p>
          <a:p/>
          <a:p>
            <a:r>
              <a:t>02 · Clog and symptom: Persistent problems survive because the assumptions, beliefs and patterns producing them have never been challenged. Effective strategy addresses the root logic beneath the recurring symptoms.</a:t>
            </a:r>
          </a:p>
          <a:p>
            <a:r>
              <a:t>Source: Journal, 22 September 2026 — Professional Insights: Strategy</a:t>
            </a:r>
          </a:p>
          <a:p/>
          <a:p>
            <a:r>
              <a:t>Honest assessment first: Meaningful change starts with honest assessment, thoughtful preparation and patient execution, and it addresses root causes. Enduring change reshapes values and behaviours as well as processes.</a:t>
            </a:r>
          </a:p>
          <a:p>
            <a:r>
              <a:t>Source: Journal, 3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PARTICIPANT COMMITMENTS (Capture before leaving)
FACILITATOR GUIDANCE
Before closing, confirm each participant has recorded the clog diagnosed, the lever they will pull and a follow-up review date in their own file.
Content:
Each participant leaves with three things written down before the session closes.
Participant file (5.3 — Exercise Output: Participant Commitments) — prompts participants complete:
- 1. The Clog I Diagnosed Clog category COMPASS zone Signal that revealed it
- 2. The Lever I Will Pull Lever selected Specific action Owner Completion date
- 3. My Follow-Up Review Date I will assess whether the clog has cleared on Evidence I will look for</a:t>
            </a:r>
            <a:endParaRPr lang="en-US" dirty="0"/>
          </a:p>
          <a:p/>
          <a:p>
            <a:r>
              <a:t>Source detail (S2R® manuscript):</a:t>
            </a:r>
          </a:p>
          <a:p/>
          <a:p>
            <a:r>
              <a:t>Debrief question (closing the full group): “In your last performance review cycle, how many of the KPIs that missed target had a clog that you could have named three months earlier? What stopped you from naming it?”</a:t>
            </a:r>
          </a:p>
          <a:p/>
          <a:p>
            <a:r>
              <a:t>Professional insights:</a:t>
            </a:r>
          </a:p>
          <a:p/>
          <a:p>
            <a:r>
              <a:t>Commitment to application: Organisations often receive a diagnosis, appreciate its quality and return to unchanged practice. Ask in advance: what will we do differently as a result of what we hear? Use this to test each commitment.</a:t>
            </a:r>
          </a:p>
          <a:p>
            <a:r>
              <a:t>Source: Journal, 12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9 synthesis)
Facilitator Closing Note
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Content:
Awareness — What
A Strategic Clog is an internal blockage that prevents strategic intent from flowing into execution. The 7-clog diagnostic map — aligned to ABCV Directional Integrity — gives leaders the vocabulary to name the type of friction behind the symptom.
Intelligence — Why
Clogs are design signals. Where strategy stretches the operating system beyond its current capacity, friction will appear predictably. The three disciplines of execution engineering (identify, classify, intervene) and the 7 levers restore flow without reactive pressure.
Extrapolating — Where
COMPASS provides the coordinate system for locating clogs within the enterprise execution architecture. The combination of clog category + COMPASS zone delivers the precision needed to select the correct lever. The 4-step activation translates diagnosis into structured intervention.
Integration — Collective
Clogs rarely stay in one lane. The Alignment Brigade must own the diagnostic conversation collectively, building a “see something, say something” culture where surfacing friction early is an act of leadership — and the Enterprise Unclogging Agenda becomes the shared instrument of execution restoration.
“When unclogging becomes a habit, everything changes. Friction is a signal telling you how the organisation needs to evolve next. You stop just managing a plan and start engineering flow.”</a:t>
            </a:r>
            <a:endParaRPr lang="en-US" dirty="0"/>
          </a:p>
          <a:p/>
          <a:p>
            <a:r>
              <a:t>Source detail (S2R® manuscript):</a:t>
            </a:r>
          </a:p>
          <a:p/>
          <a:p>
            <a:r>
              <a:t>The unit in one line: The Strategic Unclogging unit is about one thing: building the executive “muscle” to find and fix the blockages that stand between your strategy and your results.</a:t>
            </a:r>
          </a:p>
          <a:p>
            <a:r>
              <a:t>Every new strategy puts pressure on a company. Friction happens when that new pressure hits old ways of working: structures or habits designed for a reality that no longer exists. You feel this as stalled projects, slow decisions, or teams that just can’t seem to get in sync. Unclogging gives you a disciplined way to spot that friction early and fix it before it stalls the entire engine.</a:t>
            </a:r>
          </a:p>
          <a:p/>
          <a:p>
            <a:r>
              <a:t>Awareness (What): First, we have to agree on what a “clog” actually is. A clog is any system, habit, or structure that keeps your strategy from moving at the speed you need. A lack of effort or a “bad employee” problem falls outside that definition.</a:t>
            </a:r>
          </a:p>
          <a:p>
            <a:r>
              <a:t>Five specific questions name the problem and replace vague griping about “bad execution”:</a:t>
            </a:r>
          </a:p>
          <a:p>
            <a:r>
              <a:t>- Systems: Is our tech or governance outdated?</a:t>
            </a:r>
          </a:p>
          <a:p>
            <a:r>
              <a:t>- Process: Are our workflows clunky?</a:t>
            </a:r>
          </a:p>
          <a:p>
            <a:r>
              <a:t>- People: Do we have the right skills and enough hands?</a:t>
            </a:r>
          </a:p>
          <a:p>
            <a:r>
              <a:t>- Behaviour: Is our culture (like “playing it safe”) slowing us down?</a:t>
            </a:r>
          </a:p>
          <a:p>
            <a:r>
              <a:t>- Leadership: Is there a gap in accountability or alignment at the top?</a:t>
            </a:r>
          </a:p>
          <a:p/>
          <a:p>
            <a:r>
              <a:t>Intelligence (Why): When you aim for a big goal, you will naturally find parts of your business that were not built for that level of ambition. Mature teams ask: “Where is our current design not yet strong enough to carry this strategy?” This shifts your job from “troubleshooting” to “architecting”.</a:t>
            </a:r>
          </a:p>
          <a:p/>
          <a:p>
            <a:r>
              <a:t>Extrapolating (Where): We look for the high-flammability zones. These are the places where friction usually starts, typically where work crosses from one department to another. We map out:</a:t>
            </a:r>
          </a:p>
          <a:p>
            <a:r>
              <a:t>- Handoffs: where responsibility gets fuzzy between teams.</a:t>
            </a:r>
          </a:p>
          <a:p>
            <a:r>
              <a:t>- Capability Gaps: where our tools or skills are being stretched too thin.</a:t>
            </a:r>
          </a:p>
          <a:p>
            <a:r>
              <a:t>- Decision Slow-downs: where the hierarchy is choking our speed.</a:t>
            </a:r>
          </a:p>
          <a:p>
            <a:r>
              <a:t>- Silos: where people are rewarded for their own department’s wins ahead of the company’s.</a:t>
            </a:r>
          </a:p>
          <a:p/>
          <a:p>
            <a:r>
              <a:t>Integration (Collective): Because clogs rarely stay in one department, the whole CXO team has to own the fix. The team looks at the data together to:</a:t>
            </a:r>
          </a:p>
          <a:p>
            <a:r>
              <a:t>- confirm the real root cause;</a:t>
            </a:r>
          </a:p>
          <a:p>
            <a:r>
              <a:t>- agree on the right intervention;</a:t>
            </a:r>
          </a:p>
          <a:p>
            <a:r>
              <a:t>- put a name next to the fix.</a:t>
            </a:r>
          </a:p>
          <a:p>
            <a:r>
              <a:t>The result is your Enterprise Unclogging Agenda: a prioritised list of fixes that the leadership team owns together.</a:t>
            </a:r>
          </a:p>
          <a:p/>
          <a:p>
            <a:r>
              <a:t>The big picture: Friction stops being a crisis. You are making sure the company’s systems, habits, and people are always tuned to carry your strategy all the way to the finish line.</a:t>
            </a:r>
          </a:p>
          <a:p/>
          <a:p>
            <a:r>
              <a:t>Professional insights:</a:t>
            </a:r>
          </a:p>
          <a:p/>
          <a:p>
            <a:r>
              <a:t>Old breaches: Some present problems are the bill for a past breach. When a recurring problem resists treatment, investigate what older, unsettled matter it may be surfacing.</a:t>
            </a:r>
          </a:p>
          <a:p>
            <a:r>
              <a:t>Source: Journal, 2 June 2026 — Professional Insights: Strategy</a:t>
            </a:r>
          </a:p>
          <a:p/>
          <a:p>
            <a:r>
              <a:t>Stepping over: A dangerous cultural failure is high-performing indifference: people who step over a problem every day without registering it as theirs to solve. Put it on the agenda before the stepping-over becomes the culture.</a:t>
            </a:r>
          </a:p>
          <a:p>
            <a:r>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systemic conditions that constrain strategic execution and organisational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visible performance symptoms from their underlying organisational causes.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interdependent enterprise conditions that contribute to stalled or declining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organisational response required to restore strategic coherence and performance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systemic blockages that widen the gap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symptoms of friction in execution.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observable friction signals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Paralysis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Leaders hesitate where they should act.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Kinetic Misalignment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Energy is high; progress is not.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Output–Outcome Gap</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Activity is high; advancement is not.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Which of these three signals is most visible in your organisation right now?</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execution friction is a predictable consequence of strategy stretching the operating system.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leadership disciplines that detect and resolve friction early.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is the system not yet designed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Highest-Flammability Clog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where interdependent conditions are causing friction to accumulate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visible symptoms from their underlying organisational causes.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7 COMPASS high-flammability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4-step Unclogging Activation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Identify Clog Category  </a:t>
            </a:r>
            <a:pPr indent="0" marL="0">
              <a:buNone/>
            </a:pPr>
            <a:r>
              <a:rPr lang="en-US" sz="2600" dirty="0">
                <a:solidFill>
                  <a:srgbClr val="1F2A22"/>
                </a:solidFill>
                <a:latin typeface="Calibri" pitchFamily="34" charset="0"/>
                <a:ea typeface="Calibri" pitchFamily="34" charset="-122"/>
                <a:cs typeface="Calibri" pitchFamily="34" charset="-120"/>
              </a:rPr>
              <a:t>select the type of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Locate in COMPASS  </a:t>
            </a:r>
            <a:pPr indent="0" marL="0">
              <a:buNone/>
            </a:pPr>
            <a:r>
              <a:rPr lang="en-US" sz="2600" dirty="0">
                <a:solidFill>
                  <a:srgbClr val="1F2A22"/>
                </a:solidFill>
                <a:latin typeface="Calibri" pitchFamily="34" charset="0"/>
                <a:ea typeface="Calibri" pitchFamily="34" charset="-122"/>
                <a:cs typeface="Calibri" pitchFamily="34" charset="-120"/>
              </a:rPr>
              <a:t>pinpoint where it is forming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Trigger Lever  </a:t>
            </a:r>
            <a:pPr indent="0" marL="0">
              <a:buNone/>
            </a:pPr>
            <a:r>
              <a:rPr lang="en-US" sz="2600" dirty="0">
                <a:solidFill>
                  <a:srgbClr val="1F2A22"/>
                </a:solidFill>
                <a:latin typeface="Calibri" pitchFamily="34" charset="0"/>
                <a:ea typeface="Calibri" pitchFamily="34" charset="-122"/>
                <a:cs typeface="Calibri" pitchFamily="34" charset="-120"/>
              </a:rPr>
              <a:t>match the lever to the root cause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Rate Severity  </a:t>
            </a:r>
            <a:pPr indent="0" marL="0">
              <a:buNone/>
            </a:pPr>
            <a:r>
              <a:rPr lang="en-US" sz="2600" dirty="0">
                <a:solidFill>
                  <a:srgbClr val="1F2A22"/>
                </a:solidFill>
                <a:latin typeface="Calibri" pitchFamily="34" charset="0"/>
                <a:ea typeface="Calibri" pitchFamily="34" charset="-122"/>
                <a:cs typeface="Calibri" pitchFamily="34" charset="-120"/>
              </a:rPr>
              <a:t>Low · Medium · High</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restoring execution momentum requires collective leadership stewardship.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leadership rhythm for surfacing and resolving friction.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a shared path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Is there a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What category does it fall into?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Which part of the system is it affecting?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Which lever do we pull to fix it?</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See something, say something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clog I suspect is forming outside my function is [clog category] in the [COMPASS zone].”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Surfacing a blockage early is an act of leadership.</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Enterprise Unclogging Agenda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KR at risk</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COMPASS zone and clog category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Recommended lever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with a named owner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Severity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why it must be named now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Agree the top three items with named owners.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Clog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the root cause of a stalled priority in their current portfolio.</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a targeted response with a named owner, action and completion date.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Clog Clinic: three parts · 45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5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Individual Prep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30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Diagnostic Triads: Diagnostician · Challenger · Observer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Alignment Brigade Challenge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Use a real stalled KPI, visible for more than two review cycles.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questions, in sequence, without skipping</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Where is the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What is the signal?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What is the clog?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Q4  </a:t>
            </a:r>
            <a:pPr indent="0" marL="0">
              <a:buNone/>
            </a:pPr>
            <a:r>
              <a:rPr lang="en-US" sz="2600" dirty="0">
                <a:solidFill>
                  <a:srgbClr val="1F2A22"/>
                </a:solidFill>
                <a:latin typeface="Calibri" pitchFamily="34" charset="0"/>
                <a:ea typeface="Calibri" pitchFamily="34" charset="-122"/>
                <a:cs typeface="Calibri" pitchFamily="34" charset="-120"/>
              </a:rPr>
              <a:t>What lever would you pull?</a:t>
            </a:r>
            <a:endParaRPr lang="en-US"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Part 3 · The Alignment Brigade Challenge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have to be true for that lever to actually clear the clog?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90-second presentation, then three minutes of challenge from the full group.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The Diagnostician reasoned through it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was distinguished from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Challenger used curiosity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The intervention was concrete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Participant commitments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clog I diagnosed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Category, COMPASS zone, signal</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 I will pull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Action, owner, completion date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My follow-up review date</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the evidence I will look for</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