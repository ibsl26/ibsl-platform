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12 · SUSTAINING PERFORMANCE
Module 4 · Grounding · Unit 12 · The final unit of the S2R® programme
Unit intent (Facilitator Guide):
Unit 12 answers the central question in organisational performance: how to sustain results once they are achieved. The central argument is precise — sustained performance is a navigation discipline applied continuously to five force categories that never stop moving.
The architecture of this unit is causal. Awareness introduces Performance Gravity and KISS. Intelligence shows that the three mechanisms of Performance Gravity are each the direct consequence of a specific force category going unnavigated. Extrapolating gives leaders the WHERE (the collective intelligence for execution discipline across leadership domains), the HOW TO READ (ABCV as the navigation diagnostic), and the HOW TO RESPOND (KISS as the navigation action). Integration embeds this as a collective quarterly rhythm. Application practises the full chain in real leadership domains.
This unit is industry-neutral and programme-independent. The forces it describes exist in every organisation in every sector every day. The navigation disciplines apply whether or not an organisation has engaged in any formal programme.
Unit overview (facilitator file): Sustained performance is the continuous navigation of five forces that never stop moving. This unit gives leaders the causal understanding and the navigation architecture to sustain performance — across industries, in daily execution, permanently.</a:t>
            </a:r>
            <a:endParaRPr lang="en-US" dirty="0"/>
          </a:p>
          <a:p/>
          <a:p>
            <a:r>
              <a:t>Source detail (S2R® manuscript):</a:t>
            </a:r>
          </a:p>
          <a:p/>
          <a:p>
            <a:r>
              <a:t>Module context: Grounding is where strategy execution is sustained. It is the discipline that ensures what has been defined in Direction and driven through Influence is fully translated into consistent, lived organisational performance. Grounding carries a singular responsibility: to close the gap between what is intended and what is actually consistently realised.</a:t>
            </a:r>
          </a:p>
          <a:p>
            <a:r>
              <a:t>Grounding establishes a non-negotiable standard: what is assigned must be fully executed; what is executed must be sustained; what is sustained must be reinforced through systems, culture, and accountability.</a:t>
            </a:r>
          </a:p>
          <a:p>
            <a:r>
              <a:t>Within DIG: Direction defines the strategic position and intended outcomes; Influence mobilises leadership to drive execution; Grounding ensures those outcomes are consistently achieved, embedded, and maintained.</a:t>
            </a:r>
          </a:p>
          <a:p>
            <a:r>
              <a:t>It is through Grounding that strategy moves from activity to performance, from progress to completion, and from isolated success to organisational discipline. Grounding is therefore the condition that stabilises execution into sustained results.</a:t>
            </a:r>
          </a:p>
          <a:p/>
          <a:p>
            <a:r>
              <a:t>Opening of the unit: You have done the hard work. Over the course of this programme you have clarified strategic direction, designed execution architecture, established accountability, aligned your enterprise conditions, measured organisational health, and coached your people through their most difficult performance conversations.</a:t>
            </a:r>
          </a:p>
          <a:p>
            <a:r>
              <a:t>And if you have done all of that with honesty and discipline, something real has happened. The organisation has begun to move with coordination. Results are appearing. Momentum is building.</a:t>
            </a:r>
          </a:p>
          <a:p>
            <a:r>
              <a:t>This is the moment most leadership programmes celebrate and close. We do not.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Distinguish short-term performance attainment from sustained institutional capability.
2. Evaluate organisational resilience and adaptability as internal and external conditions evolve.
3. Recognise the sources of performance drift and the early erosion of strategic coherence.
4. Exercise forward-looking executive judgement that protects organisational value and long-term performance.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no minute timings for this unit.
Session structure (facilitator file):
AWARENESS — What Performance Gravity is and what counters it (KISS)
INTELLIGENCE — Why the five forces produce Performance Gravity when unnavigated
EXTRAPOLATING — Where forces pull + ABCV diagnostic + KISS navigation response
INTEGRATION — The S2R® Collective Intelligence Review as quarterly navigation rhythm
APPLICATION — Force-anchored scenarios with ABCV diagnostic + KISS response + Programme Commitment
Key Facilitation Questions
“Name a time your organisation achieved strong performance and then lost it. Looking back — which force had moved that you were not tracking?”
“Which of the five force categories is your organisation least systematically monitoring right now — and what would be the consequence of missing its movement for six months?”
“When a competitive signal appears — a shift in win rates, a change in customer conversation — what is the first question your leadership team asks? Is it strategic or operational?”
“Apply ABCV to the most significant force movement in your environment right now. Which of the four MBT conditions is most under threat?”
“Which KISS discipline is your organisation consistently avoiding — and what is the honest reason for that?”
Tone &amp; Watch Points
This unit must feel permanent. It is the opening of a permanent discipline. Every facilitation choice should reinforce: this is how high-performing organisations operate every day.
Watch for: leaders who agree conceptually with all five forces but cannot name one specific force movement currently threatening their strategy. Push to specifics: “Name the force. Name where it is moving. Name what it has invalidated.”
The ABCV connection is the pivot point of this unit. Participants encountered ABCV as an OKR stress-test in Unit 4. Here it is elevated to its full strategic purpose as the navigation diagnostic. Make this elevation explicit: “ABCV was introduced to test the soundness of your strategic commitments. Here we use it to test whether those commitments still hold as forces move.”
The Application exercise runs the full chain. Do not allow it to become a KISS exercise alone. Each scenario names a force, requires an ABCV diagnostic, then activates KISS. Leaders who skip the ABCV step are responding without diagnosing.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Performance Gravity — and the KISS Navigation Disciplines
Understanding the force that pulls organisations back toward average — and the four precise decisions that counter it.
Section learning outcomes:
1. Recognise the forces that pull performance back towards average.
2. Identify the navigation disciplines that sustain performance against that pull.
FACILITATOR GUIDANCE — Awareness
Open with the central reframe: Performance Gravity is the predictable organisational consequence of five external forces moving while the organisation stays still. This reframe matters because it shifts the conversation from blame to navigation. The question is “which force moved that we stopped tracking?”
When introducing the three mechanisms, note that each one is anchored to a specific force category — this is the bridge to Intelligence. Do not develop the force connections in depth here; Awareness introduces the mechanisms, Intelligence explains the causality.
KISS is fully introduced and defined in this section. It does not need to appear in full depth in any subsequent section. When KISS appears in Extrapolating and Application, it is always as the navigation response — the action.</a:t>
            </a:r>
            <a:endParaRPr lang="en-US" dirty="0"/>
          </a:p>
          <a:p/>
          <a:p>
            <a:r>
              <a:t>Source detail (S2R® manuscript):</a:t>
            </a:r>
          </a:p>
          <a:p/>
          <a:p>
            <a:r>
              <a:t>The opening question: What is sustained performance, and what threatens it?</a:t>
            </a:r>
          </a:p>
          <a:p>
            <a:r>
              <a:t>The moment when results appear and momentum builds is precisely the moment where most organisations begin to lose what they have built. The loss comes without failure and without crisis, through the quiet, invisible, almost unnoticeable force that pulls every organisation back toward the performance of the average. We call this force Performance Gravity.</a:t>
            </a:r>
          </a:p>
          <a:p>
            <a:r>
              <a:t>Understanding it, and building the discipline to resist it, is the final and most important leadership work of this programme.</a:t>
            </a:r>
          </a:p>
          <a:p/>
          <a:p>
            <a:r>
              <a:t>Professional insights:</a:t>
            </a:r>
          </a:p>
          <a:p/>
          <a:p>
            <a:r>
              <a:t>Completion and capability: Implementation is incomplete until the gains can be sustained. Distinguish project completion from sustained capability, and protect results through ownership, resourcing, monitoring and corrective action, because they regress when maintenance weakens.</a:t>
            </a:r>
          </a:p>
          <a:p>
            <a:r>
              <a:t>Source: Journal, 11 August 2026 — Professional Insights: Strategy</a:t>
            </a:r>
          </a:p>
          <a:p/>
          <a:p>
            <a:r>
              <a:t>Cumulative decline: Organisations rarely fail through a single catastrophic decision. Decline is cumulative: neglected principles, ignored warnings and normalised unhealthy behaviour gradually weaken the systems designed to sustain success.</a:t>
            </a:r>
          </a:p>
          <a:p>
            <a:r>
              <a:t>Source: Journal, 27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NAVIGATION PREMISE
Content:
The forces in your operating environment never stop moving. They moved before your strategy was designed. They are moving now. And they will continue moving regardless of what your performance indicators show, what your strategy says, or what your leadership team has decided.
Sustained performance is the outcome of continuous navigation — the deliberate, disciplined practice of reading the forces that shape the environment in which you perform and adjusting your position in response to their movement.
Most organisations treat sustained performance as a stability problem. They assume that if they maintain what they are currently doing, results will continue. The assumption is wrong. The environment in which your current results were earned is already changing. And the gap between your current approach and the current environment will only become visible when the cost of correction is already significant.
Performance Gravity is what happens when forces move and the organisation does not move with them. It is a failure of navigation. And like physical gravity, it operates continuously — whether or not the organisation is aware of it.
Participant file (1.1 — The Navigation Premise) — prompts participants complete:
- ✎ Reflection — Name a time your organisation achieved strong performance and then lost it. Looking back — which force had moved that was not being tracked?</a:t>
            </a:r>
            <a:endParaRPr lang="en-US" dirty="0"/>
          </a:p>
          <a:p/>
          <a:p>
            <a:r>
              <a:t>Source detail (S2R® manuscript):</a:t>
            </a:r>
          </a:p>
          <a:p/>
          <a:p>
            <a:r>
              <a:t>Performance Gravity defined: Performance Gravity is the natural organisational tendency to drift back toward average after periods of strong performance. Leaders keep trying; success quietly erodes the very disciplines that produced it.</a:t>
            </a:r>
          </a:p>
          <a:p>
            <a:r>
              <a:t>Performance Gravity is distinct from failure and from crisis. It stays invisible in most performance dashboards until it is too late to address without significant cost.</a:t>
            </a:r>
          </a:p>
          <a:p/>
          <a:p>
            <a:r>
              <a:t>Professional insights:</a:t>
            </a:r>
          </a:p>
          <a:p/>
          <a:p>
            <a:r>
              <a:t>Responsiveness to signal: Effective organisations build responsiveness to external signals into their operating culture. Organisations that follow internal plans regardless of external signals miss the moments when conditions move differently from the plan.</a:t>
            </a:r>
          </a:p>
          <a:p>
            <a:r>
              <a:t>Source: Journal, 20 February 2026 — Professional Insights: Strategy</a:t>
            </a:r>
          </a:p>
          <a:p/>
          <a:p>
            <a:r>
              <a:t>The wrong posture for the season: Organisations most often drift into trouble by occupying a posture suited to a different time. Diagnose what season the work is actually in and whether your position matches it.</a:t>
            </a:r>
          </a:p>
          <a:p>
            <a:r>
              <a:t>Source: Journal, 28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THREE MECHANISMS OF PERFORMANCE GRAVITY (Each produced by a specific force)
Content:
Performance Gravity operates through three distinct mechanisms. Each mechanism is the organisational consequence of a specific category of external force going unnavigated. Intelligence examines each force category in depth. Here we introduce the mechanisms and their force origins.
Mechanism 1
Momentum Illusion
The enterprise competes with a playbook the market has already moved past
Force that produces this: Competitive + Disruptive
When competitive and disruptive forces shift and the organisation does not track them, the organisation continues running the approach that once produced results — unaware that the landscape in which those results were earned has already changed. Results remain acceptable in the short term because momentum carries forward. The gap between the playbook and the market widens invisibly until it becomes undeniable — at which point the cost of correction is significantly higher than earlier navigation would have required.
Mechanism 2
Complexity Creep
Structural responses to old conditions accumulate permanently as organisational weight
Force that produces this: Macro-environmental
When macro-environmental forces — regulatory frameworks, economic conditions, political dynamics, technological infrastructure — shift over time, organisations build structural responses to each change. Each response is justified at the time of its creation. Collectively, across multiple macro-environmental shifts, they create an organisation that is heavier, slower, and more internally focused than its current environment requires. The processes, governance layers, and approval structures built for yesterday’s macro-environment become permanent fixtures even after the conditions that justified them have changed.
Mechanism 3
Execution Regression
The organisation reverts to its historical operating pattern across all mechanisms simultaneously
Force that produces this: Internal forces
Every organisation has a cultural gravity — a set of norms, habits, assumptions, and identity patterns reinforced over years of operating history. This internal gravity continuously pulls the organisation’s behaviour back toward its historical pattern, even when a new strategy is set or strong results are achieved. When internal forces are not actively navigated, Execution Regression sets in: the enterprise reverts to the operating pattern that predates its current strategic direction. Standards quietly return to pre-programme baselines. Decision habits revert. The gap between what the strategy says and what daily behaviour reflects widens until the two are no longer recognisably connected.
The fourth force category — Social and Environmental forces — produces a distinct fourth consequence when unnavigated: Legitimacy Erosion. Stakeholder expectations shift while enterprise behaviour remains anchored to what once earned approval. This is examined in depth in Intelligence.
Participant file (1.2 — The Three Mechanisms of Performance Gravity) — prompts participants complete:
- ✎ Which mechanism is most active in your organisation right now? Mechanism Where it is most visible Earliest warning sign</a:t>
            </a:r>
            <a:endParaRPr lang="en-US" dirty="0"/>
          </a:p>
          <a:p/>
          <a:p>
            <a:r>
              <a:t>Source detail (S2R® manuscript):</a:t>
            </a:r>
          </a:p>
          <a:p/>
          <a:p>
            <a:r>
              <a:t>How the mechanisms relate: Performance Gravity operates through three mechanisms that compound one another over time. The detail below describes how each one takes hold inside the organisation.</a:t>
            </a:r>
          </a:p>
          <a:p/>
          <a:p>
            <a:r>
              <a:t>Momentum Illusion in full: When an organisation achieves strong results, a dangerous misinterpretation often follows. Leaders begin to attribute ongoing performance to current capability, when it is the accumulated effect of past discipline. The organisation is still moving forward, coasting on the energy of disciplines that were established months ago and are not being actively maintained today.</a:t>
            </a:r>
          </a:p>
          <a:p>
            <a:r>
              <a:t>The organisation mistakes the residual effect of past rigour for evidence of present strength. Meetings become slightly less structured. Accountability conversations become slightly less direct. Review cycles become slightly less rigorous. Each individual change is small enough to justify. Together, they represent the beginning of a performance decline that will only become visible in results six to twelve months later.</a:t>
            </a:r>
          </a:p>
          <a:p>
            <a:r>
              <a:t>By the time the numbers reveal the problem, the disciplines that produced the original results have already significantly weakened. Rebuilding them is far more costly than maintaining them would have been.</a:t>
            </a:r>
          </a:p>
          <a:p>
            <a:r>
              <a:t>This is the first face of Performance Gravity: the illusion that momentum is self-sustaining.</a:t>
            </a:r>
          </a:p>
          <a:p/>
          <a:p>
            <a:r>
              <a:t>Complexity Creep in full: High-performing organisations attract initiatives. Success generates confidence, confidence generates ambition, and ambition generates proliferation. New projects are launched. New committees are formed. New reporting requirements are introduced. New approval pathways are added.</a:t>
            </a:r>
          </a:p>
          <a:p>
            <a:r>
              <a:t>Each addition appears justified at the time of its introduction. Collectively, however, they create an organisation that is progressively heavier, slower, and more internally focused than it needs to be.</a:t>
            </a:r>
          </a:p>
          <a:p>
            <a:r>
              <a:t>Complexity Creep is the accumulation of weight that once served a purpose and has since become drag. The meeting that was useful when the team was new and needed coordination is now a bureaucratic ritual. The approval process that was essential during a period of risk is now slowing decisions that carry no meaningful risk. The reporting requirement that once generated genuine insight is now consumed without informing any decision.</a:t>
            </a:r>
          </a:p>
          <a:p>
            <a:r>
              <a:t>Leaders know these things have become drag. But they are too busy managing the complexity to stop and remove it.</a:t>
            </a:r>
          </a:p>
          <a:p>
            <a:r>
              <a:t>This is the second face of Performance Gravity: the weight of accumulated structure that no longer serves the mission.</a:t>
            </a:r>
          </a:p>
          <a:p/>
          <a:p>
            <a:r>
              <a:t>Leadership Drift (the third mechanism, Execution Regression, as it shows in leadership behaviour): The most dangerous form of Performance Gravity operates at the level of leadership behaviour.</a:t>
            </a:r>
          </a:p>
          <a:p>
            <a:r>
              <a:t>When organisations are performing well, the urgency that once made difficult leadership behaviours feel necessary begins to fade. The honest performance conversation that was non-negotiable during a period of underperformance becomes slightly more diplomatic when results are strong. The accountability standard that was upheld with discipline during a period of rebuilding is applied slightly more flexibly when the pressure is off.</a:t>
            </a:r>
          </a:p>
          <a:p>
            <a:r>
              <a:t>These shifts happen without conscious decision. They are the natural human response to a perceived reduction in threat. And they are catastrophically expensive, because the behaviours that leaders relax when performance is strong are precisely the behaviours that produced the strong performance in the first place.</a:t>
            </a:r>
          </a:p>
          <a:p>
            <a:r>
              <a:t>Leadership Drift is what happens when success teaches leaders the wrong lesson: that the discipline was necessary only to get here. The discipline is necessary to stay here.</a:t>
            </a:r>
          </a:p>
          <a:p>
            <a:r>
              <a:t>This is the third face of Performance Gravity: the gradual softening of the leadership standards that produced the original results.</a:t>
            </a:r>
          </a:p>
          <a:p/>
          <a:p>
            <a:r>
              <a:t>Professional insights:</a:t>
            </a:r>
          </a:p>
          <a:p/>
          <a:p>
            <a:r>
              <a:t>Momentum Illusion: Organisations anchor confidence in established structures (market positions, legacy products, long-standing advantages) that are quietly on a clock. Identify which apparent permanences are temporary, and build security on what will outlast them.</a:t>
            </a:r>
          </a:p>
          <a:p>
            <a:r>
              <a:t>Source: Journal, 29 May 2026 — Professional Insights: Strategy</a:t>
            </a:r>
          </a:p>
          <a:p/>
          <a:p>
            <a:r>
              <a:t>At the peak: When a business is at its peak, the disciplines that produced the peak are most at risk of being quietly abandoned. Review the practices that built the current position and name any that have been set aside.</a:t>
            </a:r>
          </a:p>
          <a:p>
            <a:r>
              <a:t>Source: Journal, 10 June 2026 — Professional Insights: Strategy</a:t>
            </a:r>
          </a:p>
          <a:p/>
          <a:p>
            <a:r>
              <a:t>Execution Regression: After key milestones, strategic focus can fragment as attention shifts from enterprise outcomes to individual or team recognition. Priorities lose sharpness and execution becomes less coordinated.</a:t>
            </a:r>
          </a:p>
          <a:p>
            <a:r>
              <a:t>Source: Journal, 21 April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KISS: THE FOUR NAVIGATION DISCIPLINES (The response to Performance Gravity)
Content:
KISS provides the four precise navigation decisions every leadership team must make at the close of every performance cycle. These are operational decisions — specific, named, and accountable. They apply in every industry, in every quarterly review, permanently.
K
KEEP
What is working and must be actively protected
The discipline of Keep is the conscious decision to identify, name, and protect the practices, routines, enterprise behaviours, and systems that are producing reliable results. Effective practices are vulnerable — they depend on specific leadership attention, team behaviour, and structural support. When that attention is redirected, the practice degrades without announcement. Keep requires leaders to make the implicit explicit: what specifically is producing this result, and what must remain in place to ensure it continues? Keep is the direct antidote to Momentum Illusion.
I
IMPROVE
What has shifted and requires recalibration
The discipline of Improve is the honest recognition that something which was working well is beginning to work less well — and that the gap between current performance and required performance is growing slowly enough to ignore but fast enough to be dangerous. Improve is the discipline of early correction: addressing drift when it is still a signal, well before it becomes a crisis. Every organisation has practices that were excellent six months ago and are merely adequate today. Improve prevents adequate from becoming insufficient before the gap is visible in results.
S
STOP
What is harming performance and must be eliminated
The discipline of Stop is the most difficult and most neglected of the four. Stop requires leaders to identify and eliminate practices, meetings, processes, reporting requirements, and approval layers consuming organisational energy without producing commensurate value. The resistance to Stop is structural: every practice that should be stopped has a sponsor, a team, and stakeholders whose interests are served by its continuation. Stop is the direct antidote to Complexity Creep — the accumulation of structural responses to conditions that no longer exist.
S
START
What must be introduced to sustain the next level of performance
The discipline of Start is the forward-facing investment that sustained performance requires. Start asks: what is the organisation not yet capable of that the changing force environment will require? It demands that leaders examine emerging strategic requirements, internal capability gaps, and governance evolution needs before the environment makes them urgent. Start is the anticipatory discipline that distinguishes organisations that sustain performance from those that merely extend it temporarily. It is the investment in future fitness that current performance makes possible.
KISS is a navigation discipline. In Extrapolating, it becomes the response mechanism of the navigation chain: Forces detected → ABCV reveals which strategic assumption has been invalidated → KISS determines the specific response.
Participant file (1.3 — KISS: The Four Navigation Disciplines) — prompts participants complete:
- ✎ Reflection — In your function right now — which practice, rhythm, or enterprise behaviour is producing the most reliable results and is most at risk of being taken for granted?
- ✎ Reflection — Name one practice in your organisation that was strong six months ago and is merely adequate today. What is the one early correction that would restore it before the gap becomes a trend?
- ✎ Reflection — Name one meeting, one report, or one approval layer in your function that should be stopped. If we were designing this organisation today, would we introduce it? If the answer is no — what is preventing you from stopping it?
- ✎ Reflection — What capability does your organisation need to begin building now — before the environment requires it — to sustain performance at the next level?</a:t>
            </a:r>
            <a:endParaRPr lang="en-US" dirty="0"/>
          </a:p>
          <a:p/>
          <a:p>
            <a:r>
              <a:t>Source detail (S2R® manuscript):</a:t>
            </a:r>
          </a:p>
          <a:p/>
          <a:p>
            <a:r>
              <a:t>KISS as the antidote to Performance Gravity: The discipline that counters Performance Gravity is a set of four precise decisions that every leader must make at the end of every performance cycle, applied with the same honesty and rigour they brought to the beginning of the programme. No new framework is needed.</a:t>
            </a:r>
          </a:p>
          <a:p>
            <a:r>
              <a:t>KISS (Keep, Improve, Stop, Start) is the sustained performance discipline of the S2R® programme. It was introduced earlier in the programme as a simplicity principle. In this final unit, it becomes its most important application: the leadership discipline that determines whether the organisation keeps climbing or begins its descent.</a:t>
            </a:r>
          </a:p>
          <a:p/>
          <a:p>
            <a:r>
              <a:t>The four KISS disciplines in depth:</a:t>
            </a:r>
          </a:p>
          <a:p/>
          <a:p>
            <a:r>
              <a:t>KEEP, the leadership discipline of protection: Most leaders underestimate how vulnerable effective practices are. An effective practice depends on a specific combination of leadership attention, team behaviour, structural support, and time investment. Remove or weaken any of these elements and the practice degrades, often without any visible signal until the results it was producing begin to decline.</a:t>
            </a:r>
          </a:p>
          <a:p>
            <a:r>
              <a:t>Naming and protecting what works sounds obvious. It is rarely done. In most organisations, what works is taken for granted. Leaders assume that because something is working, it will continue working without deliberate protection. Effective practices depend on specific behaviours, specific rhythms, and specific leadership attention. When that attention is redirected, even toward other important priorities, the practice quietly degrades.</a:t>
            </a:r>
          </a:p>
          <a:p>
            <a:r>
              <a:t>The discipline of Keep requires leaders to conduct a deliberate audit of their highest-value practices at the end of each performance cycle: what specifically is producing the results we are currently generating, and what would need to be true to ensure it continues?</a:t>
            </a:r>
          </a:p>
          <a:p>
            <a:r>
              <a:t>This audit surfaces three categories of at-risk practices:</a:t>
            </a:r>
          </a:p>
          <a:p>
            <a:r>
              <a:t>- Attention-dependent practices: routines that function well when leadership is actively engaged and quietly degrade when attention is redirected elsewhere. The weekly performance review that is meaningful when the leader prepares thoroughly and asks precise questions becomes a reporting ritual when the leader arrives distracted and accepts general updates. The discipline has not been officially removed. It has simply been emptied of the leadership intention that made it effective.</a:t>
            </a:r>
          </a:p>
          <a:p>
            <a:r>
              <a:t>- Resource-dependent practices: capabilities that require specific investment to function and are vulnerable to budget pressure, talent loss, or competing priorities. When the person who understands the system leaves, or when the budget is redirected, the practice continues in name and loses its substance.</a:t>
            </a:r>
          </a:p>
          <a:p>
            <a:r>
              <a:t>- Culture-dependent practices: behaviours that depend on specific norms of honesty, accountability, and psychological safety. These are the most fragile practices in any organisation because they cannot be codified into a process or a system. They exist in the behavioural choices of individuals and are directly vulnerable to Leadership Drift.</a:t>
            </a:r>
          </a:p>
          <a:p>
            <a:r>
              <a:t>The Keep discipline requires leaders to name which category each high-value practice belongs to, and to design specific protection mechanisms that address the vulnerability specific to that category.</a:t>
            </a:r>
          </a:p>
          <a:p/>
          <a:p>
            <a:r>
              <a:t>IMPROVE, the leadership discipline of early correction: The most important word in the KISS Improve discipline is early.</a:t>
            </a:r>
          </a:p>
          <a:p>
            <a:r>
              <a:t>Every leader knows how to respond to clear failure. The results are bad, the gap is visible, the urgency is undeniable. Organisations mobilise enormous energy in response to obvious performance shortfalls. That response is crisis management.</a:t>
            </a:r>
          </a:p>
          <a:p>
            <a:r>
              <a:t>The discipline of Improve is responding to the signal before it becomes the crisis. It is the leadership capacity to notice, and act on, the early signs that a practice is drifting, a standard is softening, or a system is losing its effectiveness, at a point when the cost of correction is still small.</a:t>
            </a:r>
          </a:p>
          <a:p>
            <a:r>
              <a:t>This requires leaders to cultivate a specific kind of organisational attention: the ability to distinguish between a result that is acceptable and a trend that is declining. The quarter’s results may be on target. But the quality of the performance review conversations is slightly lower than three months ago. The number of issues being escalated has increased slightly. The response time on cross-functional requests has lengthened by two days on average. None of these individually triggers concern. Together, they are the fingerprint of a system beginning to drift.</a:t>
            </a:r>
          </a:p>
          <a:p>
            <a:r>
              <a:t>Improve requires leaders to act on these signals with precise, early correction: one clear adjustment, implemented quickly, that restores the standard before the drift becomes a gap and the gap becomes a trend. Dramatic intervention is unnecessary.</a:t>
            </a:r>
          </a:p>
          <a:p>
            <a:r>
              <a:t>The leadership cost of neglecting Improve is that early corrections that would have cost a conversation become later interventions that cost a restructuring.</a:t>
            </a:r>
          </a:p>
          <a:p>
            <a:r>
              <a:t>Improve operates in the space between what is working and what is broken. The hardest leadership skill in sustaining performance is responding to the early signs of decline when results are still acceptable. The discipline of Improve is the antidote to Leadership Drift (Execution Regression in leadership behaviour) in its earliest stage, before drift becomes departure.</a:t>
            </a:r>
          </a:p>
          <a:p/>
          <a:p>
            <a:r>
              <a:t>STOP, the leadership discipline of elimination: Of the four KISS disciplines, Stop is the one most organisations understand intellectually and most consistently fail to practise.</a:t>
            </a:r>
          </a:p>
          <a:p>
            <a:r>
              <a:t>The reason is structural. Organisations are extraordinarily good at starting things and extraordinarily poor at stopping them. Every initiative that is launched has a sponsor, a team, a budget, and a set of stakeholders whose interests are served by its continuation. To stop the initiative requires the leader to confront each of these stakeholders and to make the argument, against the weight of existing investment and existing commitment, that the continuation cost exceeds the continuation value.</a:t>
            </a:r>
          </a:p>
          <a:p>
            <a:r>
              <a:t>This is socially and politically difficult even when it is strategically obvious. And when performance is strong, the urgency of elimination diminishes further. The organisation can afford to carry the weight. For now.</a:t>
            </a:r>
          </a:p>
          <a:p>
            <a:r>
              <a:t>The discipline of Stop requires leaders to apply a single, ruthless question to every meeting, process, initiative, reporting requirement, approval layer, and committee they currently operate: if we were designing this organisation today, knowing what we know, would we introduce this?</a:t>
            </a:r>
          </a:p>
          <a:p>
            <a:r>
              <a:t>If the answer is no (and in most organisations the honest answer for a significant proportion of current practices is no), then the next question is when and how to stop it.</a:t>
            </a:r>
          </a:p>
          <a:p>
            <a:r>
              <a:t>Organisations that sustain performance over long strategic cycles are distinguished by how precisely they select what they carry. Every unnecessary practice is wasteful in isolation, and it is also a claim on the organisational attention that should be available for the practices that matter.</a:t>
            </a:r>
          </a:p>
          <a:p>
            <a:r>
              <a:t>Every organisation carries the weight of practices that consume energy without commensurate value. Almost no organisation systematically removes it. Stop is neglected because stopping things is harder than starting them. Starting something new generates visible activity, apparent progress, and the social reward of initiative. Stopping something requires the acknowledgement that a previous decision was wrong, wasteful, or at least no longer relevant. It requires leaders to disappoint the people who benefit from the existing arrangement. It requires courage that is easy to defer. The organisations that sustain performance over long strategic cycles are the ones that are ruthless about what they carry. Every practice that should be stopped and is left in place becomes weight that slows every other initiative in the organisation.</a:t>
            </a:r>
          </a:p>
          <a:p>
            <a:r>
              <a:t>The discipline of Stop is an act of strategic care for the organisation’s most finite and most valuable resource: leadership attention.</a:t>
            </a:r>
          </a:p>
          <a:p/>
          <a:p>
            <a:r>
              <a:t>START, the leadership discipline of anticipation: Start asks leaders to answer a question that is genuinely difficult to sit with when current performance is strong: what is the organisation not yet capable of that future performance will require?</a:t>
            </a:r>
          </a:p>
          <a:p>
            <a:r>
              <a:t>This is uncomfortable precisely because strong current results create the social and psychological conditions in which it feels premature, even ungrateful, to be discussing insufficiency. The team is performing well. The strategy is delivering. The indicators are positive. Why introduce the anxiety of inadequacy into a high-performing environment?</a:t>
            </a:r>
          </a:p>
          <a:p>
            <a:r>
              <a:t>Because the environment is already changing. Because the capability that will be required six months from now needs to be built now, before it is required, if it is to be available when the need arrives. Because anticipatory investment is categorically less expensive than reactive remediation.</a:t>
            </a:r>
          </a:p>
          <a:p>
            <a:r>
              <a:t>Start requires leaders to examine three dimensions of organisational capability:</a:t>
            </a:r>
          </a:p>
          <a:p>
            <a:r>
              <a:t>- Emerging strategic requirements: what shifts in customer expectation, competitive positioning, or regulatory environment are beginning to emerge that will place new demands on the organisation’s capabilities?</a:t>
            </a:r>
          </a:p>
          <a:p>
            <a:r>
              <a:t>- Internal capability gaps: where is the organisation beginning to stretch beyond the capacity of its current systems, processes, or people in ways that are not yet crisis but will become so as ambition continues to grow?</a:t>
            </a:r>
          </a:p>
          <a:p>
            <a:r>
              <a:t>- Leadership development: which leaders in the organisation are being prepared to sustain performance at the next level of scale and complexity, and what is being invested in that development now?</a:t>
            </a:r>
          </a:p>
          <a:p>
            <a:r>
              <a:t>Start is the forward-facing dimension of KISS. It requires leaders to look beyond current performance and ask: what does the organisation need to develop, introduce, or build now, before the environment requires it, in order to sustain performance at the next level? Start is anticipatory. Sustaining performance requires that leaders are continuously investing in the capabilities, systems, and practices that future performance will depend on, even when current performance does not yet require them. The discipline of Start is the antidote to the complacency that strong current performance can produce. It is the leadership answer to the question that Performance Gravity asks of every high-performing organisation: what comes next, and are you ready for it?</a:t>
            </a:r>
          </a:p>
          <a:p>
            <a:r>
              <a:t>Start is the discipline that ensures the organisation is performing today and building the capability to perform tomorrow.</a:t>
            </a:r>
          </a:p>
          <a:p/>
          <a:p>
            <a:r>
              <a:t>The KISS performance rhythm: KISS operates as a monthly individual discipline and a quarterly team and enterprise discipline.</a:t>
            </a:r>
          </a:p>
          <a:p>
            <a:r>
              <a:t>Individual level: each leader applies KISS to their own domain at the close of each review cycle, naming one Keep, one Improve, one Stop, and one Start. Aspirational statements do not qualify.</a:t>
            </a:r>
          </a:p>
          <a:p>
            <a:r>
              <a:t>Team level: the leader consolidates individual KISS reflections into a Team KISS Profile: the shared practices being kept, the shared drift points being corrected, the shared weight being removed, and the shared capabilities being built.</a:t>
            </a:r>
          </a:p>
          <a:p>
            <a:r>
              <a:t>Enterprise level: the executive team conducts a quarterly review, a structured collective intelligence conversation that applies KISS across the full organisation. This is the S2R® Collective Intelligence Review of Section 4, and it is the sustained performance operating rhythm that the programme has been building toward.</a:t>
            </a:r>
          </a:p>
          <a:p/>
          <a:p>
            <a:r>
              <a:t>Why KISS is the right instrument for sustained performance: The KISS discipline requires four decisions: applied consistently, applied honestly, and applied at every level of the organisation in a cascading rhythm that converts individual learning into collective intelligence. It needs no new system, no new team, and no new strategy.</a:t>
            </a:r>
          </a:p>
          <a:p>
            <a:r>
              <a:t>This is precisely what makes it durable. The organisations that sustain performance over long cycles are the ones that build the simplest disciplines into the most consistent rhythms and maintain those rhythms when performance pressure would make it easy to abandon them. Sophisticated tools are not what sets them apart.</a:t>
            </a:r>
          </a:p>
          <a:p>
            <a:r>
              <a:t>KISS is the final discipline of the S2R® programme because it is the discipline that determines whether everything else the programme has built will be maintained, strengthened, and grown, or gradually dismantled by the quiet, relentless force of Performance Gravity.</a:t>
            </a:r>
          </a:p>
          <a:p/>
          <a:p>
            <a:r>
              <a:t>Professional insights:</a:t>
            </a:r>
          </a:p>
          <a:p/>
          <a:p>
            <a:r>
              <a:t>K · Keep: Before the environment applies its pressure, decide what must be preserved for the organisation to remain itself, and which commitments are open to negotiation.</a:t>
            </a:r>
          </a:p>
          <a:p>
            <a:r>
              <a:t>Source: Journal, 18 March 2026 — Professional Insights</a:t>
            </a:r>
          </a:p>
          <a:p/>
          <a:p>
            <a:r>
              <a:t>S · Stop: Leaders accumulate programmes built to reproduce past breakthroughs. Identify one that exists mainly because something like it succeeded before, check whether it still produces the original effect, and schedule its sunset if the case for keeping it is mostly nostalgia.</a:t>
            </a:r>
          </a:p>
          <a:p>
            <a:r>
              <a:t>Source: Journal, 6 May 2026 — Professional Insights: Leadership</a:t>
            </a:r>
          </a:p>
          <a:p/>
          <a:p>
            <a:r>
              <a:t>S · Start: The end of one source of revenue is the prompt to commit to the next before necessity forces a scramble. Build the transition while the old stream still trickles.</a:t>
            </a:r>
          </a:p>
          <a:p>
            <a:r>
              <a:t>Source: Journal, 13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the Five Forces Produce Performance Gravity When Unnavigated
The causal relationship between force movement and organisational performance decline — across industries, in daily execution, permanently.
Section learning outcomes:
1. Counter the internal and external forces that erode strategic coherence.
2. Diagnose which force is most active in their organisation.
FACILITATOR GUIDANCE — Intelligence
This section establishes the causal architecture that makes this unit distinctive. The argument is that performance is hard to sustain because forces are always moving — and the specific way each force moves produces a specific and predictable consequence when not navigated.
Work through each force slowly. For each one, ask participants to name a specific movement in their operating environment right now. The force categories are present and active in every organisation’s environment at this moment.
The causal table is the centrepiece of this section. After working through all five forces, return to it. Ask: “Which row describes your organisation’s most urgent navigation challenge right now?” The answer determines which part of Extrapolating deserves the most attention in their context.
Success Inertia is what happens when all five rows of the causal table are true simultaneously. It is the total navigation failure. Make this visceral: name organisations that experienced it. The pattern is always the same.</a:t>
            </a:r>
            <a:endParaRPr lang="en-US" dirty="0"/>
          </a:p>
          <a:p/>
          <a:p>
            <a:r>
              <a:t>Source detail (S2R® manuscript):</a:t>
            </a:r>
          </a:p>
          <a:p/>
          <a:p>
            <a:r>
              <a:t>Why sustaining performance requires a different discipline from achieving it.</a:t>
            </a:r>
          </a:p>
          <a:p/>
          <a:p>
            <a:r>
              <a:t>The fundamental shift, from finite to infinite: One of the most overlooked realities of organisational performance is that achieving results and sustaining results require entirely different leadership orientations.</a:t>
            </a:r>
          </a:p>
          <a:p>
            <a:r>
              <a:t>Achieving performance is a finite game. It has a target, a timeline, and a finish line. The discipline required is intensity: concentrated effort toward a defined outcome within a specific window of time. Leaders are energised by the clarity of the objective. Teams align around the urgency. Resources are focused. Progress is visible. When the target is reached, the game ends and success is declared.</a:t>
            </a:r>
          </a:p>
          <a:p>
            <a:r>
              <a:t>Sustaining performance is an infinite game. It has no finish line. There is no moment at which the organisation can declare permanent success and cease the disciplines that produced it. The objective is to remain capable of playing, at an increasingly high level, as the rules, the terrain, and the competition continuously change.</a:t>
            </a:r>
          </a:p>
          <a:p>
            <a:r>
              <a:t>The distinction is operational, with profound practical consequences. Leaders who approach sustaining performance with the orientation of achievers (who treat the quarterly review as a finish line when it is a checkpoint, who relax discipline after strong results, who declare the strategy complete once the targets are met) are applying the correct discipline to the wrong game.</a:t>
            </a:r>
          </a:p>
          <a:p>
            <a:r>
              <a:t>The discipline of sustaining performance rewards consistency: the unglamorous, unrewarded, structurally demanding practice of maintaining the standards and rhythms that produce results, because the organisation has decided that this is simply how it operates, whether or not it is under pressure. Intensity is not what this discipline rewards.</a:t>
            </a:r>
          </a:p>
          <a:p/>
          <a:p>
            <a:r>
              <a:t>The recalibrating environment: Organisations do not execute strategy in a static environment. At any given moment, the organisation is performing within a field of interacting forces: customer expectations, competitor behaviour, technology capability, regulatory conditions, supply dynamics, macroeconomic pressures, and internal culture. These forces evolve continuously and independently, yet their movements influence one another in ways that are difficult to predict and impossible to control.</a:t>
            </a:r>
          </a:p>
          <a:p>
            <a:r>
              <a:t>The consequence of this is both simple and profound: the definition of good performance is constantly being recalibrated by the environment itself.</a:t>
            </a:r>
          </a:p>
          <a:p>
            <a:r>
              <a:t>What delivers strong results today may deliver only average results in six months because the environment has moved, even where the organisation has done nothing wrong. The competitor has raised its capability. The customer has elevated their expectation. The regulatory framework has tightened. The technology that once provided an advantage has become a baseline requirement.</a:t>
            </a:r>
          </a:p>
          <a:p>
            <a:r>
              <a:t>Leaders who sustain performance are those who continuously examine whether the organisation remains calibrated to the environment in which it must perform. The environment in which it performed well belongs to the past.</a:t>
            </a:r>
          </a:p>
          <a:p>
            <a:r>
              <a:t>This requires a leadership discipline that most high-performing organisations do not develop during the period of achievement, because it is not necessary during that period. Strong results create their own momentum. The market is growing. The strategy is delivering. The team is energised. The organisation appears to be moving well.</a:t>
            </a:r>
          </a:p>
          <a:p>
            <a:r>
              <a:t>But the environment is already changing. And the discipline of reading those changes, of adjusting before adjustment becomes urgent, is the precise discipline that separates organisations that sustain performance from those that achieve it once and then spend years trying to recover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FIVE FORCES: CAUSAL ANALYSIS (Select each force to explore)
Content:
Each of the five force categories is a permanent feature of the environment in which every organisation operates. Competitive and disruptive forces are examined together because they produce the same mechanism. None can be managed away. None takes a break when performance is strong. Each produces a specific and predictable consequence when organisations stop navigating it.
Forces 1–2
Competitive + Disruptive
Force 3
Macro-Environmental
Force 4
Social + Environmental
Force 5
Internal
All Five
Success Inertia
Competitive + Disruptive Forces → Momentum Illusion
In daily execution, competitive and disruptive forces move quietly in the background of every commercial decision, every customer conversation, every quarterly review. A competitor repositions. A new entrant captures a segment the organisation considered low-value. A technology application begins solving the same customer problem in a different way — at lower cost, with greater convenience — at the margins of the market.
None of these movements appear as crises on the day they begin. They appear as gradual shifts: win rates that move slightly, customer acquisition costs that increase incrementally, renewal conversations that feel subtly different. Organisations navigating these forces read those signals in real time. Organisations that are not explain each shift as temporary noise — until the pattern is undeniable.
Daily Execution Signal
Gradual shifts in win rates, customer acquisition costs, and renewal conversations. Competitors responding faster to market changes. Customers referencing alternatives that did not exist in last year’s review.
Navigation Discipline
Continuous competitive monitoring embedded in the operational rhythm. The question in every commercial review is “what has moved in our competitive and disruptive landscape since we last looked — and does our approach still match the landscape as it is now?”
When unnavigated produces: Momentum Illusion. The organisation is running a playbook that once produced results in a competitive and disruptive landscape that has since moved. The results still appear acceptable. The playbook is already obsolete.
Macro-Environmental Forces → Complexity Creep
Macro-environmental forces — economic cycles, regulatory frameworks, political dynamics, and technological infrastructure — are experienced as the background conditions that constrain or enable every operational decision. These forces are often slow-moving, which makes them easy to discount. But their cumulative effect on the definition of good performance is enormous.
The characteristic danger of macro-environmental forces is accumulation. A regulation tightened three years ago, another two years ago, a third last year — none individually disruptive, together a fundamentally different operating constraint. The organisation has adapted to each change incrementally, building a structural response each time, without stepping back to examine the cumulative weight of all responses together.
Daily Execution Signal
Processes and governance layers that no one can explain the current purpose of. Approval requirements that pre-date three regulatory cycles. Budget structures built for economic conditions that no longer exist. Committees that were formed in response to a specific event and never dissolved.
Navigation Discipline
Quarterly macro-environmental scanning at the leadership level. The question is “which of our current structural responses was built for a macro condition that has now changed — and should therefore be stopped?”
When unnavigated produces: Complexity Creep. Old structural responses to old conditions accumulate permanently as organisational weight. The macro environment has changed. The structures have not.
Social + Environmental Forces → Legitimacy Erosion
Social and environmental forces operate simultaneously across every stakeholder relationship the organisation maintains. Customer expectations about how organisations behave, as well as what they produce, evolve continuously. Employee expectations about purpose, fairness, and leadership conduct shift generationally and in response to social events that have nothing to do with the organisation directly. Investor expectations about governance, environmental impact, and social accountability have moved from peripheral to central in most sectors.
The critical feature of these forces is that they operate through perception and legitimacy. An organisation can be operationally excellent and commercially strong while its legitimacy is eroding — because stakeholder expectations have moved and enterprise behaviour has not. The erosion is invisible in operational metrics until it surfaces as recruitment difficulty, customer advocacy decline, regulatory scrutiny, or investor concern.
Daily Execution Signal
Recruitment conversations where candidates ask questions about values and practices that were not asked three years ago. Customers raising expectations in account reviews that feel different from previous cycles. Investor questions about governance and disclosure that are more pointed than historical norms. Regulatory attention before any formal requirement changes.
Navigation Discipline
Continuous stakeholder intelligence that reads emerging expectations. Expectation leads formal demand by twelve to eighteen months in most sectors. The Start discipline of KISS is most directly activated here: what must the organisation begin building now in its practices, disclosures, governance, and enterprise behaviour before the expectation becomes a non-negotiable requirement?
When unnavigated produces: Legitimacy Erosion. Enterprise behaviour remains anchored to what once earned stakeholder approval while expectations have moved. By its own historical standards, the organisation is behaving well. It is simply no longer meeting the current standards of its stakeholder universe.
Internal Forces → Execution Regression
Every organisation has a cultural gravity — a set of norms, habits, assumptions, and enterprise behaviour patterns that have been reinforced over years or decades of operating history. This internal gravity exerts continuous force on every decision, every meeting, every performance conversation, every escalation. It pulls the organisation toward its historical pattern regardless of what the strategy says or what the leadership team has committed to.
Internal forces are unique among the five because they operate entirely within the organisation’s own boundaries. They cannot be read in a market report or a regulatory update. They must be read in the daily observable behaviour of the enterprise — in how decisions are actually made versus how the governance structure says they should be made, in what actually gets discussed in leadership forums versus what appears on the agenda, in which conversations happen in the room and which happen afterwards.
Daily Execution Signal
The gap between what the strategy says and what daily decisions, meetings, and enterprise behaviours actually reflect. Review conversations that feel operationally busy but strategically vague. Accountability standards applied unevenly. The language of strategic direction disappearing from operational discussions.
Navigation Discipline
Continuous reading of the internal force field through structured diagnostics — the Organisational Health Thermometer, the ACE-IT coaching model, and the KISS reflection applied as permanent executive operating disciplines. The question is “is the organisation’s daily enterprise behaviour matching the strategic direction, or are internal forces pulling it back toward the historical pattern?”
When unnavigated produces: Execution Regression — and uniquely amplifies all three other mechanisms simultaneously. An organisation whose internal forces are reasserting has no capacity to navigate external forces. It is fighting itself while fighting the environment at the same time.
All Five Unnavigated → Success Inertia
Success Inertia is the total navigation failure — the state in which all five force categories have moved and the organisation is still positioned for the environment that existed when its results were strong.
Success Inertia operates through a deeply human mechanism. When an approach produces strong results, the people who designed and executed it develop a natural conviction in its continued validity. The strategy worked. The processes delivered. The enterprise performed. Why would we change what is working?
This conviction is understandable and dangerous, because the environment that rewarded the approach has already changed. The organisation’s attachment to the approach that succeeded is precisely what prevents it from developing the approach that will succeed next.
Success Inertia is Performance Gravity applied to all five forces simultaneously. Competitive landscape moved — untracked. Macro conditions accumulated weight — unremoved. Stakeholder expectations evolved — unread. Internal behaviour patterns reasserted — unaddressed. And through all of it, the organisation continued to believe that what worked yesterday will sustain tomorrow.
Every organisation that has ever achieved something significant and then lost it followed this pattern. It lost through the quiet accumulation of five unnavigated force movements, each individually dismissible, collectively devastating.
Participant file (2.1 — The Five Forces: Causal Analysis) — prompts participants complete:
- ✎ Which force category is most actively moving in your operating environment right now? Force category How it is moving Gravity mechanism it produces Earliest evidence in daily execution</a:t>
            </a:r>
            <a:endParaRPr lang="en-US" dirty="0"/>
          </a:p>
          <a:p/>
          <a:p>
            <a:r>
              <a:t>Professional insights:</a:t>
            </a:r>
          </a:p>
          <a:p/>
          <a:p>
            <a:r>
              <a:t>Cosmetic continuity: Organisations often respond to decline by reproducing the appearance of what once worked without restoring the capability, discipline or substance that made it valuable. Symbols, reports and routines remain intact while quality deteriorates. Use this with Execution Regression and Success Inertia.</a:t>
            </a:r>
          </a:p>
          <a:p>
            <a:r>
              <a:t>Source: Journal, 18 July 2026 — Professional Insights: Strategy</a:t>
            </a:r>
          </a:p>
          <a:p/>
          <a:p>
            <a:r>
              <a:t>Speed and soundness: Organisations that draw their confidence from operating speed are one disruption away from a crisis they cannot outrun. Speed is an advantage; soundness is a requirement.</a:t>
            </a:r>
          </a:p>
          <a:p>
            <a:r>
              <a:t>Source: Journal, 18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CAUSAL MAP: FORCES PRODUCE PERFORMANCE GRAVITY
Content:
Force Movement | When Unnavigated Produces | Daily Execution Signal
Competitive + Disruptive forces shift | Momentum Illusion — the enterprise competes with a playbook the market has already moved past | Gradual win rate shifts, customer acquisition cost creep, renewal conversations that feel different
Macro-environmental forces accumulate | Complexity Creep — structural responses to old conditions accumulate permanently as organisational weight | Processes no one can justify, governance layers built for conditions that no longer exist
Social + Environmental forces evolve | Legitimacy Erosion — enterprise behaviour anchored to what once earned approval while expectations have moved | Recruitment difficulty, advocacy softening, investor questioning before any formal requirement changes
Internal forces reassert | Execution Regression — the organisation reverts to historical operating patterns, amplifying all other mechanisms | Gap between strategy and daily enterprise behaviour, accountability applied unevenly, strategic language disappearing from operations
All five unnavigated simultaneously | Success Inertia — total navigation failure. The organisation is positioned for an environment that no longer exists. | Results decline that leadership cannot explain because they have stopped reading the forces that explain it</a:t>
            </a:r>
            <a:endParaRPr lang="en-US" dirty="0"/>
          </a:p>
          <a:p/>
          <a:p>
            <a:r>
              <a:t>Source detail (S2R® manuscript):</a:t>
            </a:r>
          </a:p>
          <a:p/>
          <a:p>
            <a:r>
              <a:t>Success Inertia, the greatest risk to sustained performance: Failure is visible, urgent, and impossible to ignore. Leaders respond to failure. Teams mobilise around crises. The organisation produces extraordinary effort in response to extraordinary threat. Failure is therefore the lesser threat.</a:t>
            </a:r>
          </a:p>
          <a:p>
            <a:r>
              <a:t>The greatest threat to sustained performance is Success Inertia: the organisational belief that the formula that produced today’s win is the formula that will produce tomorrow’s survival.</a:t>
            </a:r>
          </a:p>
          <a:p>
            <a:r>
              <a:t>History is filled with organisations that performed brilliantly within a particular configuration of the environment and then could not adapt when the environment reconfigured. They were led by capable people who had learned, correctly, that the discipline that produced the original results was worth protecting. What they had not learned was the equally important discipline of knowing when that approach had passed its point of maximum value.</a:t>
            </a:r>
          </a:p>
          <a:p>
            <a:r>
              <a:t>Success Inertia is Performance Gravity in its most advanced form. It is the point at which the weight of past success becomes heavier than the pull of future possibility.</a:t>
            </a:r>
          </a:p>
          <a:p>
            <a:r>
              <a:t>The KISS discipline, and specifically the Stop and Start disciplines, is designed to interrupt Success Inertia before it calcifies into institutional resistance to change.</a:t>
            </a:r>
          </a:p>
          <a:p/>
          <a:p>
            <a:r>
              <a:t>Professional insights:</a:t>
            </a:r>
          </a:p>
          <a:p/>
          <a:p>
            <a:r>
              <a:t>Success Inertia: The most dangerous period for an organisation is a prolonged season of success, because that is when preparation for resilience is deprioritised.</a:t>
            </a:r>
          </a:p>
          <a:p>
            <a:r>
              <a:t>Source: Journal, 24 January 2026 — Professional Insights: Strategy</a:t>
            </a:r>
          </a:p>
          <a:p/>
          <a:p>
            <a:r>
              <a:t>After a near-miss: When a crisis eases, the common response is relief with no reform. After every close call, ask: what condition produced this, and have we changed it?</a:t>
            </a:r>
          </a:p>
          <a:p>
            <a:r>
              <a:t>Source: Journal, 30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The Collective Intelligence for Execution Discipline — ABCV — KISS Navigation Chain
Where force movements appear first across the enterprise, how to read what they mean for strategic position, and how to determine the navigation response.
Section learning outcomes:
1. Locate where force movements appear first across the enterprise.
2. Determine what each movement means for strategic position and the response it requires.
FACILITATOR GUIDANCE — Extrapolating
This section runs in three connected parts. The collective intelligence for execution discipline shows WHERE. ABCV shows HOW TO READ IT. KISS shows HOW TO RESPOND. These three are sequentially dependent — do not allow leaders to jump to KISS without completing the ABCV diagnostic. The quality of the KISS response is entirely dependent on the quality of the ABCV reading.
On the collective intelligence for execution discipline: Each row now shows the primary force category alongside the domain. Ask each leader to read their own row and identify which early warning signal is already present. If none are present, ask: “How confident are you that you would see the signal if it appeared?”
On ABCV: Participants encountered this in Unit 4 as the OKR stress-test. Make the elevation explicit: “In Unit 4, ABCV tested whether your strategic commitments were soundly built. Here it tests whether they still hold as forces move. Same instrument, elevated purpose.” For each ABCV card, ask leaders to apply the navigation question to the most significant force movement currently active in their environment.
On the Navigation Chain: The chain is the practical payoff of the entire unit. Walk through it once as a group using a real example from the room before the Application exercise.</a:t>
            </a:r>
            <a:endParaRPr lang="en-US" dirty="0"/>
          </a:p>
          <a:p/>
          <a:p>
            <a:r>
              <a:t>Source detail (S2R® manuscript):</a:t>
            </a:r>
          </a:p>
          <a:p/>
          <a:p>
            <a:r>
              <a:t>The section question: Where does Performance Gravity pull hardest across the enterprise?</a:t>
            </a:r>
          </a:p>
          <a:p>
            <a:r>
              <a:t>Performance drift rarely originates in a single place. It emerges simultaneously across multiple functions, each experiencing a different form of gravitational pull in their specific domain. Without a structured framework for reading these signals early, leadership teams respond to each instance of drift as a separate, isolated problem, when in reality they are often connected expressions of a single organisational dynamic.</a:t>
            </a:r>
          </a:p>
          <a:p>
            <a:r>
              <a:t>The executive team therefore operates as the collective intelligence for execution discipline: each CXO acting as the guardian of a specific execution stabiliser within their domain, monitoring for the early signals of Performance Gravity and applying the KISS discipline to restore and sustain performance before drift becomes deterioration.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PART 1 · THE COLLECTIVE INTELLIGENCE FOR EXECUTION DISCIPLINE (WHERE forces pull hardest · 10 leadership domains)
Content:
Force movements surface first in specific leadership domains — where the organisation’s interface with that force is closest. The collective intelligence for execution discipline maps each domain to its primary force category, its characteristic drift pattern, its early warning signals, and the ABCV navigation questions most relevant to that domain.
CEO
Strategic Coherence
Competitive + Disruptive
How Force Drift Emerges
The strategic narrative fragments. Business units interpret priorities differently. Initiatives proliferate without clear connection to strategic intent. Competitive movements are acknowledged but not integrated into the strategic direction.
Early Warning Signals
Different interpretations of priorities in leadership forums. Initiatives competing for attention without a clear hierarchy. The language of strategic direction disappearing from operational reviews.
ABCV Navigation Questions
A — Arena: Has the customer end-game we are competing for shifted? C — Competition: Are we tracking all alternatives the customer now has?
CFO
Capital Discipline
Macro-Environmental
How Force Drift Emerges
Resource allocation responds to historical spending and internal influence. Budget structures built for economic or regulatory conditions that have since changed remain unchanged.
Early Warning Signals
Strategic initiatives underfunded while legacy activities remain fully resourced. Financial reviews focused on variance alone. Budget conversations anchored to prior-year baselines.
ABCV Navigation Questions
B — Boundaries: Which of our financial structures was built for macro conditions that no longer apply? What must be stopped?
COO
Execution Cadence
Internal
How Force Drift Emerges
Operational rhythms weaken. Performance reviews become less rigorous. Escalation pathways slow. The enterprise behaviour patterns that sustained execution momentum revert to historical defaults.
Early Warning Signals
Review meetings shortened or postponed. Operational issues persisting across multiple cycles without resolution. Teams relying on ad hoc interventions. The gap between strategic intent and daily operational behaviour widening.
ABCV Navigation Questions
B — Boundaries: What internal enterprise behaviour pattern is constraining execution? V — Value Proposition: Is our operational capability still delivering the distinctive quality our value proposition requires?
CHRO
Organisational Health
Internal + Social
How Force Drift Emerges
Enterprise behaviour patterns — trust, clarity, accountability — erode as internal forces reassert. Simultaneously, employee expectations about how organisations should operate have shifted, creating a legitimacy gap.
Early Warning Signals
Reduced willingness to surface problems early. Increased friction in cross-functional settings. Health Thermometer scores declining. Recruitment conversations raising questions about enterprise culture that were not raised previously.
ABCV Navigation Questions
V — Value Proposition: Does our employee experience still reflect the enterprise we claim to be? B — Boundaries: Which cultural constraints are we no longer operating within?
CTO / CIO
Technology Enablement
Macro-Environmental + Disruptive
How Force Drift Emerges
Technology investments fall out of alignment with operational and strategic needs. Disruptive technology applications emerge in adjacent sectors and are not systematically tracked. Macro-level technological infrastructure evolves and creates new possibilities the organisation has not assessed.
Early Warning Signals
Teams creating manual workarounds. Fragmented data systems slowing decision-making. Technology roadmaps diverging from strategic priorities. Competitor technology capability advancing faster than the organisation’s.
ABCV Navigation Questions
C — Competition: What technology-based alternatives are emerging that our customers might choose? B — Boundaries: Which technology constraints are now limiting execution in ways the infrastructure no longer justifies?
CMO
Market Intelligence
Competitive + Disruptive + Social
How Force Drift Emerges
Depth of customer intelligence declines as attention turns inward. Marketing activity continues but increasingly reflects who the customer was. Disruptive forces at the market margins are not tracked.
Early Warning Signals
Customer satisfaction metrics declining subtly before visibly. Product or service adjustments lagging behind shifting expectations. Competitors responding faster to market changes. Commercial teams reporting customer conversations that reveal misalignment.
ABCV Navigation Questions
A — Arena: Has the customer end-game we are competing for shifted? What is the customer actually trying to achieve now? C — Competition: Who else is solving this problem — including alternatives that look nothing like us?
CCO
Revenue Conversion
Competitive + Internal
How Force Drift Emerges
The connection between market opportunity and revenue conversion weakens. Commercial enterprise behaviour softens as pipeline appears healthy. Internal habits around pipeline discipline revert to less rigorous defaults.
Early Warning Signals
Pipeline growth without proportional revenue. Declining win rates. Increasing sales cycle duration. Commercial teams explaining performance through external factors alone.
ABCV Navigation Questions
C — Competition: What specific advantage do we hold over every alternative the customer is now considering? V — Value Proposition: Are we winning on our distinctive edge or on price — and what does that reveal?
CPO
Supply Resilience
Macro-Environmental + Social
How Force Drift Emerges
Procurement decisions prioritise short-term cost reduction over strategic partnership and supply resilience. Social and environmental expectations of major customers and investors regarding supply chain practices have evolved and are not being tracked.
Early Warning Signals
Supplier reliability declining. Cost volatility increasing. Customers and investors raising supply chain questions that were not previously part of commercial or governance conversations.
ABCV Navigation Questions
B — Boundaries: What supply chain constraints have the macro environment and social expectations introduced that our procurement model has not yet addressed?
CRO
Risk Intelligence
Social + Environmental
How Force Drift Emerges
Stakeholder expectations about risk transparency, accountability, and proactive governance have evolved significantly. The organisation’s risk management approach remains anchored to the compliance expectations of a prior stakeholder environment.
Early Warning Signals
Increasing operational surprises not anticipated by risk registers. Risk conversations that are reactive. Investors, regulators, and other stakeholders raising risk questions that the governance process does not yet address.
ABCV Navigation Questions
V — Value Proposition: Does our risk governance reflect the enterprise integrity our stakeholders now expect? A — Arena: Which stakeholder groups’ expectations of us have moved beyond what our current risk approach is designed to address?
CSO
Strategy Translation
All Five
How Force Drift Emerges
Strategic intent remains clear at the executive level but its translation into daily operational direction becomes uneven as all five forces move simultaneously and the strategy is not recalibrated in response.
Early Warning Signals
Teams struggling to connect operational priorities to strategic direction. OKRs drifting from strategic objectives. Execution conversations operationally busy but strategically vague. The enterprise operating from last year’s strategic map.
ABCV Navigation Questions
Full ABCV diagnostic: A (Arena shifted?), B (Boundaries tightened?), C (Competition reshaped?), V (Value Proposition eroding?) — all four questions apply when force movements accumulate across the enterprise.
Participant file (3.1 — Part 1 · The Collective Intelligence for Execution Discipline) — prompts participants complete:
- ✎ Your domain ABCV question Early warning signal present Force producing it ABCV question it challenges</a:t>
            </a:r>
            <a:endParaRPr lang="en-US" dirty="0"/>
          </a:p>
          <a:p/>
          <a:p>
            <a:r>
              <a:t>Source detail (S2R® manuscript):</a:t>
            </a:r>
          </a:p>
          <a:p/>
          <a:p>
            <a:r>
              <a:t>For each executive role: the specific gravitational pull it faces, further detail on how drift typically emerges and on the early warning signals, and the KISS response that restores sustained performance. Drift detail and signals already listed above are left out here. Where a zone is named Leadership Drift, read it as Execution Regression showing in leadership behaviour.</a:t>
            </a:r>
          </a:p>
          <a:p/>
          <a:p>
            <a:r>
              <a:t>CEO · Strategic Coherence. Performance Gravity zone: Momentum Illusion at the enterprise level; the organisation mistakes past strategic wins for ongoing strategic fitness. Further drift detail: the strategic narrative begins to fragment quietly, and executive conversations revisit fundamental direction questions that should have been settled. Further signal: teams emphasise activity over strategic outcomes.</a:t>
            </a:r>
          </a:p>
          <a:p>
            <a:r>
              <a:t>KISS response: Keep the strategic narrative visible and consistently anchored. Improve communication clarity where interpretation is diverging. Stop initiatives that cannot be clearly connected to strategic intent. Start regular enterprise-wide strategic alignment conversations.</a:t>
            </a:r>
          </a:p>
          <a:p/>
          <a:p>
            <a:r>
              <a:t>CFO · Capital Discipline. Performance Gravity zone: Complexity Creep in resource allocation; budget structures begin reflecting historical spending and internal influence ahead of strategic priorities. Further drift detail: resource allocation responds to legacy commitments and operational pressure ahead of forward-looking strategic investment. Strategic initiatives struggle for funding while established cost centres continue to be fully funded without scrutiny. Financial reviews focus on variance management and lose sight of strategic alignment. Further signals: budget conversations focus on cost containment and neglect strategic investment. Financial discipline becomes reactive and stops being anticipatory.</a:t>
            </a:r>
          </a:p>
          <a:p>
            <a:r>
              <a:t>KISS response: Keep the discipline of connecting every resource allocation decision to strategic priority. Improve the rigour of zero-based reviews for legacy cost structures. Stop funding activities that cannot demonstrate strategic contribution. Start forward investment in capabilities that future performance will require.</a:t>
            </a:r>
          </a:p>
          <a:p/>
          <a:p>
            <a:r>
              <a:t>COO · Execution Cadence. Performance Gravity zone: Leadership Drift in operational discipline; the rigour of execution routines begins to soften as performance appears stable. Further drift detail: issues are addressed reactively, outside structured systems. The weekly rhythm that once maintained execution momentum becomes a reporting exercise and stops working as a decision mechanism. Further signals: the ad hoc interventions teams rely on take the place of structured escalation. Response times on cross-functional requests lengthen.</a:t>
            </a:r>
          </a:p>
          <a:p>
            <a:r>
              <a:t>KISS response: Keep the discipline of the execution review rhythm and protect it explicitly from schedule pressure. Improve escalation protocols where resolution times have lengthened. Stop meetings that have become reporting rituals without decision output. Start structured early-warning reviews that detect operational drift before it becomes operational failure.</a:t>
            </a:r>
          </a:p>
          <a:p/>
          <a:p>
            <a:r>
              <a:t>CHRO · Organisational Health. Performance Gravity zone: Leadership Drift at the behavioural level; the standards of trust, accountability, and psychological safety that the organisation built begin to soften. Further drift detail: interpersonal friction increases subtly. Leaders become less direct in performance conversations. Accountability standards are applied unevenly. Teams begin protecting information and stop sharing it. The candour that characterised high-performing periods gives way to diplomatic management of impressions. Further signals: performance conversations becoming less direct. Health Thermometer scores declining on the Minimal Politics and High Morale traits.</a:t>
            </a:r>
          </a:p>
          <a:p>
            <a:r>
              <a:t>KISS response: Keep the behavioural standards of trust, accountability, and psychological safety explicitly visible. Improve the directness and frequency of leadership performance conversations. Stop tolerating political behaviour or selective accountability at any seniority level. Start active reinforcement of ACE-IT behaviours as a visible leadership practice, more than a programme artefact.</a:t>
            </a:r>
          </a:p>
          <a:p/>
          <a:p>
            <a:r>
              <a:t>CTO / CIO · Technology Enablement. Performance Gravity zone: Complexity Creep in technology; systems that once accelerated execution become bureaucratic infrastructure that slows it. Further drift detail: new systems are added without removing old ones. Integration gaps between platforms create manual workarounds. The technology architecture becomes a record of accumulated decisions and stops being a coherent enabler of current strategy. Further signal: leaders spend increasing time reconciling data from multiple systems, leaving less time to act on it.</a:t>
            </a:r>
          </a:p>
          <a:p>
            <a:r>
              <a:t>KISS response: Keep the systems and platforms that are genuinely accelerating decision-making and execution. Improve the integration between systems where manual reconciliation has become routine. Stop maintaining legacy systems that are consuming resource without strategic contribution. Start investment in the technology capabilities that next-phase strategy will require.</a:t>
            </a:r>
          </a:p>
          <a:p/>
          <a:p>
            <a:r>
              <a:t>CMO · Market Intelligence. Performance Gravity zone: Momentum Illusion in customer insight; the organisation mistakes historical market knowledge for current market understanding. Further drift detail: the organisation directs attention inward toward execution, and marketing activities increasingly reflect what the organisation knows about yesterday’s customer while what the customer requires today goes unread. Competitors begin responding faster to market shifts because they are reading signals the organisation has stopped monitoring. Further signals: competitor responsiveness to market changes accelerates relative to the organisation’s. The misalignment commercial teams report is between the organisation’s offer and current market needs.</a:t>
            </a:r>
          </a:p>
          <a:p>
            <a:r>
              <a:t>KISS response: Keep the customer intelligence loops and market sensing disciplines that produced commercial insight during the programme. Improve the frequency and depth of customer feedback integration into strategic decisions. Stop relying on historical customer data as a proxy for current customer intelligence. Start systematic competitive monitoring and regular market recalibration conversations at the executive level.</a:t>
            </a:r>
          </a:p>
          <a:p/>
          <a:p>
            <a:r>
              <a:t>CCO · Revenue Conversion. Performance Gravity zone: Leadership Drift in commercial discipline; sales rigour softens as pipeline appears healthy and recent wins create confidence. Further drift detail: sales activity remains visible but conversion efficiency declines. Pipeline management becomes less structured. Customer engagement quality drops as teams manage volume and neglect relationship depth. Win rates decline before revenue figures reveal the underlying pattern. Further signals: declining win rates on competitive opportunities. Commercial teams reporting increased customer price sensitivity, which is often a signal that value proposition communication has weakened while price itself has not genuinely changed.</a:t>
            </a:r>
          </a:p>
          <a:p>
            <a:r>
              <a:t>KISS response: Keep the commercial disciplines of structured pipeline management and rigorous customer engagement. Improve the quality of value proposition communication where win rates are declining. Stop accepting pipeline volume as a proxy for commercial health: scrutinise conversion at each stage. Start systematic post-loss analysis to understand why opportunities are being lost before the pattern becomes a trend.</a:t>
            </a:r>
          </a:p>
          <a:p/>
          <a:p>
            <a:r>
              <a:t>CPO · Supply Resilience. Performance Gravity zone: Complexity Creep in procurement; the accumulation of supplier relationships, procurement processes, and cost-reduction targets begins to undermine long-term supply resilience. Further drift detail: the priority given to short-term cost reduction also comes at the expense of operational continuity. The supplier base becomes fragmented. Critical dependencies develop without visibility. Procurement becomes a cost management function and stops acting as a strategic enabler of execution. Further signals: critical supply concentrations develop without leadership awareness. Procurement conversations focus narrowly on price at the expense of strategic value, resilience, and partnership quality.</a:t>
            </a:r>
          </a:p>
          <a:p>
            <a:r>
              <a:t>KISS response: Keep strategic supplier relationships that provide resilience, capability, and long-term value beyond unit cost. Improve visibility of supply chain concentrations and dependency risks before they become operational disruptions. Stop procurement decisions driven purely by short-term cost optimisation without resilience assessment. Start strategic sourcing conversations that position procurement as a competitive advantage, beyond its cost management function.</a:t>
            </a:r>
          </a:p>
          <a:p/>
          <a:p>
            <a:r>
              <a:t>CRO · Risk Intelligence. Performance Gravity zone: Success Inertia in risk management; the organisation’s strong performance reduces leadership urgency around risk identification and mitigation. Further drift detail: emerging risks are acknowledged in risk registers and stay outside executive decision-making. Risk conversations become compliance exercises. The discipline of proactive risk identification weakens as recent operational success reduces the emotional salience of potential threats. Leaders make decisions with less risk scrutiny than the environment warrants. Further signals: risk registers that exist and are maintained without visibly informing strategic choices. Executive decisions made without explicit risk assessment.</a:t>
            </a:r>
          </a:p>
          <a:p>
            <a:r>
              <a:t>KISS response: Keep the discipline of integrating risk intelligence into every major strategic and operational decision. Improve the connection between the risk register and the executive decision-making agenda. Stop treating risk management as a governance requirement separate from strategic leadership. Start proactive scenario conversations that examine what could go wrong with current performance assumptions before the environment proves them wrong.</a:t>
            </a:r>
          </a:p>
          <a:p/>
          <a:p>
            <a:r>
              <a:t>CSO · Strategy Translation. Performance Gravity zone: Leadership Drift in strategy-to-execution alignment; the bridge between strategic intent and operational execution weakens as the organisation becomes busy with delivery. Further drift detail: the narrative that connected individual effort to organisational direction, which was vivid during the programme, fades as the pressure of execution absorbs the space for strategic reflection. Further signals: OKRs begin to feel like performance management targets and lose their standing as strategic commitments. Execution conversations focus on activity over strategic outcome.</a:t>
            </a:r>
          </a:p>
          <a:p>
            <a:r>
              <a:t>KISS response: Keep the discipline of connecting every operational priority explicitly to strategic intent. Improve the translation quality of strategy into OKRs and KPIs where the connection has become vague. Stop allowing operational reviews to become activity-reporting sessions without strategic context. Start regular strategy translation conversations that reconnect operational execution to strategic direction at every level of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PART 2 · ABCV AS THE NAVIGATION DIAGNOSTIC (HOW TO READ what force movement means for strategic position)
Content:
When the leadership team, acting as the collective intelligence for execution discipline, detects force movement in any domain, the ABCV framework provides the diagnostic instrument that reveals what that movement means for the organisation’s strategic position. Introduced in this programme as the OKR integrity stress-test, ABCV reaches its full strategic purpose here: four diagnostic questions applied to any detected force movement, each with a Must-Be-True condition that identifies the precise moment a navigation response is required.
For each force movement detected: run the four ABCV navigation questions. When a MBT condition can no longer be confirmed as true — that is the navigation signal. That is when KISS is activated.
Arena
The Customer End-Game
Navigation Question
Has this force shifted the customer end-game we are competing for? Are we still solving the right problem for the right stakeholders in the right way?
Strategic Logic
Strategy starts with a clear definition of the arena — the specific customer need the organisation is competing to serve. Force movements — competitive, disruptive, and social — threaten execution and fundamentally shift the arena itself. The customer’s problem evolves. The job they need done changes. The context in which they experience your solution is different from the context in which it was designed.
Must-Be-True Condition
What must remain true about the relevance of the customer problem we are solving for our current approach to remain the right approach?
When Not Examined
When Competitive or Disruptive forces move and Arena is not re-examined: the organisation continues serving a problem the customer has either solved another way, deprioritised, or reframed entirely. Revenue can be temporarily maintained through relationship inertia while the Arena has already shifted away.
Boundaries
The Friction Architecture
Navigation Question
Has this force created new operational, regulatory, or cultural constraints on our ability to deliver? Are we operating within boundaries that the current environment no longer imposes — or failing to recognise boundaries that it does?
Strategic Logic
Boundaries are the internal and external constraints within which the organisation must operate. Macro-environmental forces move these boundaries continuously — regulations tighten, economic conditions shift, technology changes what is operationally possible. Internal forces also create boundaries through cultural habits and enterprise behaviour patterns that constrain what people are actually willing to do, regardless of what the strategy says.
Must-Be-True Condition
What must remain true about our operational and regulatory environment for our current delivery model to continue functioning within tolerance?
When Not Examined
When Macro-environmental or Internal forces move and Boundaries are not re-examined: the organisation continues operating within self-imposed constraints that the current environment does not require — or fails to recognise new constraints the environment has introduced. Complexity Creep is the result of boundaries accumulated and never reviewed.
Competition
The True Landscape
Navigation Question
Has this force changed who we are actually competing against — including alternatives the customer now has that did not previously exist?
Strategic Logic
Competition is defined by the customer’s choice set. When Competitive and Disruptive forces move, the set of alternatives available to the customer changes. New entrants solve the same problem differently. Technology creates self-service alternatives. Adjacent competitors develop capability that makes them viable for previously loyal customers. The organisation that defines competition by reference to historical peers misses the force movements that matter most.
Must-Be-True Condition
What must remain true about our specific advantage relative to every alternative the customer could now choose?
When Not Examined
When Competitive or Disruptive forces move and Competition is not re-examined: the organisation maintains advantage over competitors it knows while losing ground to competitors it is not watching. Win rate shifts are explained by execution, and the fundamental change in the competitive landscape goes unexamined.
Value Proposition
Coherent Advantage
Navigation Question
Has this force changed whether our distinctive advantage still holds — or is what differentiated us becoming the new baseline?
Strategic Logic
The Value Proposition is the distinctive edge that defines the organisation’s position. Social and Environmental forces move this constantly — what was distinctive practice becomes expected standard. What earned trust in one stakeholder environment fails to earn it in the next. Internal forces erode value proposition coherence when enterprise behaviour drifts away from the standards that made the proposition credible. The organisation that mistakes its current value proposition for a permanent advantage is already in the early stages of Legitimacy Erosion.
Must-Be-True Condition
What must remain true about the distinctiveness of our advantage for our current positioning to remain credible to the stakeholders whose choice sustains our performance?
When Not Examined
When Social, Environmental, or Internal forces move and Value Proposition is not re-examined: the organisation continues investing in maintaining a distinction that stakeholders no longer perceive as distinctive. Legitimacy Erosion is the consequence. The cost is visible only when the erosion has already compounded to a level that is expensive to reverse.
Participant file (3.2 — Part 2 · ABCV as the Navigation Diagnostic) — prompts participants complete:
- ✎ Apply ABCV to the most significant force movement currently active in your environment Force moving A — Arena (end-game still the same?) B — Boundaries (constraints changed?) C — Competition (alternative set changed?) V — Value Proposition (edge still holding?) MBT condition most under threat</a:t>
            </a:r>
            <a:endParaRPr lang="en-US" dirty="0"/>
          </a:p>
          <a:p/>
          <a:p>
            <a:r>
              <a:t>Professional insights:</a:t>
            </a:r>
          </a:p>
          <a:p/>
          <a:p>
            <a:r>
              <a:t>Inherited assumptions: Leaders become blockers of growth when they treat inherited assumptions as permanent truth. Recognise when evidence or context is challenging an old boundary. Use this with Step 3 of the navigation chain.</a:t>
            </a:r>
          </a:p>
          <a:p>
            <a:r>
              <a:t>Source: Journal, 26 July 2026 — Professional Insights: Leadership</a:t>
            </a:r>
          </a:p>
          <a:p/>
          <a:p>
            <a:r>
              <a:t>V · Is the edge still holding?: Strong cash positions, market share, brands or technology can come to be treated as guarantees of future relevance. Ask: what are we assuming these assets will continue to do for us?</a:t>
            </a:r>
          </a:p>
          <a:p>
            <a:r>
              <a:t>Source: Journal, 30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PART 3 · THE NAVIGATION CHAIN (HOW TO RESPOND · Forces → ABCV → KISS)
Content:
The navigation chain closes the loop from force detection to leadership response. It is the operational logic that leaders carry into every quarterly review, every performance conversation, every strategic decision.
1
Detect the Force Movement
The leadership team, acting as the collective intelligence for execution discipline, identifies where force movements are appearing first. Which domain? Which primary force? Which early warning signal has appeared?
↓
2
Run the ABCV Diagnostic
Apply the four navigation questions to the detected force movement. Which MBT condition is under threat? Arena, Boundaries, Competition, or Value Proposition?
↓
3
Identify the Invalidated Assumption
The MBT condition that can no longer be confirmed as true is the precise strategic assumption the force movement has invalidated. This is what the navigation response must address.
↓
4
Activate KISS
The KISS discipline that responds to each ABCV finding:
ABCV Finding | MBT Condition Invalidated | KISS Response
Arena shifted | Customer end-game no longer matches current approach | Start capability for the new end-game. Stop investment optimised for the old one. Improve market intelligence rhythm.
Boundaries tightened or loosened | Operating environment no longer matches structural response | Stop structures built for conditions that no longer apply. Improve practices now constrained by new boundaries. Start building for the new constraint environment.
Competition reshaped | Distinctive advantage no longer holds against full alternative set | Keep what sustains genuine differentiation. Start building advantage relevant to the new competitive landscape. Improve competitive intelligence rhythm.
Value Proposition eroding | Distinctive edge no longer perceived as distinctive by stakeholders | Improve what is drifting from the distinctive standard. Stop what is diluting distinctiveness. Start the repositioning the new stakeholder expectation requires.
This chain is a permanent navigation logic applicable in any industry, in any quarterly review, by any leadership team that wants to understand why their performance is sustaining or declining — and what precisely to do about it.
Guidance (Section 3): Walk through the chain once as a group using a real example from the room before the Application exercise.</a:t>
            </a:r>
            <a:endParaRPr lang="en-US" dirty="0"/>
          </a:p>
          <a:p/>
          <a:p>
            <a:r>
              <a:t>Professional insights:</a:t>
            </a:r>
          </a:p>
          <a:p/>
          <a:p>
            <a:r>
              <a:t>Fixed and adaptable: Sound strategy identifies what must remain fixed (purpose, values and direction) while allowing responses to circumstances to adapt. Uncertainty should not automatically produce frantic activity.</a:t>
            </a:r>
          </a:p>
          <a:p>
            <a:r>
              <a:t>Source: Journal, 20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The S2R® Collective Intelligence Review
The four navigation instruments operating as a single quarterly collective discipline — detecting force movements across the enterprise and coordinating the navigation response before Performance Gravity takes hold.
Section learning outcomes:
1. Establish a collective leadership rhythm for detecting and responding to force movements.
2. Coordinate the enterprise response to evolving conditions.
FACILITATOR GUIDANCE — Integration
Frame the Collective Intelligence Review explicitly as a navigation operating rhythm. It exists because no individual leader can read all five forces across all ten domains. The Review is the mechanism through which the enterprise develops collective force awareness — the shared, real-time understanding of which forces are moving, which strategic assumptions they are invalidating, and which KISS responses are required.
The quarterly commitment is the output of this section. Before leaving the Integration section, the group should name a date, a lead for each of the four conversations, and a format for capturing and acting on the output. If no date is named, the Review will not happen.
The four instruments are in the notes of the next slide.</a:t>
            </a:r>
            <a:endParaRPr lang="en-US" dirty="0"/>
          </a:p>
          <a:p/>
          <a:p>
            <a:r>
              <a:t>Source detail (S2R® manuscript):</a:t>
            </a:r>
          </a:p>
          <a:p/>
          <a:p>
            <a:r>
              <a:t>The Review as a leadership discipline: Throughout this programme, you have built four diagnostic instruments: the ESRG Scanner, the Enterprise COMPASS, the Organisational Health Thermometer, and now the KISS discipline. Each was introduced within a specific unit to address a specific dimension of execution.</a:t>
            </a:r>
          </a:p>
          <a:p>
            <a:r>
              <a:t>At the summit of the DIG Framework, these tools form a single integrated operating rhythm: a structured quarterly conversation that the executive team runs together to detect drift early, maintain alignment, reinforce execution discipline, and sustain organisational performance across strategic cycles. This is the S2R® Collective Intelligence Review.</a:t>
            </a:r>
          </a:p>
          <a:p>
            <a:r>
              <a:t>It is a collective intelligence conversation, with no reporting and no performance presentation: the discipline through which the executive team develops, shares, and acts on the accumulated insight of the full organisation’s execution experience.</a:t>
            </a:r>
          </a:p>
          <a:p>
            <a:r>
              <a:t>When conducted consistently, the Review produces what no individual function can produce alone: a shared, real-time understanding of where the organisation is strong, where it is drifting, and what specific leadership action is required to maintain the performance trajectory.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S2R® COLLECTIVE INTELLIGENCE REVIEW (select each instrument in the file)
Content:
The four navigation instruments are most powerful when used together in a structured quarterly conversation. Individually, each surfaces a part of the force environment. Together, they produce a complete picture of where forces are moving, which strategic assumptions are under threat, and what navigation responses are required across the enterprise. Select each instrument to understand its navigation role.
ESRG Scanner
Led by: COO, CTO/CIO, CHRO, CFO · Purpose: Diagnose the Operating Conditions
Evaluates whether the organisation’s Environment, Systems, Resources, and Governance conditions are enabling or constraining strategic delivery. In the navigation context, the ESRG Scanner surfaces the structural consequences of Macro-environmental and Internal force movements — the Complexity Creep and Execution Regression that has accumulated since the last review.
Navigation Questions for This Review
Which of our current structural conditions was built for a force environment that has since changed?
Where is Complexity Creep most visible in our current operational architecture?
Which governance constraints are now slowing execution beyond what the current environment requires?
Enterprise COMPASS
Led by: CEO, CSO · Purpose: Align the Enterprise
Evaluates alignment across seven critical execution zones. In the navigation context, the COMPASS assessment reveals where force movements have created divergence between strategic intent and operational reality — where the enterprise is moving in different directions because different parts are responding to different signals from the same forces.
Navigation Questions for This Review
Where is strategic direction being interpreted differently across the enterprise?
Which execution zone is showing the greatest gap between strategic intent and operational behaviour?
Where is the force movement creating the most significant strategic misalignment?
KISS Reflection
Led by: All leaders for their respective domains · Purpose: Reinforce the Navigation Discipline
Each leader shares the KISS reflection from their domain: what is being Kept, Improved, Stopped, and Started. In the navigation context, the KISS reflection reveals the collective navigation posture of the enterprise — where the organisation is actively navigating forces and where it is not. The patterns across multiple KISS reflections reveal which forces are being tracked and which are being ignored.
Navigation Questions for This Review
Which force movement is producing the most STOP decisions across domains?
Where are the most urgent START investments appearing?
Which domain has the most Improve signals — and which force is producing them?
Organisational Health Thermometer
Led by: CHRO, CEO · Purpose: Monitor the Behavioural Climate
Reviews organisational health signals emerging across teams. In the navigation context, the Health Thermometer reads the internal force environment — detecting Execution Regression before it becomes fully established. Declining health scores are the earliest available signal that internal forces are reasserting.
Navigation Questions for This Review
Which of the five health traits is declining — and which internal force movement is driving it?
Where is the gap between the enterprise behaviour the strategy requires and the enterprise behaviour the Health Thermometer is detecting?
Which ACE-IT guardrail is most urgently needed to stabilise the internal force environment?
When the S2R® Collective Intelligence Review is conducted consistently, the leadership team develops collective navigation intelligence — the shared, real-time awareness of which forces are active, which MBT conditions are under threat, and which KISS responses are required to sustain performance. This is the enterprise-level capability that separates organisations that sustain performance from those that achieve it once.
Guidance (Section 4): The quarterly commitment is the output of this section. Before leaving the Integration section, the group should name a date, a lead for each of the four conversations, and a format for capturing and acting on the output. If no date is named, the Review will not happen.</a:t>
            </a:r>
            <a:endParaRPr lang="en-US" dirty="0"/>
          </a:p>
          <a:p/>
          <a:p>
            <a:r>
              <a:t>Source detail (S2R® manuscript):</a:t>
            </a:r>
          </a:p>
          <a:p/>
          <a:p>
            <a:r>
              <a:t>Four conversations in sequence, with the key questions for each:</a:t>
            </a:r>
          </a:p>
          <a:p/>
          <a:p>
            <a:r>
              <a:t>Conversation 1, Diagnose the Operating Conditions (ESRG Scanner; the COO leads, supported by the CTO/CIO, CHRO and CFO): The executive team begins by examining the operating conditions against the delivery of key strategic outcomes. This conversation surfaces structural bottlenecks that are not visible within individual functions. A resource constraint that appears manageable within one team may be creating capacity strain across three. A governance gap that one leader has worked around may be creating decision delays that are slowing the entire enterprise. The ESRG Scanner gives the leadership team a shared view of the structural conditions supporting execution.</a:t>
            </a:r>
          </a:p>
          <a:p>
            <a:r>
              <a:t>Key questions: Is the physical and behavioural environment enabling the collaboration and clarity that execution requires? Are systems allowing work, data, and decisions to move smoothly across the organisation? Do teams have the capability, capacity, and sustainability required to deliver the strategy? Are decision rights clear, review forums functioning as decision mechanisms, and accountability standards applied consistently?</a:t>
            </a:r>
          </a:p>
          <a:p/>
          <a:p>
            <a:r>
              <a:t>Conversation 2, Align the Enterprise (Enterprise COMPASS; the CEO leads, supported by the CSO): The leadership team evaluates whether the organisation remains aligned across the seven critical execution zones: Clarity of Direction, Organisational Alignment, Management Discipline, People &amp; Capability, Allocation of Resources, Sensing &amp; Adaptation, and Systems &amp; Execution. This conversation reveals whether different parts of the organisation are interpreting strategy in the same way, or whether misalignment is beginning to emerge between levels, between functions, or between strategic intent and operational reality.</a:t>
            </a:r>
          </a:p>
          <a:p>
            <a:r>
              <a:t>Key questions: Are leaders at every level describing strategic priorities in consistent language? Are the seven execution zones strengthening, stable, or showing signs of deterioration? Where is the organisation’s execution maturity advancing, and where is it at risk of regressing?</a:t>
            </a:r>
          </a:p>
          <a:p/>
          <a:p>
            <a:r>
              <a:t>Conversation 3, Apply the KISS Discipline (KISS Reflection; each CXO leads for their domain): This conversation converts individual functional experience into collective enterprise learning. A practice that one function has discovered to be highly effective may be transferable to three others. A drift pattern that one leader has identified in their team may be emerging across the organisation. A Stop decision that one executive has taken may release capacity that another is struggling to find.</a:t>
            </a:r>
          </a:p>
          <a:p>
            <a:r>
              <a:t>The value of this conversation lies in the patterns that emerge when multiple KISS reflections are examined together, more than in the individual KISS statements. Those patterns reveal where Performance Gravity is pulling, where the organisation is building fitness, and what leadership attention is most urgently required.</a:t>
            </a:r>
          </a:p>
          <a:p/>
          <a:p>
            <a:r>
              <a:t>Conversation 4, Monitor the Behavioural Climate (Organisational Health Thermometer; the CHRO leads, supported by the CEO): Health Thermometer readings from different parts of the organisation are shared and compared. Patterns of variance are examined. Where early warning signals appear, leaders apply the ACE-IT behavioural guardrails (Accountability, Commitment, Engagement, Integrity, Transparency) to stabilise the environment and restore healthy execution conditions.</a:t>
            </a:r>
          </a:p>
          <a:p>
            <a:r>
              <a:t>This conversation ensures that the Review examines structural and strategic conditions and also actively monitors the behavioural climate in which execution occurs. Because organisational health is the multiplier of every other system in the programme, its deterioration, even gradual, even localised, reduces the effectiveness of every other discipline the organisation has built.</a:t>
            </a:r>
          </a:p>
          <a:p/>
          <a:p>
            <a:r>
              <a:t>Integrated tool reference (what each tool examines and why it matters):</a:t>
            </a:r>
          </a:p>
          <a:p>
            <a:r>
              <a:t>ESRG Scanner: examines whether the execution environment (Environment, Systems, Resources, Governance) enables or constrains strategic delivery. It matters because strategy often falters when the operating conditions cannot support delivery, even where the intent is sound.</a:t>
            </a:r>
          </a:p>
          <a:p>
            <a:r>
              <a:t>Enterprise COMPASS: examines whether the organisation remains aligned across seven critical execution zones. It matters because execution requires coordinated movement; COMPASS identifies the misalignment zones that weaken coordination before they become visible in results.</a:t>
            </a:r>
          </a:p>
          <a:p>
            <a:r>
              <a:t>KISS Reflection: examines what each domain is Keeping, Improving, Stopping, and Starting. It matters because it converts individual functional learning into collective enterprise intelligence, revealing transferable practices, shared drift patterns, and emerging capability gaps.</a:t>
            </a:r>
          </a:p>
          <a:p>
            <a:r>
              <a:t>Organisational Health Thermometer: examines the behavioural climate across teams: trust, clarity, morale, productivity, and retention. It matters because health is the multiplier of every other system; its early deterioration reduces the effectiveness of all execution disciplines before it becomes visible in performance results.</a:t>
            </a:r>
          </a:p>
          <a:p/>
          <a:p>
            <a:r>
              <a:t>The outcome of consistent reviews: Conducted quarterly, with full executive participation, using all four tools, the Review develops what no individual leader can develop alone: collective execution intelligence.</a:t>
            </a:r>
          </a:p>
          <a:p>
            <a:r>
              <a:t>The executive team becomes capable of detecting Performance Gravity before it becomes visible in results. Leaders develop a shared vocabulary for describing what the organisation is experiencing and what it requires. Collective responses are coordinated across functions, where they were functional and isolated. The organisation’s capacity to sustain performance strengthens with every review cycle.</a:t>
            </a:r>
          </a:p>
          <a:p>
            <a:r>
              <a:t>The true outcome of DIG Strategy2Results® is an organisation that has learned, through discipline, through consistency, through the honest application of the tools built across this programme, how to keep climbing. That outcome reaches beyond a strategy that was successfully designed, a performance architecture that was carefully built, and a health temperature that was honestly measured.</a:t>
            </a:r>
          </a:p>
          <a:p/>
          <a:p>
            <a:r>
              <a:t>Professional insights:</a:t>
            </a:r>
          </a:p>
          <a:p/>
          <a:p>
            <a:r>
              <a:t>Systems behind decisions: The wisest strategic insight is only as durable as the system built to sustain it. Find one good decision with no system behind it to hold the outcome, and build the system.</a:t>
            </a:r>
          </a:p>
          <a:p>
            <a:r>
              <a:t>Source: Journal, 7 June 2026 — Professional Insights: Strategy</a:t>
            </a:r>
          </a:p>
          <a:p/>
          <a:p>
            <a:r>
              <a:t>After the pressure eases: A culture’s true posture shows in what people do once the threat has lifted. Name one disciplined practice from the last hard season and decide whether it is still honoured.</a:t>
            </a:r>
          </a:p>
          <a:p>
            <a:r>
              <a:t>Source: Journal, 7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Force-Anchored Scenarios — ABCV Diagnostic — KISS Response
Practising the full navigation chain in real leadership domains — from force detection through diagnostic to specific operational response.
Section learning outcomes:
1. Exercise forward-looking judgement from force detection to navigation response in a real leadership domain.
2. Commit to a specific navigation decision with a named date.
FACILITATOR GUIDANCE — Application
The exercise runs the full chain — do not shortcut it. The most common failure in this exercise is leaders jumping to the KISS response without completing the ABCV diagnostic. Push back: “Before you name the KISS response — which MBT condition has been invalidated? Which ABCV letter?” The quality of the KISS response depends entirely on the precision of the ABCV reading.
Each scenario is anchored to a specific force and a specific domain — but leaders should choose the scenario closest to their own reality. The CMO in the room may find the CFO scenario more relevant. Let them choose on the basis of recognition.
The Programme Commitment is the final output. Each leader names publicly: the force most active in their organisation, the ABCV MBT condition most under threat, and one specific KISS response with a named date. These are navigation decisions made public.</a:t>
            </a:r>
            <a:endParaRPr lang="en-US" dirty="0"/>
          </a:p>
          <a:p/>
          <a:p>
            <a:r>
              <a:t>Source detail (S2R® manuscript):</a:t>
            </a:r>
          </a:p>
          <a:p/>
          <a:p>
            <a:r>
              <a:t>The section in two parts: the KISS Leadership Exercise and the Programme Commitment.</a:t>
            </a:r>
          </a:p>
          <a:p>
            <a:r>
              <a:t>Purpose of the exercise: To practise applying the KISS discipline to a real executive domain, moving from observation to decision with precision and honesty.</a:t>
            </a:r>
          </a:p>
          <a:p>
            <a:r>
              <a:t>The premise: Performance Gravity is already present in every organisation in this room. The four scenarios each describe a real CXO domain where a specific form of Performance Gravity has begun to emerge. Each scenario is grounded in one or two of the gravitational mechanisms: Momentum Illusion, Complexity Creep, or Leadership Drift (Execution Regression as it shows in leadership behaviour).</a:t>
            </a:r>
          </a:p>
          <a:p>
            <a:r>
              <a:t>The problem is named in each scenario. The task is to apply the KISS discipline: to identify precisely what this leader should Keep, Improve, Stop, and Start, and to do so with the specificity that distinguishes a real decision from a general observation.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PART 1 · THE NAVIGATION CHAIN SCENARIOS (choose the closest to your reality)
Guidance (Application): Push back if a leader jumps to KISS: “Before you name the KISS response — which MBT condition has been invalidated? Which ABCV letter?” Let leaders choose the scenario on the basis of recognition.
Content:
Four scenarios, each grounded in a real leadership domain. Each names a specific force movement, identifies the ABCV MBT condition under threat, and asks you to complete the KISS navigation response. Choose the scenario closest to your current reality. Use the navigation chain: Force → ABCV → KISS.
Scenario 1
Internal
The COO’s Execution Rhythm
Performance Gravity: Execution Regression · Domain: COO — Execution Cadence
A manufacturing organisation delivered three consecutive strong performance quarters. The COO’s execution rhythm was rigorous during that period: weekly cross-functional reviews, disciplined escalation protocols, structured performance dashboards. Results were consistently strong. Four months later, the results are still acceptable — but the rhythm has quietly changed. Weekly reviews have moved to fortnightly. Dashboard discipline has softened. Issues that would previously have been escalated within 24 hours are now sitting with teams for a week. No one has formally decided to relax the standards. The internal force — the organisation’s historical habit of less rigorous review cadences before the improvement period — has quietly reasserted. Enterprise behaviour has begun reverting to the pattern that predated the performance improvement.
ABCV Diagnostic — Which MBT Condition Is Invalidated?
Boundaries (B): Internal enterprise behaviour patterns are now constraining execution quality. The boundary between the strategic standard and the historical default has shifted.
Must-Be-True Condition to Test
What must remain true about our internal enterprise behaviour and execution standards for our current performance level to continue? Can we still confirm that our operational discipline matches the standard that produced the results we are sustaining?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2
Macro-Environmental
The CFO’s Legacy Budget
Performance Gravity: Complexity Creep · Domain: CFO — Capital Discipline
A financial services organisation completed a rigorous zero-based budgeting exercise eighteen months ago, aligning all resources to strategic priorities. The exercise was disciplined and effective. Since then, two macro-environmental shifts have occurred: a significant regulatory change that created new compliance requirements absorbing capacity from strategic initiatives, and an economic cycle shift that has changed the cost of capital and the assumptions behind several major investment decisions. Neither shift has been formally integrated into the budget structure. The regulatory compliance costs have been absorbed additively. The investment assumptions have not been revisited. The budget still reflects the macro environment of eighteen months ago. Strategic initiatives are underfunded relative to their current importance. Legacy cost structures have quietly re-established their original funding levels.
ABCV Diagnostic — Which MBT Condition Is Invalidated?
Boundaries (B): Macro-environmental forces have created new operational and regulatory constraints that the budget structure was not built for. Old structural responses to old conditions are accumulating as weight.
Must-Be-True Condition to Test
What must remain true about the macro-environmental conditions — regulatory, economic, and technological — for our current capital allocation to continue supporting our strategic priorities? Can we still confirm those conditions hold?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3
Competitive + Disruptive
The CMO’s Comfortable Intelligence
Performance Gravity: Momentum Illusion · Domain: CMO — Market Intelligence
A retail organisation’s marketing function produced exceptional results during a strong strategic period. Brand awareness improved. Customer acquisition costs declined. The CMO built a reputation for commercial insight. The customer intelligence underpinning this performance was built twenty months ago. Since then, competitive forces have moved: two new entrants have positioned in segments previously considered low-priority, and a technology-enabled alternative has emerged that solves a significant portion of the customer’s problem at a lower price point. The CMO’s team is executing the existing strategy with discipline. But the foundational customer intelligence — who the customer is, what they are trying to achieve, and who else is competing for that achievement — has not been meaningfully updated. The playbook is running well. The landscape it was built for has moved.
ABCV Diagnostic — Which MBT Condition Is Invalidated?
Arena (A): The customer end-game may have shifted. Competitive + Disruptive (C): The alternatives the customer now has include entrants and technology solutions that were not present when the strategy was built.
Must-Be-True Condition to Test
What must remain true about the customer problem we are solving and the alternatives available to the customer for our current marketing approach to continue producing the results it achieved when built? Can we still confirm both?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4
Social + Environmental
The CRO’s Legitimacy Gap
Performance Gravity: Legitimacy Erosion · Domain: CRO — Risk Intelligence
A professional services organisation has maintained what is widely regarded as exemplary risk governance. The risk register is comprehensive, current, and consistently well-reviewed. Audit feedback has been positive for multiple cycles. However, social and environmental forces have moved significantly. Institutional investors — who represent a material portion of the organisation’s client base — have shifted their expectations about risk governance from compliance demonstration to strategic integration. They now expect risk intelligence to be visibly embedded in strategic decision-making as well as in governance reporting. Several major clients have begun asking in commercial conversations about how the organisation’s risk thinking shapes its strategic choices. The CRO’s governance approach was built for a stakeholder environment in which compliance demonstration earned approval. That environment has moved. The value proposition of the risk function — what it offers to internal and external stakeholders — is eroding because what stakeholders now value has advanced.
ABCV Diagnostic — Which MBT Condition Is Invalidated?
Value Proposition (V): Social and environmental force movements have shifted what stakeholders perceive as distinctive and valuable risk governance. The current approach no longer earns the approval it once earned from the stakeholder universe that now matters most.
Must-Be-True Condition to Test
What must remain true about what our stakeholders consider credible, distinctive, and valuable risk governance for our current approach to continue earning their confidence? Can we still confirm that the enterprise integrity our stakeholders now expect is reflected in how we govern risk?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a:t>
            </a:r>
            <a:endParaRPr lang="en-US" dirty="0"/>
          </a:p>
          <a:p/>
          <a:p>
            <a:r>
              <a:t>Source detail (S2R® manuscript):</a:t>
            </a:r>
          </a:p>
          <a:p/>
          <a:p>
            <a:r>
              <a:t>The four scenarios in their source form. Settings and timings differ in places from the versions above, which are the ones to run; the detail here, the KISS discipline focus and the facilitation question for each are for the facilitator to draw on. Each scenario ends with the question of what this leader should Keep, Improve, Stop, and Start, and a four-row response table with the instruction: be specific.</a:t>
            </a:r>
          </a:p>
          <a:p/>
          <a:p>
            <a:r>
              <a:t>Scenario 1: The COO’s Disappearing Rhythm. Performance Gravity form: Leadership Drift (Execution Regression in leadership behaviour). KISS discipline focus: Keep + Stop.</a:t>
            </a:r>
          </a:p>
          <a:p>
            <a:r>
              <a:t>The organisation delivered its strongest quarter in three years. The COO is proud, justifiably. The execution rhythm that produced the result was rigorous: weekly cross-functional reviews, clear escalation protocols, structured dashboard disciplines. Every leader knew where every initiative stood. Decisions were made in the room, with nothing deferred.</a:t>
            </a:r>
          </a:p>
          <a:p>
            <a:r>
              <a:t>Three months later, the results are still acceptable. But the rhythm has quietly shifted. The weekly cross-functional review has been moved to fortnightly: “the team is performing well, we don’t need to meet as often.” The dashboard discipline has softened: leaders are updating numbers without preparing narrative. The escalation protocol has not been formally changed, but issues that would previously have been escalated within 24 hours are now sitting with teams for a week before reaching the COO’s desk.</a:t>
            </a:r>
          </a:p>
          <a:p>
            <a:r>
              <a:t>The COO does not see this as a problem. The results are still acceptable. The team seems settled. The urgency of the rebuilding period has passed.</a:t>
            </a:r>
          </a:p>
          <a:p>
            <a:r>
              <a:t>Facilitation question: Which of the four KISS disciplines is the COO most at risk of neglecting, and what is the leadership cost if that neglect continues for another two quarters?</a:t>
            </a:r>
          </a:p>
          <a:p/>
          <a:p>
            <a:r>
              <a:t>Scenario 2: The CFO’s Legacy Budget. Performance Gravity form: Complexity Creep. KISS discipline focus: Stop + Start.</a:t>
            </a:r>
          </a:p>
          <a:p>
            <a:r>
              <a:t>The organisation is twelve months into a three-year strategy. The CFO oversaw a rigorous zero-based budgeting exercise at the start of the strategic cycle that aligned resource allocation precisely with strategic priorities. The process was difficult, politically demanding, and ultimately successful. Strategic initiatives were funded. Legacy cost centres were scrutinised. The organisation began the strategic cycle with resource discipline.</a:t>
            </a:r>
          </a:p>
          <a:p>
            <a:r>
              <a:t>But the environment has moved. Two of the three strategic priorities have evolved significantly in scope. One has been deprioritised following a market shift. New capabilities that the strategy now requires (in digital infrastructure, in data analytics, in customer experience technology) were not in the original budget and are currently underfunded.</a:t>
            </a:r>
          </a:p>
          <a:p>
            <a:r>
              <a:t>Meanwhile, the budget structures established at the start of the cycle continue to operate largely unchanged. The legacy cost centres that were scrutinised twelve months ago have quietly re-established their original funding levels. The new capability investments that future performance requires are not yet visible in the budget.</a:t>
            </a:r>
          </a:p>
          <a:p>
            <a:r>
              <a:t>The CFO is managing the budget competently. But the budget no longer reflects the strategy.</a:t>
            </a:r>
          </a:p>
          <a:p>
            <a:r>
              <a:t>Facilitation question: What is the difference between a budget that reflects the strategy and a budget that reflects the organisation’s history? Which one does your organisation currently have?</a:t>
            </a:r>
          </a:p>
          <a:p/>
          <a:p>
            <a:r>
              <a:t>Scenario 3: The CMO’s Comfortable Intelligence. Performance Gravity form: Momentum Illusion. KISS discipline focus: Improve + Start.</a:t>
            </a:r>
          </a:p>
          <a:p>
            <a:r>
              <a:t>The CMO leads a marketing function that performed exceptionally during the programme’s first phase. The marketing team built a reputation internally for commercial intelligence and strategic contribution. The CMO is regarded as one of the organisation’s strongest functional leaders.</a:t>
            </a:r>
          </a:p>
          <a:p>
            <a:r>
              <a:t>But the customer intelligence that underpinned this performance was built eighteen months ago. The customer research, the segmentation model, the insight about customer needs and expectations that shaped the marketing strategy: all of it reflects who the customer was then.</a:t>
            </a:r>
          </a:p>
          <a:p>
            <a:r>
              <a:t>The marketing team is executing with discipline. Campaigns are running. Content is being produced. Channel performance is being monitored. But the foundational intelligence that the strategy rests on has not been meaningfully updated. The CMO assumes that what worked last year still reflects current reality because nothing has explicitly told her otherwise.</a:t>
            </a:r>
          </a:p>
          <a:p>
            <a:r>
              <a:t>Meanwhile, two competitors have begun positioning in ways that suggest they are reading customer signals the CMO’s team has not picked up. A subset of existing customers has begun raising questions in account reviews that suggest their expectations have shifted. These signals are present. They are not being systematically read.</a:t>
            </a:r>
          </a:p>
          <a:p>
            <a:r>
              <a:t>Facilitation question: What is the difference between marketing intelligence and marketing activity? Which one is this CMO’s team strong on right now?</a:t>
            </a:r>
          </a:p>
          <a:p/>
          <a:p>
            <a:r>
              <a:t>Scenario 4: The CRO’s Comfortable Risk Register. Performance Gravity form: Success Inertia. KISS discipline focus: Stop + Start + Improve.</a:t>
            </a:r>
          </a:p>
          <a:p>
            <a:r>
              <a:t>The CRO has built what is widely regarded as the most comprehensive risk register in the organisation’s history. It is current, well-maintained, clearly structured, and regularly reviewed by the board. The governance process around risk identification and reporting is robust and has received consistently positive audit feedback.</a:t>
            </a:r>
          </a:p>
          <a:p>
            <a:r>
              <a:t>The problem is that the risk register has become the risk conversation.</a:t>
            </a:r>
          </a:p>
          <a:p>
            <a:r>
              <a:t>The risk register has stopped informing executive decision-making and has become the evidence that risk management is being done. Leaders review it, note that it has been updated, confirm that the ratings are within acceptable parameters, and move on. The risk register exists as a governance artefact and is not used as a strategic tool.</a:t>
            </a:r>
          </a:p>
          <a:p>
            <a:r>
              <a:t>Three strategic decisions taken in the past six months were made without explicit risk assessment in the executive conversation. The CRO was present in all three discussions but did not bring the risk perspective to bear because the formal risk review was scheduled for the following week’s governance meeting. By the time the formal review occurred, the decisions had been made.</a:t>
            </a:r>
          </a:p>
          <a:p>
            <a:r>
              <a:t>Two of those three decisions have since generated operational surprises that a structured risk conversation would likely have anticipated.</a:t>
            </a:r>
          </a:p>
          <a:p>
            <a:r>
              <a:t>Facilitation question: What is the difference between a risk register and a risk discipline? Which one is this organisation actually practising?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PART 2 · THE NAVIGATION COMMITMENT (The final public commitment)
Question 1
“Which of the five force categories is most actively moving in your operating environment right now — and which Performance Gravity mechanism is it producing in your organisation?”
Name the force. Name the mechanism. Name the evidence already visible in daily execution.
Question 2
“Apply ABCV to that force movement. Which MBT condition is most under threat — Arena, Boundaries, Competition, or Value Proposition?”
The ABCV letter that names the threatened assumption is the precise point where the navigation response must focus.
Question 3
“What is the one KISS decision — specific, named, dated — that you are committing to make in the next thirty days in response to that ABCV finding?”
One KISS decision. One named action. One named date. Witnessed by this group.
Content:
Sustained performance is a navigation discipline practised continuously — reading the forces that shape the environment, diagnosing what their movements mean for strategic position, and making the four KISS decisions that keep the organisation moving with the environment.
Every organisation in every industry faces the same five force categories. Every quarter, those forces have moved. The question is whether the organisation is tracking the movement — and whether the leadership team is translating that tracking into specific navigation decisions.
That is the discipline of sustained performance. It is available to every organisation that chooses to practise it — permanently, consistently, and with increasing skill.
That is the organisation you have the capability to become.
Three questions. Answered publicly. In this room.
Participant file (5.2 — Part 2 · The Navigation Commitment) — prompts participants complete:
- “Which of the five force categories is most actively moving in your operating environment right now — and which Performance Gravity mechanism is it producing?” Name the force. Name the mechanism. Name the evidence already visible in daily execution. Force Mechanism it is producing Evidence already visible
- “Apply ABCV to that force movement. Which MBT condition is most under threat?” A (Arena), B (Boundaries), C (Competition), or V (Value Proposition)? ABCV letter MBT condition no longer confirmable What this means for strategic position
- “What is the one KISS decision — specific, named, dated — I am committing to make in the next thirty days?” One KISS discipline (K/I/S/S). One named action. One named date. KISS discipline Specific action Named date How this group will hold me to it</a:t>
            </a:r>
            <a:endParaRPr lang="en-US" dirty="0"/>
          </a:p>
          <a:p/>
          <a:p>
            <a:r>
              <a:t>Source detail (S2R® manuscript):</a:t>
            </a:r>
          </a:p>
          <a:p/>
          <a:p>
            <a:r>
              <a:t>Context for the commitment: This is the final exercise of the DIG expedition. You have spent the course of this programme building something real. You have clarified where your organisation is going. You have designed the architecture of accountability. You have diagnosed the conditions of execution. You have measured the health of the human system that carries the strategy. You have coached the difficult conversations that health requires.</a:t>
            </a:r>
          </a:p>
          <a:p>
            <a:r>
              <a:t>None of that disappears when you leave this room. But neither does Performance Gravity.</a:t>
            </a:r>
          </a:p>
          <a:p>
            <a:r>
              <a:t>The disciplines you have built are real. And they are vulnerable: to urgency, to distraction, to the quiet erosion of standards that always follows the reduction of pressure, and to the belief that because you have done the work, the work will sustain itself.</a:t>
            </a:r>
          </a:p>
          <a:p>
            <a:r>
              <a:t>It will not sustain itself. It will sustain you, if you choose to sustain it.</a:t>
            </a:r>
          </a:p>
          <a:p/>
          <a:p>
            <a:r>
              <a:t>How the commitment runs: Each leader answers the three questions aloud, with the full group as witness. The facilitator captures every commitment visibly. These commitments are the output of the programme.</a:t>
            </a:r>
          </a:p>
          <a:p/>
          <a:p>
            <a:r>
              <a:t>The three questions in their source form, for the facilitator to draw on alongside the questions above (Leadership Drift is Execution Regression as it shows in leadership behaviour):</a:t>
            </a:r>
          </a:p>
          <a:p>
            <a:r>
              <a:t>Question 1: “Where in my organisation is Performance Gravity already pulling, and which of the three mechanisms (Momentum Illusion, Complexity Creep, or Leadership Drift) is the most active right now?” Be specific. Name the domain. Name the mechanism. Name the evidence you have already seen.</a:t>
            </a:r>
          </a:p>
          <a:p>
            <a:r>
              <a:t>Question 2: “Which of the four KISS disciplines am I most at risk of neglecting under pressure, and what is my honest reason for that?” The answer to this question is the single most important piece of self-knowledge a leader can carry out of this programme.</a:t>
            </a:r>
          </a:p>
          <a:p>
            <a:r>
              <a:t>Question 3: “What is the one commitment I am making to this team (specific, named, dated) before we leave this room?” One commitment: a named action, with a named date, that this group will hold you to at the next review. A general intention or an aspiration does not meet this standard.</a:t>
            </a:r>
          </a:p>
          <a:p/>
          <a:p>
            <a:r>
              <a:t>The programme ends with a room full of leaders who have named their vulnerabilities, accepted their responsibilities, and made their commitments publicly. That is the summit.</a:t>
            </a:r>
          </a:p>
          <a:p/>
          <a:p>
            <a:r>
              <a:t>Professional insights:</a:t>
            </a:r>
          </a:p>
          <a:p/>
          <a:p>
            <a:r>
              <a:t>First principles under pressure: Pressure tempts leaders to confuse urgent relief with sound direction. Difficult conditions should drive a return to first principles.</a:t>
            </a:r>
          </a:p>
          <a:p>
            <a:r>
              <a:t>Source: Journal, 23 July 2026 — Professional Insights: Strategy</a:t>
            </a:r>
          </a:p>
          <a:p/>
          <a:p>
            <a:r>
              <a:t>Drift by accommodation: A venture can drift, one reasonable accommodation at a time, into a commitment that runs against its own purpose. Trace the largest current commitment back through the decisions that led to it and confirm the destination still matches the intent.</a:t>
            </a:r>
          </a:p>
          <a:p>
            <a:r>
              <a:t>Source: Journal, 20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12 synthesis · S2R® Programme Close)
Content:
The final unit addresses the question that no strategy programme asks but every organisation eventually faces: now that performance has been achieved, how is it kept? The answer this unit provides is precise: sustained performance is the continuous navigation of five force categories that never stop moving — using ABCV to diagnose what each movement means, and KISS to determine the specific response.
Awareness — What
Performance Gravity is the predictable organisational consequence of five external forces moving while the enterprise stays still. Three mechanisms — Momentum Illusion, Complexity Creep, and Execution Regression — each produced by a specific force category. KISS provides the four navigation disciplines that counter each mechanism.
Intelligence — Why
Each of the five force categories produces a specific consequence when unnavigated: Competitive + Disruptive → Momentum Illusion; Macro-environmental → Complexity Creep; Social + Environmental → Legitimacy Erosion; Internal → Execution Regression. All five unnavigated simultaneously → Success Inertia. This is causal.
Extrapolating — Where
The leadership team, acting as the collective intelligence for execution discipline, surfaces force movements across ten leadership domains. ABCV provides the diagnostic: which MBT condition has the force movement invalidated? The Navigation Chain closes the loop: Force detected → ABCV reveals invalidated assumption → KISS determines the response.
Integration — Collective
The S2R® Collective Intelligence Review — four instruments, quarterly cadence — is the mechanism through which the enterprise develops collective navigation intelligence. No individual leader can read all five forces. The Review is the collective capability that makes sustained navigation possible.
Application — In Practice
Four industry-grounded scenarios, each anchored to a specific force movement and ABCV diagnostic. The navigation chain practised in a real leadership domain. The Programme Commitment names the vulnerability and the response publicly.
You came into this programme with a strategy. You leave with a navigation discipline.
The five forces were named at the start of this programme. The instruments to navigate them were built across its units — ABCV to stress-test strategic assumptions, the Health Thermometer to read internal force movements, the ESRG Scanner to diagnose the operating environment, and KISS to determine the response. In this final unit, they come together as a single navigation system applicable in any industry, in every quarterly review, permanently.
Performance Gravity is real. It is patient. And it never stops pulling. But so is navigation discipline — when it is applied consistently, collectively, and with increasing precision by leaders who understand which forces are moving and what those movements require.
That is the organisation you have the capability to become.
Keep climbing.</a:t>
            </a:r>
            <a:endParaRPr lang="en-US" dirty="0"/>
          </a:p>
          <a:p/>
          <a:p>
            <a:r>
              <a:t>Source detail (S2R® manuscript):</a:t>
            </a:r>
          </a:p>
          <a:p/>
          <a:p>
            <a:r>
              <a:t>The unit by stage, in the wording of the source summary:</a:t>
            </a:r>
          </a:p>
          <a:p>
            <a:r>
              <a:t>Awareness (What): Leaders are introduced to Performance Gravity: the natural force that pulls organisations back toward average after periods of strong performance. It operates through three mechanisms: Momentum Illusion, the belief that past discipline is sustaining present performance; Complexity Creep, the accumulation of structures, processes, and initiatives that once served a purpose and have since become weight; and Execution Regression, seen in leadership behaviour as Leadership Drift, the gradual softening of the behavioural standards that produced the original results.</a:t>
            </a:r>
          </a:p>
          <a:p>
            <a:r>
              <a:t>The antidote to Performance Gravity is KISS: Keep what is working and must be protected, Improve what has shifted and requires recalibration, Stop what is harming performance and must be eliminated, and Start what needs to be introduced to sustain the next level of performance. KISS is a set of four precise decisions that every leader must make at the end of every performance cycle. It is more than a reflection template.</a:t>
            </a:r>
          </a:p>
          <a:p>
            <a:r>
              <a:t>Intelligence (Why): Leaders understand why sustaining performance requires a fundamentally different discipline from achieving it. Achieving performance is a finite game: it has a target and a finish line. Sustaining performance is an infinite game: the objective is to remain capable of playing at an increasingly high level as the environment continuously recalibrates.</a:t>
            </a:r>
          </a:p>
          <a:p>
            <a:r>
              <a:t>The greatest risk to sustained performance is Success Inertia: the organisational conviction that the formula that produced today’s win will produce tomorrow’s survival. The KISS discipline, particularly the Stop and Start disciplines, is designed to interrupt it before it calcifies into institutional resistance to change.</a:t>
            </a:r>
          </a:p>
          <a:p>
            <a:r>
              <a:t>Extrapolating (Where): Performance drift emerges simultaneously across the executive stabilisers managed by each CXO role: strategic coherence, capital discipline, operational rhythm, organisational health, technology enablement, market intelligence, revenue conversion, supply resilience, risk intelligence, and strategy translation. The executive team therefore operates as the collective intelligence for execution discipline: each leader monitoring the gravitational pull specific to their domain, reading the early warning signals that indicate drift is emerging, and applying the KISS discipline to restore sustained performance before drift becomes deterioration.</a:t>
            </a:r>
          </a:p>
          <a:p>
            <a:r>
              <a:t>Integration (Collective): The four instruments built across this programme (the ESRG Scanner, the Enterprise COMPASS, the KISS Reflection, and the Organisational Health Thermometer) are brought together in the S2R® Collective Intelligence Review: a structured quarterly collective intelligence conversation through which the executive team diagnoses operating conditions, maintains enterprise alignment, reinforces execution discipline, and monitors the behavioural climate of the organisation. When the Review is conducted consistently, the organisation develops collective execution intelligence: the shared, real-time awareness of where performance is strengthening, where it is drifting, and what leadership action is required to sustain the trajectory.</a:t>
            </a:r>
          </a:p>
          <a:p>
            <a:r>
              <a:t>Application (In Practice): The KISS Leadership Exercise grounds the discipline in four real CXO scenarios, each describing a specific form of Performance Gravity in a specific executive domain. Leaders practise applying the four KISS decisions with the precision and honesty that the discipline requires. The Programme Commitment closes the unit and the expedition: each leader publicly names where Performance Gravity is already pulling in their organisation, which KISS discipline they are most at risk of neglecting, and one specific commitment (named, dated, and witnessed by the full group) that they will keep before the next review.</a:t>
            </a:r>
          </a:p>
          <a:p/>
          <a:p>
            <a:r>
              <a:t>The closing statement of the DIG expedition, in full:</a:t>
            </a:r>
          </a:p>
          <a:p>
            <a:r>
              <a:t>You leave with something more durable than a strategy. You leave with the understanding that strategy is the organisation’s direction. Its ceiling is set by the conditions you create for the people who must deliver it: the clarity of the environment, the health of the culture, the rigour of the systems, the honesty of the conversations, and the consistency of the standards you hold even when no one is watching and the pressure is off.</a:t>
            </a:r>
          </a:p>
          <a:p>
            <a:r>
              <a:t>Across the course of this programme, you have built each of these conditions deliberately.</a:t>
            </a:r>
          </a:p>
          <a:p>
            <a:r>
              <a:t>You have clarified direction so that your organisation knows where it is climbing. You have designed execution so that effort converts into results. You have established accountability so that standards have teeth. You have aligned your enterprise conditions so that the system supports the strategy. You have measured health so that you can hear the early signals. You have coached the difficult conversations that health requires. And now you have named the discipline that sustains everything you have built.</a:t>
            </a:r>
          </a:p>
          <a:p>
            <a:r>
              <a:t>The DIG Framework is a leadership posture you inhabit continuously: reading the environment, maintaining the conditions, correcting early, protecting what works, eliminating what doesn’t, and building what the next level of performance will require before it requires it. Implementing it once does not complete it.</a:t>
            </a:r>
          </a:p>
          <a:p>
            <a:r>
              <a:t>The summit of this expedition is not a destination.</a:t>
            </a:r>
          </a:p>
          <a:p>
            <a:r>
              <a:t>Every organisation that has ever achieved something great and then lost it lost it gradually, through the quiet accumulation of compromises that each felt individually justified and were collectively devastating and entirely avoidable. A single catastrophic failure was never the cause.</a:t>
            </a:r>
          </a:p>
          <a:p>
            <a:r>
              <a:t>Leadership discipline is as real as Performance Gravity when it is chosen deliberately, maintained consistently, and renewed publicly by leaders who understand what they are building and why it matters.</a:t>
            </a:r>
          </a:p>
          <a:p/>
          <a:p>
            <a:r>
              <a:t>Professional insights:</a:t>
            </a:r>
          </a:p>
          <a:p/>
          <a:p>
            <a:r>
              <a:t>Outliving the architects: Sustainable strategies are designed to outlive their architects. Structure should support purpose, and continuity should be planned before transition becomes necessary.</a:t>
            </a:r>
          </a:p>
          <a:p>
            <a:r>
              <a:t>Source: Journal, 9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Sustaining Performance</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Sustained performance is the continuous navigation of five forces that never stop moving</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short-term performance attainment from sustained institutional capability.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organisational resilience and adaptability as internal and external conditions evolve.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sources of performance drift and the early erosion of strategic coherence.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forward-looking executive judgement that protects organisational value and long-term performance.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Performance Gravity — and the KISS Navigation Disciplines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forces that pull performance back towards average.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navigation disciplines that sustain performance against that pull.</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The navigation premise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The forces in your operating environment never stop moving.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Performance Gravity is what happens when forces move and the organisation does not move with them.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mechanisms of Performance Gravity</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Momentum Illusion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Competitive + Disruptive forces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Complexity Creep</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Macro-environmental forces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Execution Regression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Internal forces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Each mechanism is the consequence of a force category going unnavigated.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KISS: the four navigation disciplines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K · Keep  </a:t>
            </a:r>
            <a:pPr indent="0" marL="0">
              <a:buNone/>
            </a:pPr>
            <a:r>
              <a:rPr lang="en-US" sz="2600" dirty="0">
                <a:solidFill>
                  <a:srgbClr val="1F2A22"/>
                </a:solidFill>
                <a:latin typeface="Calibri" pitchFamily="34" charset="0"/>
                <a:ea typeface="Calibri" pitchFamily="34" charset="-122"/>
                <a:cs typeface="Calibri" pitchFamily="34" charset="-120"/>
              </a:rPr>
              <a:t>what is working and must be protected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 · Improve  </a:t>
            </a:r>
            <a:pPr indent="0" marL="0">
              <a:buNone/>
            </a:pPr>
            <a:r>
              <a:rPr lang="en-US" sz="2600" dirty="0">
                <a:solidFill>
                  <a:srgbClr val="1F2A22"/>
                </a:solidFill>
                <a:latin typeface="Calibri" pitchFamily="34" charset="0"/>
                <a:ea typeface="Calibri" pitchFamily="34" charset="-122"/>
                <a:cs typeface="Calibri" pitchFamily="34" charset="-120"/>
              </a:rPr>
              <a:t>what has shifted and needs recalibration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Stop  </a:t>
            </a:r>
            <a:pPr indent="0" marL="0">
              <a:buNone/>
            </a:pPr>
            <a:r>
              <a:rPr lang="en-US" sz="2600" dirty="0">
                <a:solidFill>
                  <a:srgbClr val="1F2A22"/>
                </a:solidFill>
                <a:latin typeface="Calibri" pitchFamily="34" charset="0"/>
                <a:ea typeface="Calibri" pitchFamily="34" charset="-122"/>
                <a:cs typeface="Calibri" pitchFamily="34" charset="-120"/>
              </a:rPr>
              <a:t>what is harming performance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Start  </a:t>
            </a:r>
            <a:pPr indent="0" marL="0">
              <a:buNone/>
            </a:pPr>
            <a:r>
              <a:rPr lang="en-US" sz="2600" dirty="0">
                <a:solidFill>
                  <a:srgbClr val="1F2A22"/>
                </a:solidFill>
                <a:latin typeface="Calibri" pitchFamily="34" charset="0"/>
                <a:ea typeface="Calibri" pitchFamily="34" charset="-122"/>
                <a:cs typeface="Calibri" pitchFamily="34" charset="-120"/>
              </a:rPr>
              <a:t>what the next level of performance requires</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the Five Forces Produce Performance Gravity When Unnavigated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Counter the internal and external forces that erode strategic coherence.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which force is most active in their organisation.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five forces, unnavigated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Competitive + Disruptive  </a:t>
            </a:r>
            <a:pPr indent="0" marL="0">
              <a:buNone/>
            </a:pPr>
            <a:r>
              <a:rPr lang="en-US" sz="2400" dirty="0">
                <a:solidFill>
                  <a:srgbClr val="1F2A22"/>
                </a:solidFill>
                <a:latin typeface="Calibri" pitchFamily="34" charset="0"/>
                <a:ea typeface="Calibri" pitchFamily="34" charset="-122"/>
                <a:cs typeface="Calibri" pitchFamily="34" charset="-120"/>
              </a:rPr>
              <a:t>→ Momentum Illusion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Macro-Environmental  </a:t>
            </a:r>
            <a:pPr indent="0" marL="0">
              <a:buNone/>
            </a:pPr>
            <a:r>
              <a:rPr lang="en-US" sz="2400" dirty="0">
                <a:solidFill>
                  <a:srgbClr val="1F2A22"/>
                </a:solidFill>
                <a:latin typeface="Calibri" pitchFamily="34" charset="0"/>
                <a:ea typeface="Calibri" pitchFamily="34" charset="-122"/>
                <a:cs typeface="Calibri" pitchFamily="34" charset="-120"/>
              </a:rPr>
              <a:t>→ Complexity Creep</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Social + Environmental  </a:t>
            </a:r>
            <a:pPr indent="0" marL="0">
              <a:buNone/>
            </a:pPr>
            <a:r>
              <a:rPr lang="en-US" sz="2400" dirty="0">
                <a:solidFill>
                  <a:srgbClr val="1F2A22"/>
                </a:solidFill>
                <a:latin typeface="Calibri" pitchFamily="34" charset="0"/>
                <a:ea typeface="Calibri" pitchFamily="34" charset="-122"/>
                <a:cs typeface="Calibri" pitchFamily="34" charset="-120"/>
              </a:rPr>
              <a:t>→ Legitimacy Erosion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Internal  </a:t>
            </a:r>
            <a:pPr indent="0" marL="0">
              <a:buNone/>
            </a:pPr>
            <a:r>
              <a:rPr lang="en-US" sz="2400" dirty="0">
                <a:solidFill>
                  <a:srgbClr val="1F2A22"/>
                </a:solidFill>
                <a:latin typeface="Calibri" pitchFamily="34" charset="0"/>
                <a:ea typeface="Calibri" pitchFamily="34" charset="-122"/>
                <a:cs typeface="Calibri" pitchFamily="34" charset="-120"/>
              </a:rPr>
              <a:t>→ Execution Regression</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All five unnavigated  </a:t>
            </a:r>
            <a:pPr indent="0" marL="0">
              <a:buNone/>
            </a:pPr>
            <a:r>
              <a:rPr lang="en-US" sz="2400" dirty="0">
                <a:solidFill>
                  <a:srgbClr val="1F2A22"/>
                </a:solidFill>
                <a:latin typeface="Calibri" pitchFamily="34" charset="0"/>
                <a:ea typeface="Calibri" pitchFamily="34" charset="-122"/>
                <a:cs typeface="Calibri" pitchFamily="34" charset="-120"/>
              </a:rPr>
              <a:t>→ Success Inertia</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2.2 · The causal map</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row describes your organisation’s most urgent navigation challenge right now?</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Success Inertia: the organisation is positioned for an environment that no longer exists.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Collective Intelligence for Execution Discipline — ABCV — KISS Navigation Chain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Locate where force movements appear first across the enterprise.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what each movement means for strategic position and the response it requires.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Collective Intelligence for Execution Discipline: ten domains</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Strategic Coherence</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Capital Discipline</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Execution Cadence</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Organisational Health</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Technology Enablement</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Market Intelligence</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Revenue Conversion</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Supply Resilience</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Risk Intelligence</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Strategy Translation</a:t>
            </a:r>
            <a:endParaRPr lang="en-US" sz="2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ABCV as the navigation diagnostic</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Arena</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Has the customer end-game shifted?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 · Boundaries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Have the constraints changed?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Competition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Has the alternative set changed?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 · Value Proposition</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Is the edge still holding?</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The navigation chain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Detect the force movement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Run the ABCV diagnostic</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Identify the invalidated assumption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Activate KISS</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S2R® Collective Intelligence Review</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collective leadership rhythm for detecting and responding to force movements.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Coordinate the enterprise response to evolving conditions.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S2R® Collective Intelligence Review</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ESRG Scanner</a:t>
            </a:r>
            <a:endParaRPr lang="en-US" sz="2600" dirty="0"/>
          </a:p>
        </p:txBody>
      </p:sp>
      <p:sp>
        <p:nvSpPr>
          <p:cNvPr id="7" name="Text 4"/>
          <p:cNvSpPr txBox="1"/>
          <p:nvPr/>
        </p:nvSpPr>
        <p:spPr>
          <a:xfrm>
            <a:off x="777240"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Diagnose the operating conditions</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Enterprise COMPASS</a:t>
            </a:r>
            <a:endParaRPr lang="en-US" sz="2600" dirty="0"/>
          </a:p>
        </p:txBody>
      </p:sp>
      <p:sp>
        <p:nvSpPr>
          <p:cNvPr id="12" name="Text 8"/>
          <p:cNvSpPr txBox="1"/>
          <p:nvPr/>
        </p:nvSpPr>
        <p:spPr>
          <a:xfrm>
            <a:off x="6460236"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Align the enterprise</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txBody>
          <a:bodyPr/>
          <a:p/>
        </p:txBody>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6" name="Text 11"/>
          <p:cNvSpPr txBox="1"/>
          <p:nvPr/>
        </p:nvSpPr>
        <p:spPr>
          <a:xfrm>
            <a:off x="1508760"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KISS Reflection</a:t>
            </a:r>
            <a:endParaRPr lang="en-US" sz="2600" dirty="0"/>
          </a:p>
        </p:txBody>
      </p:sp>
      <p:sp>
        <p:nvSpPr>
          <p:cNvPr id="17" name="Text 12"/>
          <p:cNvSpPr txBox="1"/>
          <p:nvPr/>
        </p:nvSpPr>
        <p:spPr>
          <a:xfrm>
            <a:off x="777240"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Reinforce the navigation discipline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txBody>
          <a:bodyPr/>
          <a:p/>
        </p:txBody>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21" name="Text 15"/>
          <p:cNvSpPr txBox="1"/>
          <p:nvPr/>
        </p:nvSpPr>
        <p:spPr>
          <a:xfrm>
            <a:off x="7191756"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Health Thermometer</a:t>
            </a:r>
            <a:endParaRPr lang="en-US" sz="2600" dirty="0"/>
          </a:p>
        </p:txBody>
      </p:sp>
      <p:sp>
        <p:nvSpPr>
          <p:cNvPr id="22" name="Text 16"/>
          <p:cNvSpPr txBox="1"/>
          <p:nvPr/>
        </p:nvSpPr>
        <p:spPr>
          <a:xfrm>
            <a:off x="6460236"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Monitor the behavioural climate</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Name a date, a lead for each conversation and a format for the output.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Force-Anchored Scenarios — ABCV Diagnostic — KISS Response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forward-looking judgement from force detection to navigation response in a real leadership domain.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a specific navigation decision with a named date.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navigation chain scenarios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The COO’s Execution Rhythm</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Internal · Execution Regression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The CFO’s Legacy Budget</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Macro-Environmental · Complexity Creep</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The CMO’s Comfortable Intelligence</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Competitive + Disruptive · Momentum Illusion</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The CRO’s Legitimacy Gap</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Social + Environmental · Legitimacy Erosion</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The navigation commitment</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Q1  </a:t>
            </a:r>
            <a:pPr indent="0" marL="0">
              <a:buNone/>
            </a:pPr>
            <a:r>
              <a:rPr lang="en-US" sz="2600" dirty="0">
                <a:solidFill>
                  <a:srgbClr val="1F2A22"/>
                </a:solidFill>
                <a:latin typeface="Calibri" pitchFamily="34" charset="0"/>
                <a:ea typeface="Calibri" pitchFamily="34" charset="-122"/>
                <a:cs typeface="Calibri" pitchFamily="34" charset="-120"/>
              </a:rPr>
              <a:t>Which force is moving, producing which mechanism?</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Q2  </a:t>
            </a:r>
            <a:pPr indent="0" marL="0">
              <a:buNone/>
            </a:pPr>
            <a:r>
              <a:rPr lang="en-US" sz="2600" dirty="0">
                <a:solidFill>
                  <a:srgbClr val="1F2A22"/>
                </a:solidFill>
                <a:latin typeface="Calibri" pitchFamily="34" charset="0"/>
                <a:ea typeface="Calibri" pitchFamily="34" charset="-122"/>
                <a:cs typeface="Calibri" pitchFamily="34" charset="-120"/>
              </a:rPr>
              <a:t>Which ABCV MBT condition is most under threat?</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Q3  </a:t>
            </a:r>
            <a:pPr indent="0" marL="0">
              <a:buNone/>
            </a:pPr>
            <a:r>
              <a:rPr lang="en-US" sz="2600" dirty="0">
                <a:solidFill>
                  <a:srgbClr val="1F2A22"/>
                </a:solidFill>
                <a:latin typeface="Calibri" pitchFamily="34" charset="0"/>
                <a:ea typeface="Calibri" pitchFamily="34" charset="-122"/>
                <a:cs typeface="Calibri" pitchFamily="34" charset="-120"/>
              </a:rPr>
              <a:t>One KISS decision, named and dated, in thirty days</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Programme close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You came into this programme with a strategy. You leave with a navigation discipline.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Keep climbing.</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12 · Sustaining Performance</dc:title>
  <dc:subject>PptxGenJS Presentation</dc:subject>
  <dc:creator>Institute of Behavioural Strategy &amp; Leadership</dc:creator>
  <cp:lastModifiedBy>Institute of Behavioural Strategy &amp; Leadership</cp:lastModifiedBy>
  <cp:revision>1</cp:revision>
  <dcterms:created xsi:type="dcterms:W3CDTF">2026-09-29T13:20:53Z</dcterms:created>
  <dcterms:modified xsi:type="dcterms:W3CDTF">2026-09-29T13:20:53Z</dcterms:modified>
</cp:coreProperties>
</file>