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UNIT 12 · SUSTAINING PERFORMANCE</a:t>
            </a:r>
            <a:endParaRPr lang="en-US" dirty="0"/>
          </a:p>
          <a:p>
            <a:r>
              <a:t/>
            </a:r>
          </a:p>
          <a:p>
            <a:r>
              <a:rPr b="1"/>
              <a:t>HOW TO TEACH IT:</a:t>
            </a:r>
          </a:p>
          <a:p>
            <a:r>
              <a:t/>
            </a:r>
          </a:p>
          <a:p>
            <a:r>
              <a:rPr b="1"/>
              <a:t>1. Open the final unit.</a:t>
            </a:r>
          </a:p>
          <a:p>
            <a:r>
              <a:t>Say: "Welcome to Unit 12, the final unit of the Strategy2Results® programme. Across eleven units you have built a strategy, translated it into Objectives and Key Results, aligned your people, set up the performance system, cleared the clogs in execution and grounded the organisation in its operating conditions and its culture."</a:t>
            </a:r>
          </a:p>
          <a:p>
            <a:r>
              <a:t>Say: "Unit 12 answers the closing question of the programme: how does a leadership team hold results once it has achieved them?"</a:t>
            </a:r>
          </a:p>
          <a:p>
            <a:r>
              <a:t/>
            </a:r>
          </a:p>
          <a:p>
            <a:r>
              <a:rPr b="1"/>
              <a:t>2. Place the unit in Module 4 · Grounding.</a:t>
            </a:r>
          </a:p>
          <a:p>
            <a:r>
              <a:t>Say: "Grounding establishes the organisational capabilities and healthy operating status required to anchor and sustain strategic performance. It considers how the enterprise is configured to deliver results, the organisational health that sustains performance, and how both are leveraged over time."</a:t>
            </a:r>
          </a:p>
          <a:p>
            <a:r>
              <a:t>Say: "Unit 10 grounded the organisational operating environment through ESRG. Unit 11 grounded the culture through organisational health. This unit leverages both to sustain high performance."</a:t>
            </a:r>
          </a:p>
          <a:p>
            <a:r>
              <a:t/>
            </a:r>
          </a:p>
          <a:p>
            <a:r>
              <a:rPr b="1"/>
              <a:t>3. Name the two concepts of the unit.</a:t>
            </a:r>
          </a:p>
          <a:p>
            <a:r>
              <a:t>Say: "This unit runs on two concepts you already know. The Three Lines of Sight show where performance is drifting, read through the WARD check-up you set for your enterprise Key Result in Unit 6. KISS is the set of decisions your leadership team makes at the close of every quarter to hold what works and correct what drifts."</a:t>
            </a:r>
          </a:p>
          <a:p>
            <a:r>
              <a:t>Say: "Both come together on one page each quarter: the Quarterly Three Lines of Sight page. Every section of this unit returns to these two concepts."</a:t>
            </a:r>
          </a:p>
          <a:p>
            <a:r>
              <a:t/>
            </a:r>
          </a:p>
          <a:p>
            <a:r>
              <a:rPr b="1"/>
              <a:t>4. Bridge to the learning outcomes.</a:t>
            </a:r>
          </a:p>
          <a:p>
            <a:r>
              <a:t>Say: "Keep one question with you through the unit: once a result is achieved, what holds it? Let us start with what you will be able to do by the end of the unit."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LEARNING OUTCOMES</a:t>
            </a:r>
            <a:endParaRPr lang="en-US" dirty="0"/>
          </a:p>
          <a:p>
            <a:r>
              <a:t/>
            </a:r>
          </a:p>
          <a:p>
            <a:r>
              <a:rPr b="1"/>
              <a:t>HOW TO TEACH IT:</a:t>
            </a:r>
          </a:p>
          <a:p>
            <a:r>
              <a:t/>
            </a:r>
          </a:p>
          <a:p>
            <a:r>
              <a:rPr b="1"/>
              <a:t>1. Read the four outcomes.</a:t>
            </a:r>
          </a:p>
          <a:p>
            <a:r>
              <a:t>Say: "By the end of this unit you will be able to:"</a:t>
            </a:r>
          </a:p>
          <a:p>
            <a:r>
              <a:t>Read each outcome aloud:</a:t>
            </a:r>
          </a:p>
          <a:p>
            <a:r>
              <a:t>- Distinguish short-term performance attainment from sustained institutional capability.</a:t>
            </a:r>
          </a:p>
          <a:p>
            <a:r>
              <a:t>- Maintain continuous sight of strategic, operational and behavioural performance across the enterprise’s contributions.</a:t>
            </a:r>
          </a:p>
          <a:p>
            <a:r>
              <a:t>- Recognise the sources of performance drift and the early erosion of strategic coherence.</a:t>
            </a:r>
          </a:p>
          <a:p>
            <a:r>
              <a:t>- Exercise forward-looking executive judgement that protects organisational value and long-term performance.</a:t>
            </a:r>
          </a:p>
          <a:p>
            <a:r>
              <a:t/>
            </a:r>
          </a:p>
          <a:p>
            <a:r>
              <a:rPr b="1"/>
              <a:t>2. Connect the outcomes to the two concepts.</a:t>
            </a:r>
          </a:p>
          <a:p>
            <a:r>
              <a:t>Say: "The second outcome is the Three Lines of Sight: strategic, operational and behavioural performance, kept in view across the contributions in your S2R® Contribution Map™. The third outcome is the drift those lines reveal. The fourth outcome is the judgement your leadership team exercises each quarter through its KISS decisions."</a:t>
            </a:r>
          </a:p>
          <a:p>
            <a:r>
              <a:t/>
            </a:r>
          </a:p>
          <a:p>
            <a:r>
              <a:rPr b="1"/>
              <a:t>3. Bridge to the unit journey.</a:t>
            </a:r>
          </a:p>
          <a:p>
            <a:r>
              <a:t>Say: "Here is how the five sections carry the two concepts one step further each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THE UNIT JOURNEY</a:t>
            </a:r>
            <a:endParaRPr lang="en-US" dirty="0"/>
          </a:p>
          <a:p>
            <a:r>
              <a:t/>
            </a:r>
          </a:p>
          <a:p>
            <a:r>
              <a:rPr b="1"/>
              <a:t>HOW TO TEACH IT:</a:t>
            </a:r>
          </a:p>
          <a:p>
            <a:r>
              <a:t/>
            </a:r>
          </a:p>
          <a:p>
            <a:r>
              <a:rPr b="1"/>
              <a:t>1. Walk the five sections.</a:t>
            </a:r>
          </a:p>
          <a:p>
            <a:r>
              <a:t>Say: "Each section carries both concepts one step further."</a:t>
            </a:r>
          </a:p>
          <a:p>
            <a:r>
              <a:t>Say: "Section 1, Awareness: what the three lines are, the results each line reads and how WARD filters them; and what Keep, Improve, Stop and Start mean."</a:t>
            </a:r>
          </a:p>
          <a:p>
            <a:r>
              <a:t>Say: "Section 2, Intelligence: why performance drifts on each line, and why each KISS decision counters that drift."</a:t>
            </a:r>
          </a:p>
          <a:p>
            <a:r>
              <a:t>Say: "Section 3, Extrapolating: where drift shows first in each executive domain, and where each executive’s KISS decision sits."</a:t>
            </a:r>
          </a:p>
          <a:p>
            <a:r>
              <a:t>Say: "Section 4, Integration: the leadership team completes the quarterly page from its worked results and makes its KISS decisions at quarter close."</a:t>
            </a:r>
          </a:p>
          <a:p>
            <a:r>
              <a:t>Say: "Section 5, Application: your group completes the quarterly page for its Capstone organisation and makes its KISS decisions for the next quarter."</a:t>
            </a:r>
          </a:p>
          <a:p>
            <a:r>
              <a:t/>
            </a:r>
          </a:p>
          <a:p>
            <a:r>
              <a:rPr b="1"/>
              <a:t>2. Name the one instrument the unit produces.</a:t>
            </a:r>
          </a:p>
          <a:p>
            <a:r>
              <a:t>Say: "The unit produces one working instrument: the Quarterly Three Lines of Sight page. Each quarter it brings together results you already know how to produce: the Key Result against its WARD waypoint from Unit 6, the ESRG scan from Unit 10 and the Organisational Health Thermometer from Unit 11. WARD filters each line, and KISS closes the page."</a:t>
            </a:r>
          </a:p>
          <a:p>
            <a:r>
              <a:t/>
            </a:r>
          </a:p>
          <a:p>
            <a:r>
              <a:rPr b="1"/>
              <a:t>3. Remind the room that the results are already theirs.</a:t>
            </a:r>
          </a:p>
          <a:p>
            <a:r>
              <a:t>Say: "Each of your groups set WARD in Unit 6, ran the ESRG scan in Unit 10 and the Health Thermometer in Unit 11. Unit 12 is the quarterly routine that brings these results onto one page and acts on them."</a:t>
            </a:r>
          </a:p>
          <a:p>
            <a:r>
              <a:t/>
            </a:r>
          </a:p>
          <a:p>
            <a:r>
              <a:rPr b="1"/>
              <a:t>4. Bridge to Section 1.</a:t>
            </a:r>
          </a:p>
          <a:p>
            <a:r>
              <a:t>Say: "We begin with what sustains performance."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1 · AWARENESS — WHAT · WHAT SUSTAINS PERFORMANCE</a:t>
            </a:r>
            <a:endParaRPr lang="en-US" dirty="0"/>
          </a:p>
          <a:p>
            <a:r>
              <a:t/>
            </a:r>
          </a:p>
          <a:p>
            <a:r>
              <a:rPr b="1"/>
              <a:t>HOW THIS SECTION RUNS:</a:t>
            </a:r>
          </a:p>
          <a:p>
            <a:r>
              <a:t>Three parts: 1.1 Performance Gravity, 1.2 The Three Lines of Sight with the WARD filter, and 1.3 KISS: The Four Sustaining Decisions. Teach 1.1 and 1.2 first, then return to the room with the opening question of the unit. In 1.2, connect each line to the result it reads, then show how WARD filters all three. In 1.3, define each KISS decision clearly: Section 2 explains why each one counters a form of drift, so 1.3 stays with what each decision is. The section closes with one personal reflection.</a:t>
            </a:r>
          </a:p>
          <a:p>
            <a:r>
              <a:t/>
            </a:r>
          </a:p>
          <a:p>
            <a:r>
              <a:rPr b="1"/>
              <a:t>SECTION LEARNING OUTCOMES:</a:t>
            </a:r>
          </a:p>
          <a:p>
            <a:r>
              <a:rPr b="1"/>
              <a:t>1. Recognise the force that pulls achieved results back towards average.</a:t>
            </a:r>
          </a:p>
          <a:p>
            <a:r>
              <a:rPr b="1"/>
              <a:t>2. Identify the leadership decisions that hold performance against that pull.</a:t>
            </a:r>
          </a:p>
          <a:p>
            <a:r>
              <a:t/>
            </a:r>
          </a:p>
          <a:p>
            <a:r>
              <a:rPr b="1"/>
              <a:t>HOW TO OPEN THE SECTION:</a:t>
            </a:r>
          </a:p>
          <a:p>
            <a:r>
              <a:t/>
            </a:r>
          </a:p>
          <a:p>
            <a:r>
              <a:rPr b="1"/>
              <a:t>1. Read the outcomes.</a:t>
            </a:r>
          </a:p>
          <a:p>
            <a:r>
              <a:t>Say: "In this section you will recognise the force that pulls achieved results back towards average, and identify the leadership decisions that hold performance against that pull."</a:t>
            </a:r>
          </a:p>
          <a:p>
            <a:r>
              <a:t/>
            </a:r>
          </a:p>
          <a:p>
            <a:r>
              <a:rPr b="1"/>
              <a:t>2. Put the question of the unit to the room.</a:t>
            </a:r>
          </a:p>
          <a:p>
            <a:r>
              <a:t>Say: "Section 1 opens with the question of the unit: once a result is achieved, what holds it?"</a:t>
            </a:r>
          </a:p>
          <a:p>
            <a:r>
              <a:t>Leave the question open. The room answers it after 1.2.</a:t>
            </a:r>
          </a:p>
          <a:p>
            <a:r>
              <a:t/>
            </a:r>
          </a:p>
          <a:p>
            <a:r>
              <a:rPr b="1"/>
              <a:t>3. Bridge to 1.1.</a:t>
            </a:r>
          </a:p>
          <a:p>
            <a:r>
              <a:t>Say: "We start with the force every achieved result faces."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1.1 — PERFORMANCE GRAVITY</a:t>
            </a:r>
            <a:endParaRPr lang="en-US" dirty="0"/>
          </a:p>
          <a:p>
            <a:r>
              <a:t/>
            </a:r>
          </a:p>
          <a:p>
            <a:r>
              <a:rPr b="1"/>
              <a:t>HOW TO TEACH IT:</a:t>
            </a:r>
          </a:p>
          <a:p>
            <a:r>
              <a:t/>
            </a:r>
          </a:p>
          <a:p>
            <a:r>
              <a:rPr b="1"/>
              <a:t>1. Separate achieving from holding.</a:t>
            </a:r>
          </a:p>
          <a:p>
            <a:r>
              <a:t>Say: "Achieving a result and holding it are two separate leadership tasks. The strategy, the contributions and the performance system you have built across this programme produce results."</a:t>
            </a:r>
          </a:p>
          <a:p>
            <a:r>
              <a:t/>
            </a:r>
          </a:p>
          <a:p>
            <a:r>
              <a:rPr b="1"/>
              <a:t>2. Name the pull.</a:t>
            </a:r>
          </a:p>
          <a:p>
            <a:r>
              <a:t>Say: "Once achieved, those results come under a steady pull back towards the organisation’s historical average. This pull is Performance Gravity."</a:t>
            </a:r>
          </a:p>
          <a:p>
            <a:r>
              <a:t>Deepen, say: "Implementation is incomplete until the gains can be sustained. Completing a project and sustaining a capability are two separate achievements. Results are protected through ownership, resourcing, monitoring and corrective action, and they regress when that maintenance weakens."</a:t>
            </a:r>
          </a:p>
          <a:p>
            <a:r>
              <a:t>(Insight: Completion and capability. Source: Journal, 11 August 2026 — Professional Insights: Strategy)</a:t>
            </a:r>
          </a:p>
          <a:p>
            <a:r>
              <a:t/>
            </a:r>
          </a:p>
          <a:p>
            <a:r>
              <a:rPr b="1"/>
              <a:t>3. Show how Performance Gravity works.</a:t>
            </a:r>
          </a:p>
          <a:p>
            <a:r>
              <a:t>Say: "Performance Gravity works quietly. Results often remain acceptable for several cycles while the conditions and behaviours that produced them weaken underneath. By the time the decline shows in the result, the cost of correcting it is far higher than the cost of noticing it early."</a:t>
            </a:r>
          </a:p>
          <a:p>
            <a:r>
              <a:t>Deepen, say: "Organisations rarely fail through a single catastrophic decision. Decline is cumulative: neglected principles, ignored warnings and normalised unhealthy behaviour gradually weaken the systems designed to sustain success."</a:t>
            </a:r>
          </a:p>
          <a:p>
            <a:r>
              <a:t>(Insight: Cumulative decline. Source: Journal, 27 July 2026 — Professional Insights: Strategy)</a:t>
            </a:r>
          </a:p>
          <a:p>
            <a:r>
              <a:t/>
            </a:r>
          </a:p>
          <a:p>
            <a:r>
              <a:rPr b="1"/>
              <a:t>4. Define sustaining performance.</a:t>
            </a:r>
          </a:p>
          <a:p>
            <a:r>
              <a:t>Say: "Sustaining performance is the leadership discipline of seeing that pull early and responding to it every cycle."</a:t>
            </a:r>
          </a:p>
          <a:p>
            <a:r>
              <a:t>Ask: "Why is Performance Gravity hard to see if you read the result alone?"</a:t>
            </a:r>
          </a:p>
          <a:p>
            <a:r>
              <a:t>Listen for: the result stays acceptable for several cycles; the conditions and behaviours that produced it weaken underneath; the decline shows late, when correcting it costs far more.</a:t>
            </a:r>
          </a:p>
          <a:p>
            <a:r>
              <a:t/>
            </a:r>
          </a:p>
          <a:p>
            <a:r>
              <a:rPr b="1"/>
              <a:t>5. Bridge to 1.2.</a:t>
            </a:r>
          </a:p>
          <a:p>
            <a:r>
              <a:t>Say: "If Performance Gravity works underneath the result, a leadership team has to read more than the result. That is the work of the Three Lines of Sight."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1.2 — THE THREE LINES OF SIGHT</a:t>
            </a:r>
            <a:endParaRPr lang="en-US" dirty="0"/>
          </a:p>
          <a:p>
            <a:r>
              <a:t/>
            </a:r>
          </a:p>
          <a:p>
            <a:r>
              <a:rPr b="1"/>
              <a:t>HOW TO TEACH IT:</a:t>
            </a:r>
          </a:p>
          <a:p>
            <a:r>
              <a:t/>
            </a:r>
          </a:p>
          <a:p>
            <a:r>
              <a:rPr b="1"/>
              <a:t>1. Introduce the three lines.</a:t>
            </a:r>
          </a:p>
          <a:p>
            <a:r>
              <a:t>Say: "Performance Gravity shows first as drift on one of three lines of sight: strategic, operational and behavioural. Sustaining performance means keeping all three in view, every quarter, on the enterprise Key Result and the contributions in your S2R® Contribution Map™."</a:t>
            </a:r>
          </a:p>
          <a:p>
            <a:r>
              <a:t>Say: "Each line is read from a result your leadership team already produces."</a:t>
            </a:r>
          </a:p>
          <a:p>
            <a:r>
              <a:t/>
            </a:r>
          </a:p>
          <a:p>
            <a:r>
              <a:rPr b="1"/>
              <a:t>2. Teach the strategic line.</a:t>
            </a:r>
          </a:p>
          <a:p>
            <a:r>
              <a:t>Say: "The question the strategic line asks each quarter is: is the Key Result still moving towards its Success in Practice? It reads the Key Result against its WARD waypoint, set in Unit 6."</a:t>
            </a:r>
          </a:p>
          <a:p>
            <a:r>
              <a:t/>
            </a:r>
          </a:p>
          <a:p>
            <a:r>
              <a:rPr b="1"/>
              <a:t>3. Teach the operational line.</a:t>
            </a:r>
          </a:p>
          <a:p>
            <a:r>
              <a:t>Say: "The question the operational line asks is: are the organisational conditions still enabling the people’s tasks? It reads the ESRG scan from Unit 10: Operational Readiness, Operational Flow, Delivery Capacity and Decision Responsiveness."</a:t>
            </a:r>
          </a:p>
          <a:p>
            <a:r>
              <a:t/>
            </a:r>
          </a:p>
          <a:p>
            <a:r>
              <a:rPr b="1"/>
              <a:t>4. Teach the behavioural line.</a:t>
            </a:r>
          </a:p>
          <a:p>
            <a:r>
              <a:t>Say: "The question the behavioural line asks is: are people still delivering the agreed behaviours? It reads the Organisational Health Thermometer from Unit 11: the functional health score and the five traits."</a:t>
            </a:r>
          </a:p>
          <a:p>
            <a:r>
              <a:t/>
            </a:r>
          </a:p>
          <a:p>
            <a:r>
              <a:rPr b="1"/>
              <a:t>5. Check the link between each line and its result.</a:t>
            </a:r>
          </a:p>
          <a:p>
            <a:r>
              <a:t>Ask: "Which result does each line read?"</a:t>
            </a:r>
          </a:p>
          <a:p>
            <a:r>
              <a:t>Listen for: the strategic line reads the Key Result against its WARD waypoint; the operational line reads the ESRG scan; the behavioural line reads the Health Thermometer.</a:t>
            </a:r>
          </a:p>
          <a:p>
            <a:r>
              <a:t/>
            </a:r>
          </a:p>
          <a:p>
            <a:r>
              <a:rPr b="1"/>
              <a:t>6. Bridge to the WARD filter.</a:t>
            </a:r>
          </a:p>
          <a:p>
            <a:r>
              <a:t>Say: "Three lines, three results, three different scales. WARD lets your leadership team read all three in the same 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1.2 — FILTERING EACH LINE THROUGH WARD</a:t>
            </a:r>
            <a:endParaRPr lang="en-US" dirty="0"/>
          </a:p>
          <a:p>
            <a:r>
              <a:t/>
            </a:r>
          </a:p>
          <a:p>
            <a:r>
              <a:rPr b="1"/>
              <a:t>HOW TO TEACH IT:</a:t>
            </a:r>
          </a:p>
          <a:p>
            <a:r>
              <a:t/>
            </a:r>
          </a:p>
          <a:p>
            <a:r>
              <a:rPr b="1"/>
              <a:t>1. Recall WARD.</a:t>
            </a:r>
          </a:p>
          <a:p>
            <a:r>
              <a:t>Say: "WARD, set for your enterprise Key Result in Unit 6, filters all three lines. Each line has a level it must hold, the waypoint; a point at which it raises a red flag, the alert; a recovery; and a Decider."</a:t>
            </a:r>
          </a:p>
          <a:p>
            <a:r>
              <a:t/>
            </a:r>
          </a:p>
          <a:p>
            <a:r>
              <a:rPr b="1"/>
              <a:t>2. Read the waypoint row across.</a:t>
            </a:r>
          </a:p>
          <a:p>
            <a:r>
              <a:t>Say: "W, the waypoint. On the strategic line it is the Key Result level set for this quarter. On the operational line it is each capability at Aligned, 4.0 to 5.0. On the behavioural line it is functional health at Healthy &amp; Thriving, 80 to 100."</a:t>
            </a:r>
          </a:p>
          <a:p>
            <a:r>
              <a:t/>
            </a:r>
          </a:p>
          <a:p>
            <a:r>
              <a:rPr b="1"/>
              <a:t>3. Read the alert row across.</a:t>
            </a:r>
          </a:p>
          <a:p>
            <a:r>
              <a:t>Say: "A, the alert. On the strategic line it is more than the agreed margin below the waypoint. On the operational line it is a capability below 3.0, a Significant or Critical constraint. On the behavioural line it is functional health below 60, the Caution Zone or Unhealthy."</a:t>
            </a:r>
          </a:p>
          <a:p>
            <a:r>
              <a:t/>
            </a:r>
          </a:p>
          <a:p>
            <a:r>
              <a:rPr b="1"/>
              <a:t>4. Read the recovery row across.</a:t>
            </a:r>
          </a:p>
          <a:p>
            <a:r>
              <a:t>Say: "R, the recovery. On the strategic line it is the recovery for individuals and for the organisational conditions. On the operational line the owner of the condition restores it. On the behavioural line the accountable executive restores the weakest traits."</a:t>
            </a:r>
          </a:p>
          <a:p>
            <a:r>
              <a:t/>
            </a:r>
          </a:p>
          <a:p>
            <a:r>
              <a:rPr b="1"/>
              <a:t>5. Name the Decider.</a:t>
            </a:r>
          </a:p>
          <a:p>
            <a:r>
              <a:t>Say: "D, the Decider: the executive who decides on the recovery and sees it through. It is the same Decider on all three lines."</a:t>
            </a:r>
          </a:p>
          <a:p>
            <a:r>
              <a:t/>
            </a:r>
          </a:p>
          <a:p>
            <a:r>
              <a:rPr b="1"/>
              <a:t>6. Show where the bands come from.</a:t>
            </a:r>
          </a:p>
          <a:p>
            <a:r>
              <a:t>Say: "The operational and behavioural waypoints and alerts use the score bands you already learnt with the ESRG scan and the Health Thermometer."</a:t>
            </a:r>
          </a:p>
          <a:p>
            <a:r>
              <a:t/>
            </a:r>
          </a:p>
          <a:p>
            <a:r>
              <a:rPr b="1"/>
              <a:t>7. Show why all three lines matter.</a:t>
            </a:r>
          </a:p>
          <a:p>
            <a:r>
              <a:t>Say: "Drift usually raises an alert on the operational or behavioural line before the Key Result misses its waypoint. A leadership team that reads only the waypoint of the Key Result sees Performance Gravity last."</a:t>
            </a:r>
          </a:p>
          <a:p>
            <a:r>
              <a:t/>
            </a:r>
          </a:p>
          <a:p>
            <a:r>
              <a:rPr b="1"/>
              <a:t>8. Return to the room with the opening question.</a:t>
            </a:r>
          </a:p>
          <a:p>
            <a:r>
              <a:t>Ask: "Think of a result your organisation achieved and then lost. Which line of sight showed the drift first, and who was watching it?"</a:t>
            </a:r>
          </a:p>
          <a:p>
            <a:r>
              <a:t>Take two or three answers. For each one, name the line the drift showed on. When the answers settle on the result alone, bring the conversation back to the operational and behavioural lines.</a:t>
            </a:r>
          </a:p>
          <a:p>
            <a:r>
              <a:t>Ask: "When your leadership team reviews a Key Result, how much of the conversation is about the result, and how much is about the conditions and behaviours that produce it?"</a:t>
            </a:r>
          </a:p>
          <a:p>
            <a:r>
              <a:t>Listen for: reviews that stay on the strategic line; little or no review time on the conditions (operational line) or the behaviours (behavioural line).</a:t>
            </a:r>
          </a:p>
          <a:p>
            <a:r>
              <a:t/>
            </a:r>
          </a:p>
          <a:p>
            <a:r>
              <a:rPr b="1"/>
              <a:t>9. Bridge to 1.3.</a:t>
            </a:r>
          </a:p>
          <a:p>
            <a:r>
              <a:t>Say: "Reading the three lines shows where performance is drifting. What your leadership team does about it is decided through four decisions: KISS."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1.3 — KISS: THE FOUR SUSTAINING DECISIONS</a:t>
            </a:r>
            <a:endParaRPr lang="en-US" dirty="0"/>
          </a:p>
          <a:p>
            <a:r>
              <a:t/>
            </a:r>
          </a:p>
          <a:p>
            <a:r>
              <a:rPr b="1"/>
              <a:t>HOW TO TEACH IT:</a:t>
            </a:r>
          </a:p>
          <a:p>
            <a:r>
              <a:t/>
            </a:r>
          </a:p>
          <a:p>
            <a:r>
              <a:rPr b="1"/>
              <a:t>1. Set the moment of the decisions.</a:t>
            </a:r>
          </a:p>
          <a:p>
            <a:r>
              <a:t>Say: "At the close of every quarter, the leadership team makes four decisions about the practices, routines, behaviours and conditions behind its results: Keep, Improve, Stop and Start."</a:t>
            </a:r>
          </a:p>
          <a:p>
            <a:r>
              <a:t/>
            </a:r>
          </a:p>
          <a:p>
            <a:r>
              <a:rPr b="1"/>
              <a:t>2. Teach Keep.</a:t>
            </a:r>
          </a:p>
          <a:p>
            <a:r>
              <a:t>Say: "Keep: identify, name and protect the practices, routines, behaviours and conditions that are producing reliable results. Effective practices depend on leadership attention; when that attention moves elsewhere, they weaken without notice. Keep makes the implicit explicit: what is producing this result, and what must stay in place for it to continue?"</a:t>
            </a:r>
          </a:p>
          <a:p>
            <a:r>
              <a:t>Deepen, say: "Before the environment applies its pressure, decide what must be preserved for the organisation to remain itself, and which commitments are open to negotiation."</a:t>
            </a:r>
          </a:p>
          <a:p>
            <a:r>
              <a:t>(Insight: Keep. Source: Journal, 18 March 2026 — Professional Insights)</a:t>
            </a:r>
          </a:p>
          <a:p>
            <a:r>
              <a:t/>
            </a:r>
          </a:p>
          <a:p>
            <a:r>
              <a:rPr b="1"/>
              <a:t>3. Teach Improve.</a:t>
            </a:r>
          </a:p>
          <a:p>
            <a:r>
              <a:t>Say: "Improve: recognise what was working well and is beginning to work less well, and recalibrate it while the gap is still a signal. Practices that were excellent six months ago may be merely adequate today. Improve corrects them before the gap shows in the result."</a:t>
            </a:r>
          </a:p>
          <a:p>
            <a:r>
              <a:t/>
            </a:r>
          </a:p>
          <a:p>
            <a:r>
              <a:rPr b="1"/>
              <a:t>4. Teach Stop.</a:t>
            </a:r>
          </a:p>
          <a:p>
            <a:r>
              <a:t>Say: "Stop: eliminate practices, meetings, processes, reports and approval layers that consume energy without producing commensurate value. Stop is the hardest decision, because every practice has a sponsor and people whose interests it serves."</a:t>
            </a:r>
          </a:p>
          <a:p>
            <a:r>
              <a:t>Deepen, say: "Leaders accumulate programmes built to reproduce past breakthroughs. A programme that exists mainly because something like it succeeded before needs one test: does it still produce the original effect? If the case for keeping it is mostly nostalgia, it is a Stop decision."</a:t>
            </a:r>
          </a:p>
          <a:p>
            <a:r>
              <a:t>(Insight: Stop. Source: Journal, 6 May 2026 — Professional Insights: Leadership)</a:t>
            </a:r>
          </a:p>
          <a:p>
            <a:r>
              <a:t/>
            </a:r>
          </a:p>
          <a:p>
            <a:r>
              <a:rPr b="1"/>
              <a:t>5. Teach Start.</a:t>
            </a:r>
          </a:p>
          <a:p>
            <a:r>
              <a:t>Say: "Start: introduce what the organisation is not yet capable of and will need for the next level of performance. Start invests in future capability while current results make that investment possible."</a:t>
            </a:r>
          </a:p>
          <a:p>
            <a:r>
              <a:t>Deepen, say: "The end of one source of revenue is the prompt to commit to the next before necessity forces a scramble. Build the transition while the old stream still flows."</a:t>
            </a:r>
          </a:p>
          <a:p>
            <a:r>
              <a:t>(Insight: Start. Source: Journal, 13 June 2026 — Professional Insights: Strategy)</a:t>
            </a:r>
          </a:p>
          <a:p>
            <a:r>
              <a:t/>
            </a:r>
          </a:p>
          <a:p>
            <a:r>
              <a:rPr b="1"/>
              <a:t>6. Make each decision specific.</a:t>
            </a:r>
          </a:p>
          <a:p>
            <a:r>
              <a:t>Say: "A KISS decision is specific. It names the practice, the owner and when it takes effect."</a:t>
            </a:r>
          </a:p>
          <a:p>
            <a:r>
              <a:t>When a participant offers a general intention, ask them to name the practice, the owner and when it takes effect.</a:t>
            </a:r>
          </a:p>
          <a:p>
            <a:r>
              <a:t>Ask: "Which KISS decision does your leadership team find hardest to make, and what keeps it from being made?"</a:t>
            </a:r>
          </a:p>
          <a:p>
            <a:r>
              <a:t>Listen for: Stop, because every practice has a sponsor and people whose interests it serves; Keep, because what works is taken for granted until it weakens.</a:t>
            </a:r>
          </a:p>
          <a:p>
            <a:r>
              <a:t/>
            </a:r>
          </a:p>
          <a:p>
            <a:r>
              <a:rPr b="1"/>
              <a:t>7. Bridge to the reflection.</a:t>
            </a:r>
          </a:p>
          <a:p>
            <a:r>
              <a:t>Say: "In Section 2 you will see why each of these decisions answers a specific form of drift. Before that, one reflection on the three lines."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1 REFLECTIONS</a:t>
            </a:r>
            <a:endParaRPr lang="en-US" dirty="0"/>
          </a:p>
          <a:p>
            <a:r>
              <a:t/>
            </a:r>
          </a:p>
          <a:p>
            <a:r>
              <a:rPr b="1"/>
              <a:t>HOW TO USE THIS SLIDE:</a:t>
            </a:r>
          </a:p>
          <a:p>
            <a:r>
              <a:t/>
            </a:r>
          </a:p>
          <a:p>
            <a:r>
              <a:rPr b="1"/>
              <a:t>1. Read the reflection.</a:t>
            </a:r>
          </a:p>
          <a:p>
            <a:r>
              <a:t>Say: "Which of the three lines of sight does your leadership team read least, and what has that cost your organisation?"</a:t>
            </a:r>
          </a:p>
          <a:p>
            <a:r>
              <a:t/>
            </a:r>
          </a:p>
          <a:p>
            <a:r>
              <a:rPr b="1"/>
              <a:t>2. Connect it to 1.2.</a:t>
            </a:r>
          </a:p>
          <a:p>
            <a:r>
              <a:t>Say: "This reflection belongs to 1.2. Think about the line your leadership team gives the least attention: the strategic line and its Key Result, the operational line and its conditions, or the behavioural line and its agreed behaviours. Then name what that gap has cost."</a:t>
            </a:r>
          </a:p>
          <a:p>
            <a:r>
              <a:t/>
            </a:r>
          </a:p>
          <a:p>
            <a:r>
              <a:rPr b="1"/>
              <a:t>3. Bridge to Section 2.</a:t>
            </a:r>
          </a:p>
          <a:p>
            <a:r>
              <a:t>Say: "Section 2 explains why performance drifts on each line."</a:t>
            </a:r>
          </a:p>
          <a:p>
            <a:r>
              <a:t/>
            </a:r>
          </a:p>
          <a:p>
            <a:r>
              <a:rPr b="1"/>
              <a:t>ON THE PORTAL, AFTER THE TEACHING:</a:t>
            </a:r>
          </a:p>
          <a:p>
            <a:r>
              <a:t>Participants answer this reflection individually in part 1.2 of their unit page. It goes to their Learning Portfolio and to you for feedback.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2 · INTELLIGENCE — WHY · WHY PERFORMANCE DRIFTS, AND WHY KISS HOLDS IT</a:t>
            </a:r>
            <a:endParaRPr lang="en-US" dirty="0"/>
          </a:p>
          <a:p>
            <a:r>
              <a:t/>
            </a:r>
          </a:p>
          <a:p>
            <a:r>
              <a:rPr b="1"/>
              <a:t>HOW THIS SECTION RUNS:</a:t>
            </a:r>
          </a:p>
          <a:p>
            <a:r>
              <a:t>Two parts. Teach 2.1 one line at a time: the mechanism, how it shows, and how it reaches the result. Use an example from the room for each line once it has been taught. Then teach 2.2 by reading the table across: the line of sight, the drift on that line, and the KISS decisions that counter it. Make the link explicit: each KISS decision answers a specific form of drift. Close with the participant reflection, and guide participants to name a real practice from their own organisation.</a:t>
            </a:r>
          </a:p>
          <a:p>
            <a:r>
              <a:t/>
            </a:r>
          </a:p>
          <a:p>
            <a:r>
              <a:rPr b="1"/>
              <a:t>SECTION LEARNING OUTCOMES:</a:t>
            </a:r>
          </a:p>
          <a:p>
            <a:r>
              <a:rPr b="1"/>
              <a:t>1. Explain why achieved performance drifts back towards average across strategy, operations and behaviour.</a:t>
            </a:r>
          </a:p>
          <a:p>
            <a:r>
              <a:rPr b="1"/>
              <a:t>2. Counter drift before it reaches the enterprise result.</a:t>
            </a:r>
          </a:p>
          <a:p>
            <a:r>
              <a:t/>
            </a:r>
          </a:p>
          <a:p>
            <a:r>
              <a:rPr b="1"/>
              <a:t>HOW TO OPEN THE SECTION:</a:t>
            </a:r>
          </a:p>
          <a:p>
            <a:r>
              <a:t/>
            </a:r>
          </a:p>
          <a:p>
            <a:r>
              <a:rPr b="1"/>
              <a:t>1. Read the outcomes.</a:t>
            </a:r>
          </a:p>
          <a:p>
            <a:r>
              <a:t>Say: "In this section you will explain why achieved performance drifts back towards average across strategy, operations and behaviour, and how to counter that drift before it reaches the enterprise result."</a:t>
            </a:r>
          </a:p>
          <a:p>
            <a:r>
              <a:t/>
            </a:r>
          </a:p>
          <a:p>
            <a:r>
              <a:rPr b="1"/>
              <a:t>2. Link back to Section 1.</a:t>
            </a:r>
          </a:p>
          <a:p>
            <a:r>
              <a:t>Say: "In Section 1 you saw that Performance Gravity shows first on one of three lines. In this section you will see the mechanism behind the drift on each line, and the KISS decisions that answer it."</a:t>
            </a:r>
          </a:p>
          <a:p>
            <a:r>
              <a:t/>
            </a:r>
          </a:p>
          <a:p>
            <a:r>
              <a:rPr b="1"/>
              <a:t>3. Bridge to 2.1.</a:t>
            </a:r>
          </a:p>
          <a:p>
            <a:r>
              <a:t>Say: "We take the three lines one at a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2.1 — WHY PERFORMANCE DRIFTS</a:t>
            </a:r>
            <a:endParaRPr lang="en-US" dirty="0"/>
          </a:p>
          <a:p>
            <a:r>
              <a:t/>
            </a:r>
          </a:p>
          <a:p>
            <a:r>
              <a:rPr b="1"/>
              <a:t>HOW TO TEACH IT:</a:t>
            </a:r>
          </a:p>
          <a:p>
            <a:r>
              <a:t/>
            </a:r>
          </a:p>
          <a:p>
            <a:r>
              <a:rPr b="1"/>
              <a:t>1. Set up the three mechanisms.</a:t>
            </a:r>
          </a:p>
          <a:p>
            <a:r>
              <a:t>Say: "Performance Gravity works through a different mechanism on each line of sight. For each line we look at the mechanism, how it shows, and how it reaches the result."</a:t>
            </a:r>
          </a:p>
          <a:p>
            <a:r>
              <a:t/>
            </a:r>
          </a:p>
          <a:p>
            <a:r>
              <a:rPr b="1"/>
              <a:t>2. Teach the strategic line: Momentum Illusion.</a:t>
            </a:r>
          </a:p>
          <a:p>
            <a:r>
              <a:t>Say: "The market, customers and competitors keep moving after the strategy is set. The organisation continues running the approach that produced its results, and the results stay acceptable for a while because momentum carries them forward. The Key Result keeps meeting its waypoints while the Success in Practice it serves moves further away."</a:t>
            </a:r>
          </a:p>
          <a:p>
            <a:r>
              <a:t>Say: "How it shows: waypoints met with growing effort; customers referring to alternatives that did not exist when the strategy was set; win rates and renewals moving slightly in the wrong direction."</a:t>
            </a:r>
          </a:p>
          <a:p>
            <a:r>
              <a:t>Deepen, say: "Organisations anchor their confidence in established structures: market positions, legacy products, long-standing advantages. Many of these are quietly on a clock. The leadership task is to identify which apparent permanences are temporary, and to build security on what will outlast them."</a:t>
            </a:r>
          </a:p>
          <a:p>
            <a:r>
              <a:t>(Insight: Momentum Illusion. Source: Journal, 29 May 2026 — Professional Insights: Strategy)</a:t>
            </a:r>
          </a:p>
          <a:p>
            <a:r>
              <a:t>Deepen, say: "When a business is at its peak, the disciplines that produced the peak are most at risk of being quietly set aside."</a:t>
            </a:r>
          </a:p>
          <a:p>
            <a:r>
              <a:t>(Insight: At the peak. Source: Journal, 10 June 2026 — Professional Insights: Strategy)</a:t>
            </a:r>
          </a:p>
          <a:p>
            <a:r>
              <a:t>Ask: "Where have you seen a Key Result keep meeting its waypoints while the market it serves moved on?"</a:t>
            </a:r>
          </a:p>
          <a:p>
            <a:r>
              <a:t>Take one example from the room.</a:t>
            </a:r>
          </a:p>
          <a:p>
            <a:r>
              <a:t>Listen for: waypoints met with growing effort; alternatives customers now mention; win rates and renewals easing in the wrong direction.</a:t>
            </a:r>
          </a:p>
          <a:p>
            <a:r>
              <a:t/>
            </a:r>
          </a:p>
          <a:p>
            <a:r>
              <a:rPr b="1"/>
              <a:t>3. Teach the operational line: Complexity Creep.</a:t>
            </a:r>
          </a:p>
          <a:p>
            <a:r>
              <a:t>Say: "Every change in regulation, cost or technology brings a structural response: a new approval, a new report, a new process. Each response made sense when it was created. Together they leave the organisation heavier and slower than its current environment requires, and the conditions named in the Contribution Map begin to constrain the people’s tasks."</a:t>
            </a:r>
          </a:p>
          <a:p>
            <a:r>
              <a:t>Say: "How it shows: approvals and processes no one can explain the current purpose of; manual workarounds; budget structures built for conditions that have since changed."</a:t>
            </a:r>
          </a:p>
          <a:p>
            <a:r>
              <a:t>Deepen, say: "An organisation can drift, one reasonable accommodation at a time, into a position that runs against its own purpose. Tracing a current commitment back through the decisions that led to it shows whether the destination still matches the intent."</a:t>
            </a:r>
          </a:p>
          <a:p>
            <a:r>
              <a:t>(Insight: Drift by accommodation. Source: Journal, 20 May 2026 — Professional Insights: Strategy)</a:t>
            </a:r>
          </a:p>
          <a:p>
            <a:r>
              <a:t>Ask: "Which approval, report or process in your organisation would no one be able to explain the current purpose of?"</a:t>
            </a:r>
          </a:p>
          <a:p>
            <a:r>
              <a:t>Take one example from the room.</a:t>
            </a:r>
          </a:p>
          <a:p>
            <a:r>
              <a:t>Listen for: approvals added after a single incident; reports produced for an audience that no longer reads them; manual workarounds around systems.</a:t>
            </a:r>
          </a:p>
          <a:p>
            <a:r>
              <a:t/>
            </a:r>
          </a:p>
          <a:p>
            <a:r>
              <a:rPr b="1"/>
              <a:t>4. Teach the behavioural line: Execution Regression.</a:t>
            </a:r>
          </a:p>
          <a:p>
            <a:r>
              <a:t>Say: "Every organisation carries habits, norms and assumptions reinforced over years. Once attention moves away from a new practice, these habits pull behaviour back towards the historical pattern. Review cadences loosen, escalation slows and standards return to earlier levels, often without anyone deciding to relax them."</a:t>
            </a:r>
          </a:p>
          <a:p>
            <a:r>
              <a:t>Say: "How it shows: reviews shortened or postponed; issues carried across several cycles; accountability applied unevenly; agreed behaviours visible only when leaders are watching."</a:t>
            </a:r>
          </a:p>
          <a:p>
            <a:r>
              <a:t>Deepen, say: "After key milestones, strategic focus can fragment as attention shifts from enterprise outcomes to individual or team recognition. Priorities lose sharpness and execution becomes less coordinated."</a:t>
            </a:r>
          </a:p>
          <a:p>
            <a:r>
              <a:t>(Insight: Execution Regression. Source: Journal, 21 April 2026 — Professional Insights)</a:t>
            </a:r>
          </a:p>
          <a:p>
            <a:r>
              <a:t>Deepen, say: "Organisations often respond to decline by reproducing the appearance of what once worked without restoring the capability, discipline or substance that made it valuable. Symbols, reports and routines remain intact while quality deteriorates."</a:t>
            </a:r>
          </a:p>
          <a:p>
            <a:r>
              <a:t>(Insight: Cosmetic continuity. Source: Journal, 18 July 2026 — Professional Insights: Strategy)</a:t>
            </a:r>
          </a:p>
          <a:p>
            <a:r>
              <a:t>Ask: "Which agreed behaviour in your organisation is visible only when leaders are watching?"</a:t>
            </a:r>
          </a:p>
          <a:p>
            <a:r>
              <a:t>Take one example from the room.</a:t>
            </a:r>
          </a:p>
          <a:p>
            <a:r>
              <a:t>Listen for: reviews shortened or postponed; issues carried over; accountability applied to some and not to others.</a:t>
            </a:r>
          </a:p>
          <a:p>
            <a:r>
              <a:t/>
            </a:r>
          </a:p>
          <a:p>
            <a:r>
              <a:rPr b="1"/>
              <a:t>5. Show why the behavioural line weakens the other two.</a:t>
            </a:r>
          </a:p>
          <a:p>
            <a:r>
              <a:t>Say: "Execution Regression weakens the organisation’s ability to respond on the other two lines, because the routines that detect drift are the first to loosen."</a:t>
            </a:r>
          </a:p>
          <a:p>
            <a:r>
              <a:t>Deepen, say: "A culture’s true posture shows in what people do once the threat has lifted. The disciplined practices of the last hard season are the first to be tested."</a:t>
            </a:r>
          </a:p>
          <a:p>
            <a:r>
              <a:t>(Insight: After the pressure eases. Source: Journal, 7 May 2026 — Professional Insights: Culture)</a:t>
            </a:r>
          </a:p>
          <a:p>
            <a:r>
              <a:t/>
            </a:r>
          </a:p>
          <a:p>
            <a:r>
              <a:rPr b="1"/>
              <a:t>6. Bridge to 2.2.</a:t>
            </a:r>
          </a:p>
          <a:p>
            <a:r>
              <a:t>Say: "Three lines, three mechanisms. Each KISS decision answers one of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2.2 — WHY KISS HOLDS PERFORMANCE</a:t>
            </a:r>
            <a:endParaRPr lang="en-US" dirty="0"/>
          </a:p>
          <a:p>
            <a:r>
              <a:t/>
            </a:r>
          </a:p>
          <a:p>
            <a:r>
              <a:rPr b="1"/>
              <a:t>HOW TO TEACH IT:</a:t>
            </a:r>
          </a:p>
          <a:p>
            <a:r>
              <a:t/>
            </a:r>
          </a:p>
          <a:p>
            <a:r>
              <a:rPr b="1"/>
              <a:t>1. State the principle.</a:t>
            </a:r>
          </a:p>
          <a:p>
            <a:r>
              <a:t>Say: "Each KISS decision answers a specific form of drift. Read the table across: the line of sight, the drift on that line, and the KISS decisions that counter it."</a:t>
            </a:r>
          </a:p>
          <a:p>
            <a:r>
              <a:t/>
            </a:r>
          </a:p>
          <a:p>
            <a:r>
              <a:rPr b="1"/>
              <a:t>2. Read the strategic row.</a:t>
            </a:r>
          </a:p>
          <a:p>
            <a:r>
              <a:t>Say: "On the strategic line, Momentum Illusion is countered by two decisions: Keep what still earns the result in the current market, and Start what the moved market now requires."</a:t>
            </a:r>
          </a:p>
          <a:p>
            <a:r>
              <a:t>Deepen, say: "Sound strategy identifies what must remain fixed, its purpose, values and direction, and allows the response to circumstances to adapt. Keep holds what is fixed; Start adapts."</a:t>
            </a:r>
          </a:p>
          <a:p>
            <a:r>
              <a:t>(Insight: Fixed and adaptable. Source: Journal, 20 September 2026 — Professional Insights: Strategy)</a:t>
            </a:r>
          </a:p>
          <a:p>
            <a:r>
              <a:t/>
            </a:r>
          </a:p>
          <a:p>
            <a:r>
              <a:rPr b="1"/>
              <a:t>3. Read the operational row.</a:t>
            </a:r>
          </a:p>
          <a:p>
            <a:r>
              <a:t>Say: "On the operational line, Complexity Creep is countered by Stop structures built for conditions that no longer exist, and Improve conditions that are beginning to constrain delivery."</a:t>
            </a:r>
          </a:p>
          <a:p>
            <a:r>
              <a:t>Deepen, say: "Leaders become blockers of growth when they treat inherited assumptions as permanent truth. A Stop decision starts by recognising when evidence or context is challenging an old boundary."</a:t>
            </a:r>
          </a:p>
          <a:p>
            <a:r>
              <a:t>(Insight: Inherited assumptions. Source: Journal, 26 July 2026 — Professional Insights: Leadership)</a:t>
            </a:r>
          </a:p>
          <a:p>
            <a:r>
              <a:t/>
            </a:r>
          </a:p>
          <a:p>
            <a:r>
              <a:rPr b="1"/>
              <a:t>4. Read the behavioural row.</a:t>
            </a:r>
          </a:p>
          <a:p>
            <a:r>
              <a:t>Say: "On the behavioural line, Execution Regression is countered by Keep the agreed behaviours protected with leadership attention, and Improve behaviours that have started to slip."</a:t>
            </a:r>
          </a:p>
          <a:p>
            <a:r>
              <a:t>Deepen, say: "When a crisis eases, the common response is relief with no reform. After every close call, ask: what condition produced this, and have we changed it?"</a:t>
            </a:r>
          </a:p>
          <a:p>
            <a:r>
              <a:t>(Insight: After a near-miss. Source: Journal, 30 June 2026 — Professional Insights: Strategy)</a:t>
            </a:r>
          </a:p>
          <a:p>
            <a:r>
              <a:t/>
            </a:r>
          </a:p>
          <a:p>
            <a:r>
              <a:rPr b="1"/>
              <a:t>5. Close the logic.</a:t>
            </a:r>
          </a:p>
          <a:p>
            <a:r>
              <a:t>Say: "A leadership team that reads the three lines each quarter and closes each quarter with its KISS decisions holds performance against all three mechanisms."</a:t>
            </a:r>
          </a:p>
          <a:p>
            <a:r>
              <a:t>Ask: "Take one of the examples we heard in 2.1. Which KISS decision would hold it?"</a:t>
            </a:r>
          </a:p>
          <a:p>
            <a:r>
              <a:t>Listen for: a decision that matches the line: Keep or Start on the strategic line; Stop or Improve on the operational line; Keep or Improve on the behavioural line. Ask who would make the decision.</a:t>
            </a:r>
          </a:p>
          <a:p>
            <a:r>
              <a:t/>
            </a:r>
          </a:p>
          <a:p>
            <a:r>
              <a:rPr b="1"/>
              <a:t>6. Bridge to the reflection.</a:t>
            </a:r>
          </a:p>
          <a:p>
            <a:r>
              <a:t>Say: "Now take this to a practice in your own organisation."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2 REFLECTIONS</a:t>
            </a:r>
            <a:endParaRPr lang="en-US" dirty="0"/>
          </a:p>
          <a:p>
            <a:r>
              <a:t/>
            </a:r>
          </a:p>
          <a:p>
            <a:r>
              <a:rPr b="1"/>
              <a:t>HOW TO USE THIS SLIDE:</a:t>
            </a:r>
          </a:p>
          <a:p>
            <a:r>
              <a:t/>
            </a:r>
          </a:p>
          <a:p>
            <a:r>
              <a:rPr b="1"/>
              <a:t>1. Read the reflection.</a:t>
            </a:r>
          </a:p>
          <a:p>
            <a:r>
              <a:t>Say: "Name one practice in your organisation that is drifting on one of the three lines. Which KISS decision would hold it, and who would need to make that decision?"</a:t>
            </a:r>
          </a:p>
          <a:p>
            <a:r>
              <a:t/>
            </a:r>
          </a:p>
          <a:p>
            <a:r>
              <a:rPr b="1"/>
              <a:t>2. Ask for a real practice.</a:t>
            </a:r>
          </a:p>
          <a:p>
            <a:r>
              <a:t>Say: "Name a real practice from your own organisation: the line it is drifting on, the KISS decision that would hold it, and the person who would need to make that decision."</a:t>
            </a:r>
          </a:p>
          <a:p>
            <a:r>
              <a:t/>
            </a:r>
          </a:p>
          <a:p>
            <a:r>
              <a:rPr b="1"/>
              <a:t>3. Bridge to Section 3.</a:t>
            </a:r>
          </a:p>
          <a:p>
            <a:r>
              <a:t>Say: "Section 3 shows where drift surfaces first in each executive domain, and which KISS decision each role usually leads."</a:t>
            </a:r>
          </a:p>
          <a:p>
            <a:r>
              <a:t/>
            </a:r>
          </a:p>
          <a:p>
            <a:r>
              <a:rPr b="1"/>
              <a:t>ON THE PORTAL, AFTER THE TEACHING:</a:t>
            </a:r>
          </a:p>
          <a:p>
            <a:r>
              <a:t>Participants answer this reflection individually in part 2.2 of their unit page. It goes to their Learning Portfolio and to you for feedback.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3 · EXTRAPOLATING — WHERE · WHERE DRIFT SHOWS FIRST, AND WHERE EACH KISS DECISION SITS</a:t>
            </a:r>
            <a:endParaRPr lang="en-US" dirty="0"/>
          </a:p>
          <a:p>
            <a:r>
              <a:t/>
            </a:r>
          </a:p>
          <a:p>
            <a:r>
              <a:rPr b="1"/>
              <a:t>HOW THIS SECTION RUNS:</a:t>
            </a:r>
          </a:p>
          <a:p>
            <a:r>
              <a:t>One part, 3.1, with ten executive roles. Walk the room through three or four roles represented in the cohort, then invite each participant to find their own role. Point out that each role has a line it reads first and a KISS decision it usually leads. The reflection that closes the section is individual work: guide participants to name a signal that is present in their organisation today, beyond what could be present.</a:t>
            </a:r>
          </a:p>
          <a:p>
            <a:r>
              <a:t/>
            </a:r>
          </a:p>
          <a:p>
            <a:r>
              <a:rPr b="1"/>
              <a:t>SECTION LEARNING OUTCOMES:</a:t>
            </a:r>
          </a:p>
          <a:p>
            <a:r>
              <a:rPr b="1"/>
              <a:t>1. Locate where drift appears first in each executive domain.</a:t>
            </a:r>
          </a:p>
          <a:p>
            <a:r>
              <a:rPr b="1"/>
              <a:t>2. Assign executive ownership for holding performance in each domain.</a:t>
            </a:r>
          </a:p>
          <a:p>
            <a:r>
              <a:t/>
            </a:r>
          </a:p>
          <a:p>
            <a:r>
              <a:rPr b="1"/>
              <a:t>HOW TO OPEN THE SECTION:</a:t>
            </a:r>
          </a:p>
          <a:p>
            <a:r>
              <a:t/>
            </a:r>
          </a:p>
          <a:p>
            <a:r>
              <a:rPr b="1"/>
              <a:t>1. Read the outcomes.</a:t>
            </a:r>
          </a:p>
          <a:p>
            <a:r>
              <a:t>Say: "In this section you will locate where drift appears first in each executive domain, and assign executive ownership for holding performance in each domain."</a:t>
            </a:r>
          </a:p>
          <a:p>
            <a:r>
              <a:t/>
            </a:r>
          </a:p>
          <a:p>
            <a:r>
              <a:rPr b="1"/>
              <a:t>2. State the principle of the section.</a:t>
            </a:r>
          </a:p>
          <a:p>
            <a:r>
              <a:t>Say: "Drift surfaces first in the executive domain closest to it. Each executive reads one line of sight first and usually leads the KISS decision that answers its drift."</a:t>
            </a:r>
          </a:p>
          <a:p>
            <a:r>
              <a:t/>
            </a:r>
          </a:p>
          <a:p>
            <a:r>
              <a:rPr b="1"/>
              <a:t>3. Bridge to 3.1.</a:t>
            </a:r>
          </a:p>
          <a:p>
            <a:r>
              <a:t>Say: "Let us see which line each role reads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 — WHERE DRIFT SHOWS FIRST: THE LINE EACH ROLE READS FIRST</a:t>
            </a:r>
            <a:endParaRPr lang="en-US" dirty="0"/>
          </a:p>
          <a:p>
            <a:r>
              <a:t/>
            </a:r>
          </a:p>
          <a:p>
            <a:r>
              <a:rPr b="1"/>
              <a:t>HOW TO TEACH IT:</a:t>
            </a:r>
          </a:p>
          <a:p>
            <a:r>
              <a:t/>
            </a:r>
          </a:p>
          <a:p>
            <a:r>
              <a:rPr b="1"/>
              <a:t>1. Read the slide across.</a:t>
            </a:r>
          </a:p>
          <a:p>
            <a:r>
              <a:t>Say: "The strategic line is read first by the CEO, the CMO and the CRO. The operational line is read first by the CFO, the CTO or CIO and the CPO. The behavioural line is read first by the CHRO."</a:t>
            </a:r>
          </a:p>
          <a:p>
            <a:r>
              <a:t>Say: "Three roles read more than one line first: the COO reads the operational and behavioural lines, the CCO the strategic and behavioural lines, and the CSO reads all three."</a:t>
            </a:r>
          </a:p>
          <a:p>
            <a:r>
              <a:t/>
            </a:r>
          </a:p>
          <a:p>
            <a:r>
              <a:rPr b="1"/>
              <a:t>2. Walk three or four roles represented in the room.</a:t>
            </a:r>
          </a:p>
          <a:p>
            <a:r>
              <a:t>Choose the roles that sit in this cohort. For each one, give its domain, the line it reads first and where drift shows first:</a:t>
            </a:r>
          </a:p>
          <a:p>
            <a:r>
              <a:t>- CEO · Strategic Coherence · strategic line. Drift shows first as priorities interpreted differently across business units, and initiatives multiplying without a clear link to the strategy.</a:t>
            </a:r>
          </a:p>
          <a:p>
            <a:r>
              <a:t>- CFO · Capital Discipline · operational line. Strategic initiatives underfunded while legacy activities stay fully resourced.</a:t>
            </a:r>
          </a:p>
          <a:p>
            <a:r>
              <a:t>- COO · Execution Cadence · operational and behavioural lines. Reviews shortened or postponed; operational issues carried across several cycles.</a:t>
            </a:r>
          </a:p>
          <a:p>
            <a:r>
              <a:t>- CHRO · Organisational Health · behavioural line. Less willingness to raise problems early; accountability applied unevenly.</a:t>
            </a:r>
          </a:p>
          <a:p>
            <a:r>
              <a:t>- CTO / CIO · Technology Enablement · operational line. Teams creating manual workarounds; data systems slowing decisions.</a:t>
            </a:r>
          </a:p>
          <a:p>
            <a:r>
              <a:t>- CMO · Market Intelligence · strategic line. Customer insight that reflects who the customer was; competitors responding faster.</a:t>
            </a:r>
          </a:p>
          <a:p>
            <a:r>
              <a:t>- CCO · Revenue Conversion · strategic and behavioural lines. Pipeline growth without matching revenue; performance explained through external factors alone.</a:t>
            </a:r>
          </a:p>
          <a:p>
            <a:r>
              <a:t>- CPO · Supply Resilience · operational line. Supplier reliability declining; short-term cost decisions over strategic partnerships.</a:t>
            </a:r>
          </a:p>
          <a:p>
            <a:r>
              <a:t>- CRO · Risk Intelligence · strategic line. Stakeholders raising risk questions the governance process does not yet address.</a:t>
            </a:r>
          </a:p>
          <a:p>
            <a:r>
              <a:t>- CSO · Strategy Translation · all three lines. OKRs drifting from strategic objectives; execution conversations busy and strategically vague.</a:t>
            </a:r>
          </a:p>
          <a:p>
            <a:r>
              <a:t/>
            </a:r>
          </a:p>
          <a:p>
            <a:r>
              <a:rPr b="1"/>
              <a:t>3. Connect the roles to Section 2.</a:t>
            </a:r>
          </a:p>
          <a:p>
            <a:r>
              <a:t>Say: "Each signal is one of the three mechanisms showing in a domain. The CMO sees Momentum Illusion in customer insight that reflects who the customer was. The CFO sees Complexity Creep in budgets that still fund legacy activities. The COO sees Execution Regression in reviews shortened or postponed."</a:t>
            </a:r>
          </a:p>
          <a:p>
            <a:r>
              <a:t/>
            </a:r>
          </a:p>
          <a:p>
            <a:r>
              <a:rPr b="1"/>
              <a:t>4. Invite each participant to find their own role.</a:t>
            </a:r>
          </a:p>
          <a:p>
            <a:r>
              <a:t>Ask: "Find your own role. Which line do you read first, and where does drift show first in your domain?"</a:t>
            </a:r>
          </a:p>
          <a:p>
            <a:r>
              <a:t>Listen for: the line given for the role; a signal named from the participant’s own domain.</a:t>
            </a:r>
          </a:p>
          <a:p>
            <a:r>
              <a:t/>
            </a:r>
          </a:p>
          <a:p>
            <a:r>
              <a:rPr b="1"/>
              <a:t>5. Bridge to the KISS decisions.</a:t>
            </a:r>
          </a:p>
          <a:p>
            <a:r>
              <a:t>Say: "Each role reads a line first. Each role also usually leads a KISS decision."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 — THE KISS DECISION EACH ROLE USUALLY LEADS (CEO TO CHRO, CTO / CIO)</a:t>
            </a:r>
            <a:endParaRPr lang="en-US" dirty="0"/>
          </a:p>
          <a:p>
            <a:r>
              <a:t/>
            </a:r>
          </a:p>
          <a:p>
            <a:r>
              <a:rPr b="1"/>
              <a:t>HOW TO TEACH IT:</a:t>
            </a:r>
          </a:p>
          <a:p>
            <a:r>
              <a:t/>
            </a:r>
          </a:p>
          <a:p>
            <a:r>
              <a:rPr b="1"/>
              <a:t>1. State the link between the line and the decision.</a:t>
            </a:r>
          </a:p>
          <a:p>
            <a:r>
              <a:t>Say: "The KISS decision a role usually leads answers the drift that shows first in its domain."</a:t>
            </a:r>
          </a:p>
          <a:p>
            <a:r>
              <a:t/>
            </a:r>
          </a:p>
          <a:p>
            <a:r>
              <a:rPr b="1"/>
              <a:t>2. Read the five roles.</a:t>
            </a:r>
          </a:p>
          <a:p>
            <a:r>
              <a:t>Say: "The CEO, Strategic Coherence, usually leads: Keep the strategic priorities clear, and Stop initiatives that compete with them."</a:t>
            </a:r>
          </a:p>
          <a:p>
            <a:r>
              <a:t>Say: "The CFO, Capital Discipline, usually leads: Stop legacy spending, and Start funding for the strategic initiatives."</a:t>
            </a:r>
          </a:p>
          <a:p>
            <a:r>
              <a:t>Say: "The COO, Execution Cadence, usually leads: Keep the review rhythm, and Improve escalation discipline."</a:t>
            </a:r>
          </a:p>
          <a:p>
            <a:r>
              <a:t>Say: "The CHRO, Organisational Health, usually leads: Keep the agreed behaviours, and Improve how they are recognised and reinforced."</a:t>
            </a:r>
          </a:p>
          <a:p>
            <a:r>
              <a:t>Say: "The CTO or CIO, Technology Enablement, usually leads: Improve the systems that constrain delivery, and Start capability the strategy will need."</a:t>
            </a:r>
          </a:p>
          <a:p>
            <a:r>
              <a:t/>
            </a:r>
          </a:p>
          <a:p>
            <a:r>
              <a:rPr b="1"/>
              <a:t>3. Link each decision to the drift it answers.</a:t>
            </a:r>
          </a:p>
          <a:p>
            <a:r>
              <a:t>Ask: "For the CFO, which drift does ‘Stop legacy spending’ answer?"</a:t>
            </a:r>
          </a:p>
          <a:p>
            <a:r>
              <a:t>Listen for: strategic initiatives underfunded while legacy activities stay fully resourced.</a:t>
            </a:r>
          </a:p>
          <a:p>
            <a:r>
              <a:t/>
            </a:r>
          </a:p>
          <a:p>
            <a:r>
              <a:rPr b="1"/>
              <a:t>4. Bridge to the next five roles.</a:t>
            </a:r>
          </a:p>
          <a:p>
            <a:r>
              <a:t>Say: "Now the market, revenue, supply, risk and strategy roles."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 — THE KISS DECISION EACH ROLE USUALLY LEADS (CMO TO CSO)</a:t>
            </a:r>
            <a:endParaRPr lang="en-US" dirty="0"/>
          </a:p>
          <a:p>
            <a:r>
              <a:t/>
            </a:r>
          </a:p>
          <a:p>
            <a:r>
              <a:rPr b="1"/>
              <a:t>HOW TO TEACH IT:</a:t>
            </a:r>
          </a:p>
          <a:p>
            <a:r>
              <a:t/>
            </a:r>
          </a:p>
          <a:p>
            <a:r>
              <a:rPr b="1"/>
              <a:t>1. Read the five roles.</a:t>
            </a:r>
          </a:p>
          <a:p>
            <a:r>
              <a:t>Say: "The CMO, Market Intelligence, usually leads: Start renewed customer intelligence, and Stop campaigns built on the old customer view."</a:t>
            </a:r>
          </a:p>
          <a:p>
            <a:r>
              <a:t>Say: "The CCO, Revenue Conversion, usually leads: Improve conversion practices, and Keep commercial discipline."</a:t>
            </a:r>
          </a:p>
          <a:p>
            <a:r>
              <a:t>Say: "The CPO, Supply Resilience, usually leads: Improve supplier arrangements, and Stop cost-only sourcing decisions."</a:t>
            </a:r>
          </a:p>
          <a:p>
            <a:r>
              <a:t>Say: "The CRO, Risk Intelligence, usually leads: Start risk input into strategic decisions, and Improve risk reporting."</a:t>
            </a:r>
          </a:p>
          <a:p>
            <a:r>
              <a:t>Say: "The CSO, Strategy Translation, usually leads: Keep the line from strategy to OKRs, and Improve how the three lines are read in reviews."</a:t>
            </a:r>
          </a:p>
          <a:p>
            <a:r>
              <a:t/>
            </a:r>
          </a:p>
          <a:p>
            <a:r>
              <a:rPr b="1"/>
              <a:t>2. Point out the pattern across the ten roles.</a:t>
            </a:r>
          </a:p>
          <a:p>
            <a:r>
              <a:t>Say: "Each role has a line it reads first and a KISS decision it usually leads. Together, the ten roles cover all three lines and all four decisions. Holding performance is shared across the executive team."</a:t>
            </a:r>
          </a:p>
          <a:p>
            <a:r>
              <a:t/>
            </a:r>
          </a:p>
          <a:p>
            <a:r>
              <a:rPr b="1"/>
              <a:t>3. Ask each participant to place their own role.</a:t>
            </a:r>
          </a:p>
          <a:p>
            <a:r>
              <a:t>Ask: "Which KISS decision does your role usually lead, and is it being made in your organisation today?"</a:t>
            </a:r>
          </a:p>
          <a:p>
            <a:r>
              <a:t>Listen for: the decision given for the role; a concrete practice named with it.</a:t>
            </a:r>
          </a:p>
          <a:p>
            <a:r>
              <a:t/>
            </a:r>
          </a:p>
          <a:p>
            <a:r>
              <a:rPr b="1"/>
              <a:t>4. Bridge to the reflection.</a:t>
            </a:r>
          </a:p>
          <a:p>
            <a:r>
              <a:t>Say: "Take this into a reflection on your own role."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3 REFLECTIONS</a:t>
            </a:r>
            <a:endParaRPr lang="en-US" dirty="0"/>
          </a:p>
          <a:p>
            <a:r>
              <a:t/>
            </a:r>
          </a:p>
          <a:p>
            <a:r>
              <a:rPr b="1"/>
              <a:t>HOW TO USE THIS SLIDE:</a:t>
            </a:r>
          </a:p>
          <a:p>
            <a:r>
              <a:t/>
            </a:r>
          </a:p>
          <a:p>
            <a:r>
              <a:rPr b="1"/>
              <a:t>1. Read the four fields.</a:t>
            </a:r>
          </a:p>
          <a:p>
            <a:r>
              <a:t>Say: "This reflection has four fields: your role; the line of sight you read first; the drift signal present in your organisation today; and the KISS decision you would lead."</a:t>
            </a:r>
          </a:p>
          <a:p>
            <a:r>
              <a:t/>
            </a:r>
          </a:p>
          <a:p>
            <a:r>
              <a:rPr b="1"/>
              <a:t>2. Ask for a signal present today.</a:t>
            </a:r>
          </a:p>
          <a:p>
            <a:r>
              <a:t>Say: "Name a signal that is present in your organisation today, beyond what could be present. Use the drift signals for your role in 3.1 as your guide."</a:t>
            </a:r>
          </a:p>
          <a:p>
            <a:r>
              <a:t/>
            </a:r>
          </a:p>
          <a:p>
            <a:r>
              <a:rPr b="1"/>
              <a:t>3. Bridge to Section 4.</a:t>
            </a:r>
          </a:p>
          <a:p>
            <a:r>
              <a:t>Say: "Section 4 brings the three lines and KISS together on one page for the whole leadership team."</a:t>
            </a:r>
          </a:p>
          <a:p>
            <a:r>
              <a:t/>
            </a:r>
          </a:p>
          <a:p>
            <a:r>
              <a:rPr b="1"/>
              <a:t>ON THE PORTAL, AFTER THE TEACHING:</a:t>
            </a:r>
          </a:p>
          <a:p>
            <a:r>
              <a:t>Participants complete this reflection individually in part 3.1 of their unit page. It goes to their Learning Portfolio and to you for feedback.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4 · INTEGRATION — COLLECTIVE · THE QUARTERLY THREE LINES OF SIGHT</a:t>
            </a:r>
            <a:endParaRPr lang="en-US" dirty="0"/>
          </a:p>
          <a:p>
            <a:r>
              <a:t/>
            </a:r>
          </a:p>
          <a:p>
            <a:r>
              <a:rPr b="1"/>
              <a:t>HOW THIS SECTION RUNS:</a:t>
            </a:r>
          </a:p>
          <a:p>
            <a:r>
              <a:t>Two parts. Teach 4.1 by walking through the page from top to bottom: the three lines, the WARD filter on each, then KISS at the foot. Point out that every entry on the page is a result the leadership team already produces. Walk through 4.2 one line at a time: for each line, show the result first and let the room decide whether the alert is raised before showing the recovery. Then build the KISS decisions together from the three lines. Point out that every figure in 4.2 comes from the worked examples of earlier units: the Key Result and WARD from Units 6 and 8, the ESRG scan from Unit 10, the Health Thermometer from Unit 11 and the clogs from Unit 9.</a:t>
            </a:r>
          </a:p>
          <a:p>
            <a:r>
              <a:t/>
            </a:r>
          </a:p>
          <a:p>
            <a:r>
              <a:rPr b="1"/>
              <a:t>SECTION LEARNING OUTCOMES:</a:t>
            </a:r>
          </a:p>
          <a:p>
            <a:r>
              <a:rPr b="1"/>
              <a:t>1. Establish a collective leadership rhythm that sustains performance across every contribution.</a:t>
            </a:r>
          </a:p>
          <a:p>
            <a:r>
              <a:rPr b="1"/>
              <a:t>2. Coordinate the enterprise response to drift before it reaches the result.</a:t>
            </a:r>
          </a:p>
          <a:p>
            <a:r>
              <a:t/>
            </a:r>
          </a:p>
          <a:p>
            <a:r>
              <a:rPr b="1"/>
              <a:t>HOW TO OPEN THE SECTION:</a:t>
            </a:r>
          </a:p>
          <a:p>
            <a:r>
              <a:t/>
            </a:r>
          </a:p>
          <a:p>
            <a:r>
              <a:rPr b="1"/>
              <a:t>1. Read the outcomes.</a:t>
            </a:r>
          </a:p>
          <a:p>
            <a:r>
              <a:t>Say: "In this section you will establish a collective leadership rhythm that sustains performance across every contribution, and coordinate the enterprise response to drift before it reaches the result."</a:t>
            </a:r>
          </a:p>
          <a:p>
            <a:r>
              <a:t/>
            </a:r>
          </a:p>
          <a:p>
            <a:r>
              <a:rPr b="1"/>
              <a:t>2. Link back to Sections 1 to 3.</a:t>
            </a:r>
          </a:p>
          <a:p>
            <a:r>
              <a:t>Say: "You have the three lines, the WARD filter, the four KISS decisions, the drift mechanisms and the roles that read each line. Section 4 brings them onto one page that the leadership team completes every quarter."</a:t>
            </a:r>
          </a:p>
          <a:p>
            <a:r>
              <a:t/>
            </a:r>
          </a:p>
          <a:p>
            <a:r>
              <a:rPr b="1"/>
              <a:t>3. Bridge to 4.1.</a:t>
            </a:r>
          </a:p>
          <a:p>
            <a:r>
              <a:t>Say: "Here is the page."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4.1 — THE QUARTERLY THREE LINES OF SIGHT PAGE</a:t>
            </a:r>
            <a:endParaRPr lang="en-US" dirty="0"/>
          </a:p>
          <a:p>
            <a:r>
              <a:t/>
            </a:r>
          </a:p>
          <a:p>
            <a:r>
              <a:rPr b="1"/>
              <a:t>HOW TO TEACH IT:</a:t>
            </a:r>
          </a:p>
          <a:p>
            <a:r>
              <a:t/>
            </a:r>
          </a:p>
          <a:p>
            <a:r>
              <a:rPr b="1"/>
              <a:t>1. State what the page is.</a:t>
            </a:r>
          </a:p>
          <a:p>
            <a:r>
              <a:t>Say: "Each quarter the leadership team completes one page for each enterprise Key Result. The page brings the three lines together, filters each through WARD and closes with the KISS decisions for the next quarter."</a:t>
            </a:r>
          </a:p>
          <a:p>
            <a:r>
              <a:t/>
            </a:r>
          </a:p>
          <a:p>
            <a:r>
              <a:rPr b="1"/>
              <a:t>2. Walk the header.</a:t>
            </a:r>
          </a:p>
          <a:p>
            <a:r>
              <a:t>Say: "At the top: the enterprise Key Result, the quarter and the Decider."</a:t>
            </a:r>
          </a:p>
          <a:p>
            <a:r>
              <a:t/>
            </a:r>
          </a:p>
          <a:p>
            <a:r>
              <a:rPr b="1"/>
              <a:t>3. Walk the three lines.</a:t>
            </a:r>
          </a:p>
          <a:p>
            <a:r>
              <a:t>Say: "Then the three lines of sight. On each line the leadership team enters six things: the result this quarter, the waypoint, the alert, whether the alert is raised (yes or no), the recovery and its owner, and when the Decider checks it."</a:t>
            </a:r>
          </a:p>
          <a:p>
            <a:r>
              <a:t/>
            </a:r>
          </a:p>
          <a:p>
            <a:r>
              <a:rPr b="1"/>
              <a:t>4. Walk the foot.</a:t>
            </a:r>
          </a:p>
          <a:p>
            <a:r>
              <a:t>Say: "At the foot: KISS for the next quarter. Keep, Improve, Stop and Start, each with the practice, the line of sight it comes from and its owner."</a:t>
            </a:r>
          </a:p>
          <a:p>
            <a:r>
              <a:t/>
            </a:r>
          </a:p>
          <a:p>
            <a:r>
              <a:rPr b="1"/>
              <a:t>5. Point out where every entry comes from.</a:t>
            </a:r>
          </a:p>
          <a:p>
            <a:r>
              <a:t>Say: "Every entry on this page is a result your leadership team already produces: the Key Result and its WARD, the ESRG scan and the Health Thermometer."</a:t>
            </a:r>
          </a:p>
          <a:p>
            <a:r>
              <a:t>Deepen, say: "The wisest strategic insight is only as durable as the system built to sustain it. This page is the system that holds the decisions of each quarter."</a:t>
            </a:r>
          </a:p>
          <a:p>
            <a:r>
              <a:t>(Insight: Systems behind decisions. Source: Journal, 7 June 2026 — Professional Insights: Strategy)</a:t>
            </a:r>
          </a:p>
          <a:p>
            <a:r>
              <a:t/>
            </a:r>
          </a:p>
          <a:p>
            <a:r>
              <a:rPr b="1"/>
              <a:t>6. Show what four quarters reveal.</a:t>
            </a:r>
          </a:p>
          <a:p>
            <a:r>
              <a:t>Say: "Over four quarters, the pages show whether each line is holding, recovering or drifting, and whether the KISS decisions made at each quarter close moved the next quarter’s results."</a:t>
            </a:r>
          </a:p>
          <a:p>
            <a:r>
              <a:t/>
            </a:r>
          </a:p>
          <a:p>
            <a:r>
              <a:rPr b="1"/>
              <a:t>7. Bridge to 4.2.</a:t>
            </a:r>
          </a:p>
          <a:p>
            <a:r>
              <a:t>Say: "Let us complete one page together, using figures you have already met."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4.2 — WORKED EXAMPLE: QUARTER 2, CUSTOMER SERVICE · RESULTS AGAINST WARD</a:t>
            </a:r>
            <a:endParaRPr lang="en-US" dirty="0"/>
          </a:p>
          <a:p>
            <a:r>
              <a:t/>
            </a:r>
          </a:p>
          <a:p>
            <a:r>
              <a:rPr b="1"/>
              <a:t>HOW TO TEACH IT:</a:t>
            </a:r>
          </a:p>
          <a:p>
            <a:r>
              <a:t/>
            </a:r>
          </a:p>
          <a:p>
            <a:r>
              <a:rPr b="1"/>
              <a:t>1. Set the header.</a:t>
            </a:r>
          </a:p>
          <a:p>
            <a:r>
              <a:t>Say: "The enterprise Key Result is: increase customer enquiries resolved within 48 hours from 65% to 90% by year-end. The quarter is Quarter 2, April to June. The Decider is the Customer Service Executive."</a:t>
            </a:r>
          </a:p>
          <a:p>
            <a:r>
              <a:t>Say: "Every figure on this page comes from the worked examples in earlier units."</a:t>
            </a:r>
          </a:p>
          <a:p>
            <a:r>
              <a:t/>
            </a:r>
          </a:p>
          <a:p>
            <a:r>
              <a:rPr b="1"/>
              <a:t>2. Read the strategic line, then let the room decide.</a:t>
            </a:r>
          </a:p>
          <a:p>
            <a:r>
              <a:t>Say: "Strategic line: the result this quarter is 74% resolved within 48 hours. The waypoint is 80% by the end of June. The alert is more than three points below the waypoint."</a:t>
            </a:r>
          </a:p>
          <a:p>
            <a:r>
              <a:t>Ask: "Is the alert raised?"</a:t>
            </a:r>
          </a:p>
          <a:p>
            <a:r>
              <a:t>Listen for: yes, six points below the waypoint.</a:t>
            </a:r>
          </a:p>
          <a:p>
            <a:r>
              <a:t/>
            </a:r>
          </a:p>
          <a:p>
            <a:r>
              <a:rPr b="1"/>
              <a:t>3. Read the operational line, then let the room decide.</a:t>
            </a:r>
          </a:p>
          <a:p>
            <a:r>
              <a:t>Say: "Operational line, the ESRG scan for Customer Service: Operational Readiness 4.3, Operational Flow 2.0, Delivery Capacity 4.0, Decision Responsiveness 3.7. The waypoint is each capability at 4.0 or above. The alert is any capability below 3.0."</a:t>
            </a:r>
          </a:p>
          <a:p>
            <a:r>
              <a:t>Ask: "Is the alert raised, and on which capability?"</a:t>
            </a:r>
          </a:p>
          <a:p>
            <a:r>
              <a:t>Listen for: yes, Operational Flow at 2.0. Decision Responsiveness at 3.7 is below the waypoint and above the alert.</a:t>
            </a:r>
          </a:p>
          <a:p>
            <a:r>
              <a:t/>
            </a:r>
          </a:p>
          <a:p>
            <a:r>
              <a:rPr b="1"/>
              <a:t>4. Read the behavioural line, then let the room decide.</a:t>
            </a:r>
          </a:p>
          <a:p>
            <a:r>
              <a:t>Say: "Behavioural line, the Health Thermometer for Operations: 52 out of 100, down from 80 in Quarter 1. Minimal Politics at 8 and High Morale at 8 show the largest declines. The waypoint is 80 or above. The alert is below 60."</a:t>
            </a:r>
          </a:p>
          <a:p>
            <a:r>
              <a:t>Ask: "Is the alert raised?"</a:t>
            </a:r>
          </a:p>
          <a:p>
            <a:r>
              <a:t>Listen for: yes, the Caution Zone.</a:t>
            </a:r>
          </a:p>
          <a:p>
            <a:r>
              <a:t/>
            </a:r>
          </a:p>
          <a:p>
            <a:r>
              <a:rPr b="1"/>
              <a:t>5. Read what the three lines show together.</a:t>
            </a:r>
          </a:p>
          <a:p>
            <a:r>
              <a:t>Say: "All three lines raise an alert this quarter. The behavioural line moved from 80 to 52 in one quarter, and the operational line shows Operational Flow at 2.0, while the strategic line is six points below its waypoint."</a:t>
            </a:r>
          </a:p>
          <a:p>
            <a:r>
              <a:t>Ask: "Which line would a leadership team that reads only the Key Result have missed?"</a:t>
            </a:r>
          </a:p>
          <a:p>
            <a:r>
              <a:t>Listen for: the operational and behavioural lines, the conditions and behaviours behind the 74%.</a:t>
            </a:r>
          </a:p>
          <a:p>
            <a:r>
              <a:t/>
            </a:r>
          </a:p>
          <a:p>
            <a:r>
              <a:rPr b="1"/>
              <a:t>6. Name the sources.</a:t>
            </a:r>
          </a:p>
          <a:p>
            <a:r>
              <a:t>Say: "The Key Result, waypoint, alert, June result and recovery come from Units 6 and 8. The ESRG profile comes from Unit 10, part 2.4. The health scores come from Unit 11, part 4.3."</a:t>
            </a:r>
          </a:p>
          <a:p>
            <a:r>
              <a:t/>
            </a:r>
          </a:p>
          <a:p>
            <a:r>
              <a:rPr b="1"/>
              <a:t>7. Bridge to the recoveries.</a:t>
            </a:r>
          </a:p>
          <a:p>
            <a:r>
              <a:t>Say: "Three alerts. Now the recovery on each 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4.2 — WORKED EXAMPLE: ALERTS AND RECOVERIES</a:t>
            </a:r>
            <a:endParaRPr lang="en-US" dirty="0"/>
          </a:p>
          <a:p>
            <a:r>
              <a:t/>
            </a:r>
          </a:p>
          <a:p>
            <a:r>
              <a:rPr b="1"/>
              <a:t>HOW TO TEACH IT:</a:t>
            </a:r>
          </a:p>
          <a:p>
            <a:r>
              <a:t/>
            </a:r>
          </a:p>
          <a:p>
            <a:r>
              <a:rPr b="1"/>
              <a:t>1. Read the strategic recovery.</a:t>
            </a:r>
          </a:p>
          <a:p>
            <a:r>
              <a:t>Say: "Strategic line, alert raised, six points below. Recovery: team leaders review open enquiries with each owner every morning. The Decider checks it at the end of July."</a:t>
            </a:r>
          </a:p>
          <a:p>
            <a:r>
              <a:t/>
            </a:r>
          </a:p>
          <a:p>
            <a:r>
              <a:rPr b="1"/>
              <a:t>2. Read the operational recovery.</a:t>
            </a:r>
          </a:p>
          <a:p>
            <a:r>
              <a:t>Say: "Operational line, alert raised, Operational Flow at 2.0. Recovery: IT restores system availability from 96% to 99% within four weeks, and Customer Service and Operations examine Standardisation, Integration and Process Efficiency behind Operational Flow. The Decider checks it at the end of July."</a:t>
            </a:r>
          </a:p>
          <a:p>
            <a:r>
              <a:t/>
            </a:r>
          </a:p>
          <a:p>
            <a:r>
              <a:rPr b="1"/>
              <a:t>3. Read the behavioural recovery.</a:t>
            </a:r>
          </a:p>
          <a:p>
            <a:r>
              <a:t>Say: "Behavioural line, alert raised, Caution Zone. Recovery: the COO strengthens collaboration, trust and commitment in Operations. The Decider checks it at the next thermometer, in Quarter 3."</a:t>
            </a:r>
          </a:p>
          <a:p>
            <a:r>
              <a:t/>
            </a:r>
          </a:p>
          <a:p>
            <a:r>
              <a:rPr b="1"/>
              <a:t>4. Point out the owners and the one Decider.</a:t>
            </a:r>
          </a:p>
          <a:p>
            <a:r>
              <a:t>Say: "Each recovery has its owner: the team leaders on the strategic line, IT with Customer Service and Operations on the operational line, the COO on the behavioural line. One Decider, the Customer Service Executive, decides on the recoveries and sees them through."</a:t>
            </a:r>
          </a:p>
          <a:p>
            <a:r>
              <a:t>Deepen, say: "Pressure tempts leaders to confuse urgent relief with sound direction. Each recovery here goes back to the condition or the behaviour behind the drift."</a:t>
            </a:r>
          </a:p>
          <a:p>
            <a:r>
              <a:t>(Insight: First principles under pressure. Source: Journal, 23 July 2026 — Professional Insights: Strategy)</a:t>
            </a:r>
          </a:p>
          <a:p>
            <a:r>
              <a:t/>
            </a:r>
          </a:p>
          <a:p>
            <a:r>
              <a:rPr b="1"/>
              <a:t>5. Bridge to KISS.</a:t>
            </a:r>
          </a:p>
          <a:p>
            <a:r>
              <a:t>Say: "The recoveries respond to this quarter. KISS decides what the leadership team carries into the next quarter."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4.2 — WORKED EXAMPLE: KISS FOR QUARTER 3 · KEEP AND IMPROVE</a:t>
            </a:r>
            <a:endParaRPr lang="en-US" dirty="0"/>
          </a:p>
          <a:p>
            <a:r>
              <a:t/>
            </a:r>
          </a:p>
          <a:p>
            <a:r>
              <a:rPr b="1"/>
              <a:t>HOW TO TEACH IT:</a:t>
            </a:r>
          </a:p>
          <a:p>
            <a:r>
              <a:t/>
            </a:r>
          </a:p>
          <a:p>
            <a:r>
              <a:rPr b="1"/>
              <a:t>1. Build Keep with the room.</a:t>
            </a:r>
          </a:p>
          <a:p>
            <a:r>
              <a:t>Ask: "Looking across the three lines, what should this leadership team keep?"</a:t>
            </a:r>
          </a:p>
          <a:p>
            <a:r>
              <a:t>Take answers, then read the slide.</a:t>
            </a:r>
          </a:p>
          <a:p>
            <a:r>
              <a:t>Say: "Keep the morning review of open enquiries with each owner: a behavioural practice, owned by the Customer Service team leaders. Keep the conditions behind Operational Readiness at 4.3 and Delivery Capacity at 4.0: operational conditions, owned by IT and Operations."</a:t>
            </a:r>
          </a:p>
          <a:p>
            <a:r>
              <a:t/>
            </a:r>
          </a:p>
          <a:p>
            <a:r>
              <a:rPr b="1"/>
              <a:t>2. Build Improve with the room.</a:t>
            </a:r>
          </a:p>
          <a:p>
            <a:r>
              <a:t>Ask: "What should it improve?"</a:t>
            </a:r>
          </a:p>
          <a:p>
            <a:r>
              <a:t>Take answers, then read the slide.</a:t>
            </a:r>
          </a:p>
          <a:p>
            <a:r>
              <a:t>Say: "Improve cross-functional handoffs, since 40% of delayed cases require another department: operational, owned by Customer Service with Operations. Improve collaboration and morale in Operations, the two weakest health traits: behavioural, owned by the COO."</a:t>
            </a:r>
          </a:p>
          <a:p>
            <a:r>
              <a:t/>
            </a:r>
          </a:p>
          <a:p>
            <a:r>
              <a:rPr b="1"/>
              <a:t>3. Name where the decisions come from.</a:t>
            </a:r>
          </a:p>
          <a:p>
            <a:r>
              <a:t>Say: "The handoff decision comes from the clogs you worked on in Unit 9, part 1.5. The behavioural decisions come from the Health Thermometer."</a:t>
            </a:r>
          </a:p>
          <a:p>
            <a:r>
              <a:t/>
            </a:r>
          </a:p>
          <a:p>
            <a:r>
              <a:rPr b="1"/>
              <a:t>4. Bridge to Stop and Start.</a:t>
            </a:r>
          </a:p>
          <a:p>
            <a:r>
              <a:t>Say: "Now the two decisions that change what the organisation does."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4.2 — WORKED EXAMPLE: KISS FOR QUARTER 3 · STOP AND START</a:t>
            </a:r>
            <a:endParaRPr lang="en-US" dirty="0"/>
          </a:p>
          <a:p>
            <a:r>
              <a:t/>
            </a:r>
          </a:p>
          <a:p>
            <a:r>
              <a:rPr b="1"/>
              <a:t>HOW TO TEACH IT:</a:t>
            </a:r>
          </a:p>
          <a:p>
            <a:r>
              <a:t/>
            </a:r>
          </a:p>
          <a:p>
            <a:r>
              <a:rPr b="1"/>
              <a:t>1. Build Stop with the room.</a:t>
            </a:r>
          </a:p>
          <a:p>
            <a:r>
              <a:t>Ask: "What should this leadership team stop?"</a:t>
            </a:r>
          </a:p>
          <a:p>
            <a:r>
              <a:t>Take answers, then read the slide.</a:t>
            </a:r>
          </a:p>
          <a:p>
            <a:r>
              <a:t>Say: "Stop senior-management approval of routine refunds: operational, owned by Operations. Stop scorecards that count enquiries processed in place of enquiries resolved: behavioural, owned by the Customer Service Executive."</a:t>
            </a:r>
          </a:p>
          <a:p>
            <a:r>
              <a:t/>
            </a:r>
          </a:p>
          <a:p>
            <a:r>
              <a:rPr b="1"/>
              <a:t>2. Build Start with the room.</a:t>
            </a:r>
          </a:p>
          <a:p>
            <a:r>
              <a:t>Ask: "What should it start?"</a:t>
            </a:r>
          </a:p>
          <a:p>
            <a:r>
              <a:t>Take answers, then read the slide.</a:t>
            </a:r>
          </a:p>
          <a:p>
            <a:r>
              <a:t>Say: "Start case tracking after escalation, so staff can follow each case through to resolution: strategic, owned by IT with Customer Service."</a:t>
            </a:r>
          </a:p>
          <a:p>
            <a:r>
              <a:t/>
            </a:r>
          </a:p>
          <a:p>
            <a:r>
              <a:rPr b="1"/>
              <a:t>3. Read the full set of decisions.</a:t>
            </a:r>
          </a:p>
          <a:p>
            <a:r>
              <a:t>Say: "Seven decisions, each with its practice, its line of sight and its owner. Every line of sight is represented, and every decision names who carries it into Quarter 3."</a:t>
            </a:r>
          </a:p>
          <a:p>
            <a:r>
              <a:t/>
            </a:r>
          </a:p>
          <a:p>
            <a:r>
              <a:rPr b="1"/>
              <a:t>4. Bridge to Section 5.</a:t>
            </a:r>
          </a:p>
          <a:p>
            <a:r>
              <a:t>Say: "In Section 5 your group completes this page for your own Capstone organisation."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5 · APPLICATION — IN PRACTICE · OUR QUARTERLY THREE LINES OF SIGHT</a:t>
            </a:r>
            <a:endParaRPr lang="en-US" dirty="0"/>
          </a:p>
          <a:p>
            <a:r>
              <a:t/>
            </a:r>
          </a:p>
          <a:p>
            <a:r>
              <a:rPr b="1"/>
              <a:t>HOW THIS SECTION RUNS:</a:t>
            </a:r>
          </a:p>
          <a:p>
            <a:r>
              <a:t>This is group work and Capstone work. Each group completes the Quarterly Three Lines of Sight page for the enterprise Key Result of its Capstone organisation and makes its KISS decisions for the next quarter, using the worked example in 4.2 as its reference. Each group chooses its scribe for this exercise, and every member agrees the record before it goes to the Capstone S2R® Blueprint. The groups complete the page in order: the result on each line, the WARD filter, the recovery, and then the KISS decisions drawn from the three lines.</a:t>
            </a:r>
          </a:p>
          <a:p>
            <a:r>
              <a:t/>
            </a:r>
          </a:p>
          <a:p>
            <a:r>
              <a:rPr b="1"/>
              <a:t>SECTION LEARNING OUTCOMES:</a:t>
            </a:r>
          </a:p>
          <a:p>
            <a:r>
              <a:rPr b="1"/>
              <a:t>1. Exercise forward-looking judgement that holds performance gains across people and organisation.</a:t>
            </a:r>
          </a:p>
          <a:p>
            <a:r>
              <a:rPr b="1"/>
              <a:t>2. Design a leadership rhythm that sustains the enterprise result quarter after quarter.</a:t>
            </a:r>
          </a:p>
          <a:p>
            <a:r>
              <a:t/>
            </a:r>
          </a:p>
          <a:p>
            <a:r>
              <a:rPr b="1"/>
              <a:t>HOW TO OPEN THE SECTION:</a:t>
            </a:r>
          </a:p>
          <a:p>
            <a:r>
              <a:t/>
            </a:r>
          </a:p>
          <a:p>
            <a:r>
              <a:rPr b="1"/>
              <a:t>1. Read the outcomes.</a:t>
            </a:r>
          </a:p>
          <a:p>
            <a:r>
              <a:t>Say: "In this section you will exercise forward-looking judgement that holds performance gains across people and organisation, and design a leadership rhythm that sustains the enterprise result quarter after quarter."</a:t>
            </a:r>
          </a:p>
          <a:p>
            <a:r>
              <a:t/>
            </a:r>
          </a:p>
          <a:p>
            <a:r>
              <a:rPr b="1"/>
              <a:t>2. State the task.</a:t>
            </a:r>
          </a:p>
          <a:p>
            <a:r>
              <a:t>Say: "Your group completes the Quarterly Three Lines of Sight page for the enterprise Key Result in your Capstone S2R® Blueprint, and makes its KISS decisions for the next quarter."</a:t>
            </a:r>
          </a:p>
          <a:p>
            <a:r>
              <a:t/>
            </a:r>
          </a:p>
          <a:p>
            <a:r>
              <a:rPr b="1"/>
              <a:t>3. Bridge to 5.1.</a:t>
            </a:r>
          </a:p>
          <a:p>
            <a:r>
              <a:t>Say: "Your page starts from results your group has already produced."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5.1 — APPLICATION OVERVIEW · BROUGHT INTO YOUR PAGE</a:t>
            </a:r>
            <a:endParaRPr lang="en-US" dirty="0"/>
          </a:p>
          <a:p>
            <a:r>
              <a:t/>
            </a:r>
          </a:p>
          <a:p>
            <a:r>
              <a:rPr b="1"/>
              <a:t>HOW TO TEACH IT:</a:t>
            </a:r>
          </a:p>
          <a:p>
            <a:r>
              <a:t/>
            </a:r>
          </a:p>
          <a:p>
            <a:r>
              <a:rPr b="1"/>
              <a:t>1. Name what is brought in.</a:t>
            </a:r>
          </a:p>
          <a:p>
            <a:r>
              <a:t>Say: "Three results from earlier units are brought into your page. The enterprise Key Result and its WARD, from Unit 6, Section 5. The ESRG scan, from your Unit 10 Capstone, box 10A. The consolidated health position, from your Unit 11 Capstone, box 11B."</a:t>
            </a:r>
          </a:p>
          <a:p>
            <a:r>
              <a:t/>
            </a:r>
          </a:p>
          <a:p>
            <a:r>
              <a:rPr b="1"/>
              <a:t>2. Point to the reference.</a:t>
            </a:r>
          </a:p>
          <a:p>
            <a:r>
              <a:t>Say: "The worked example in 4.2 is your reference: the same header, the same three lines and the same KISS table."</a:t>
            </a:r>
          </a:p>
          <a:p>
            <a:r>
              <a:t/>
            </a:r>
          </a:p>
          <a:p>
            <a:r>
              <a:rPr b="1"/>
              <a:t>3. Bridge to the parts of the page.</a:t>
            </a:r>
          </a:p>
          <a:p>
            <a:r>
              <a:t>Say: "Here is the order in which your group completes the page."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5.2 TO 5.4 — YOUR PAGE, IN ORDER</a:t>
            </a:r>
            <a:endParaRPr lang="en-US" dirty="0"/>
          </a:p>
          <a:p>
            <a:r>
              <a:t/>
            </a:r>
          </a:p>
          <a:p>
            <a:r>
              <a:rPr b="1"/>
              <a:t>HOW TO TEACH IT:</a:t>
            </a:r>
          </a:p>
          <a:p>
            <a:r>
              <a:t/>
            </a:r>
          </a:p>
          <a:p>
            <a:r>
              <a:rPr b="1"/>
              <a:t>1. Explain 5.2, your results for the quarter.</a:t>
            </a:r>
          </a:p>
          <a:p>
            <a:r>
              <a:t>Say: "Your group’s confirmed results are brought onto the page: the enterprise Key Result and its WARD, the ESRG scan and the consolidated health position. The scribe chooses the quarter and can correct any value that has changed. The Key Result and the Decider sit in the header."</a:t>
            </a:r>
          </a:p>
          <a:p>
            <a:r>
              <a:t/>
            </a:r>
          </a:p>
          <a:p>
            <a:r>
              <a:rPr b="1"/>
              <a:t>2. Explain 5.3, the three lines of sight.</a:t>
            </a:r>
          </a:p>
          <a:p>
            <a:r>
              <a:t>Say: "Your group completes each line from its results in 5.2, filtered through WARD."</a:t>
            </a:r>
          </a:p>
          <a:p>
            <a:r>
              <a:t>Say: "Strategic line: the Key Result result this quarter, the waypoint and alert, whether the alert is raised, the recovery and when the Decider checks it."</a:t>
            </a:r>
          </a:p>
          <a:p>
            <a:r>
              <a:t>Say: "Operational line: the lowest ESRG capability and its score, whether the alert is raised, the recovery, its owner and when it is checked."</a:t>
            </a:r>
          </a:p>
          <a:p>
            <a:r>
              <a:t>Say: "Behavioural line: the health score and the two weakest traits, whether the alert is raised, the recovery, its owner and when it is checked."</a:t>
            </a:r>
          </a:p>
          <a:p>
            <a:r>
              <a:t/>
            </a:r>
          </a:p>
          <a:p>
            <a:r>
              <a:rPr b="1"/>
              <a:t>3. Explain 5.4, KISS for next quarter.</a:t>
            </a:r>
          </a:p>
          <a:p>
            <a:r>
              <a:t>Say: "Your group records the decisions its leadership team makes at the close of the quarter, with at least one Keep, one Improve, one Stop and one Start. Each decision names the practice, the line of sight it comes from and its owner."</a:t>
            </a:r>
          </a:p>
          <a:p>
            <a:r>
              <a:t/>
            </a:r>
          </a:p>
          <a:p>
            <a:r>
              <a:rPr b="1"/>
              <a:t>4. Bridge to the Capstone output.</a:t>
            </a:r>
          </a:p>
          <a:p>
            <a:r>
              <a:t>Say: "When the page is complete, it becomes four items of your Capstone S2R® Blueprint."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5.5 — CAPSTONE OUTPUT</a:t>
            </a:r>
            <a:endParaRPr lang="en-US" dirty="0"/>
          </a:p>
          <a:p>
            <a:r>
              <a:t/>
            </a:r>
          </a:p>
          <a:p>
            <a:r>
              <a:rPr b="1"/>
              <a:t>HOW TO TEACH IT:</a:t>
            </a:r>
          </a:p>
          <a:p>
            <a:r>
              <a:t/>
            </a:r>
          </a:p>
          <a:p>
            <a:r>
              <a:rPr b="1"/>
              <a:t>1. Read the four Capstone items.</a:t>
            </a:r>
          </a:p>
          <a:p>
            <a:r>
              <a:t>Say: "12A, the strategic line: the Key Result result, the WARD filter and the recovery for the quarter."</a:t>
            </a:r>
          </a:p>
          <a:p>
            <a:r>
              <a:t>Say: "12B, the operational line: the ESRG reading, the WARD filter and the recovery for the quarter."</a:t>
            </a:r>
          </a:p>
          <a:p>
            <a:r>
              <a:t>Say: "12C, the behavioural line: the health reading, the WARD filter and the recovery for the quarter."</a:t>
            </a:r>
          </a:p>
          <a:p>
            <a:r>
              <a:t>Say: "12D, KISS for next quarter: the Keep, Improve, Stop and Start decisions, with practice, line of sight and owner."</a:t>
            </a:r>
          </a:p>
          <a:p>
            <a:r>
              <a:t/>
            </a:r>
          </a:p>
          <a:p>
            <a:r>
              <a:rPr b="1"/>
              <a:t>2. Explain how the record is agreed.</a:t>
            </a:r>
          </a:p>
          <a:p>
            <a:r>
              <a:t>Say: "Your group chooses its scribe for this exercise. The scribe types the record, and every member sees it on their own page. When every member has agreed, the page goes into your team’s Capstone S2R® Blueprint."</a:t>
            </a:r>
          </a:p>
          <a:p>
            <a:r>
              <a:t/>
            </a:r>
          </a:p>
          <a:p>
            <a:r>
              <a:rPr b="1"/>
              <a:t>3. Bridge to the Unit Summary.</a:t>
            </a:r>
          </a:p>
          <a:p>
            <a:r>
              <a:t>Say: "Let us close the unit, and the programme."</a:t>
            </a:r>
          </a:p>
          <a:p>
            <a:r>
              <a:t/>
            </a:r>
          </a:p>
          <a:p>
            <a:r>
              <a:rPr b="1"/>
              <a:t>LATER, WHEN THE GROUPS DO THE WORK ON THE PORTAL:</a:t>
            </a:r>
          </a:p>
          <a:p>
            <a:r>
              <a:t>Direct the groups to the results the portal brings into the page: their WARD from Unit 6, their ESRG scan from Unit 10 and their consolidated health position from Unit 11.</a:t>
            </a:r>
          </a:p>
          <a:p>
            <a:r>
              <a:t>Guide the groups to complete the page in order: the result on each line, the WARD filter, the recovery, and then the KISS decisions drawn from the three lines.</a:t>
            </a:r>
          </a:p>
          <a:p>
            <a:r>
              <a:t>Point groups that are stuck to the worked example in 4.2, and remind them that each KISS decision names a practice, a line of sight and an owner, with at least one Keep, one Improve, one Stop and one Start.</a:t>
            </a:r>
          </a:p>
          <a:p>
            <a:r>
              <a:t>Remind each group that every member agrees the record before it goes to the Capstone S2R® Blueprint.</a:t>
            </a:r>
          </a:p>
          <a:p>
            <a:r>
              <a:t>Close the group work with Our Position. Say: "When your record is complete, write as a group a short summary statement of your team's position from this unit, in the unit's own terms. Every member agrees it with the rest of the record. It closes this unit's section of your Capstone S2R Blueprint and guides the assessors through your 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UNIT SUMMARY · S2R® PROGRAMME CLOSE</a:t>
            </a:r>
            <a:endParaRPr lang="en-US" dirty="0"/>
          </a:p>
          <a:p>
            <a:r>
              <a:t/>
            </a:r>
          </a:p>
          <a:p>
            <a:r>
              <a:rPr b="1"/>
              <a:t>HOW TO TEACH IT:</a:t>
            </a:r>
          </a:p>
          <a:p>
            <a:r>
              <a:t/>
            </a:r>
          </a:p>
          <a:p>
            <a:r>
              <a:rPr b="1"/>
              <a:t>1. Read the five lines of the unit.</a:t>
            </a:r>
          </a:p>
          <a:p>
            <a:r>
              <a:t>Say: "Results achieved come under Performance Gravity: a steady pull back towards the organisation’s historical average."</a:t>
            </a:r>
          </a:p>
          <a:p>
            <a:r>
              <a:t>Say: "The pull shows first on one of three lines of sight: strategic, operational or behavioural."</a:t>
            </a:r>
          </a:p>
          <a:p>
            <a:r>
              <a:t>Say: "Each line reads a result the leadership team already produces: the Key Result, the ESRG scan and the Health Thermometer. WARD filters all three."</a:t>
            </a:r>
          </a:p>
          <a:p>
            <a:r>
              <a:t>Say: "Each line drifts through its own mechanism: Momentum Illusion, Complexity Creep and Execution Regression. KISS answers each one."</a:t>
            </a:r>
          </a:p>
          <a:p>
            <a:r>
              <a:t>Say: "Each quarter, the Quarterly Three Lines of Sight page brings the three lines together and closes with the KISS decisions for the next quarter."</a:t>
            </a:r>
          </a:p>
          <a:p>
            <a:r>
              <a:t/>
            </a:r>
          </a:p>
          <a:p>
            <a:r>
              <a:rPr b="1"/>
              <a:t>2. Return to the question of the unit.</a:t>
            </a:r>
          </a:p>
          <a:p>
            <a:r>
              <a:t>Ask: "Once a result is achieved, what holds it?"</a:t>
            </a:r>
          </a:p>
          <a:p>
            <a:r>
              <a:t>Listen for: reading all three lines every quarter through WARD; closing every quarter with specific KISS decisions, each with a practice, a line of sight and an owner.</a:t>
            </a:r>
          </a:p>
          <a:p>
            <a:r>
              <a:t/>
            </a:r>
          </a:p>
          <a:p>
            <a:r>
              <a:rPr b="1"/>
              <a:t>3. Close the programme.</a:t>
            </a:r>
          </a:p>
          <a:p>
            <a:r>
              <a:t>Say: "This unit closes the Strategy2Results® programme. The strategy you built in Module 2, the alignment and performance system you set up in Module 3 and the grounding of Module 4 now meet on one quarterly page."</a:t>
            </a:r>
          </a:p>
          <a:p>
            <a:r>
              <a:t>Deepen, say: "Sustainable strategies are designed to outlive their architects. Structure supports purpose, and continuity is planned before transition becomes necessary."</a:t>
            </a:r>
          </a:p>
          <a:p>
            <a:r>
              <a:t>(Insight: Outliving the architects. Source: Journal, 9 July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Module 4 · Grounding · Unit 12</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Sustaining Performance</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indent="0" marL="0">
              <a:buNone/>
            </a:pPr>
            <a:r>
              <a:rPr lang="en-US" sz="2400" i="1" dirty="0">
                <a:solidFill>
                  <a:srgbClr val="DDE8DF"/>
                </a:solidFill>
                <a:latin typeface="Calibri" pitchFamily="34" charset="0"/>
                <a:ea typeface="Calibri" pitchFamily="34" charset="-122"/>
                <a:cs typeface="Calibri" pitchFamily="34" charset="-120"/>
              </a:rPr>
              <a:t>Holding results once they are achieved: the Three Lines of Sight and KISS</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indent="0" marL="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Distinguish short-term performance attainment from sustained institutional capability.</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Maintain continuous sight of strategic, operational and behavioural performance across the enterprise’s contributions.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Recognise the sources of performance drift and the early erosion of strategic coherence.</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Exercise forward-looking executive judgement that protects organisational value and long-term performance.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1 · Awareness — What  </a:t>
            </a:r>
            <a:pPr indent="0" marL="0">
              <a:buNone/>
            </a:pPr>
            <a:r>
              <a:rPr lang="en-US" sz="2400" dirty="0">
                <a:solidFill>
                  <a:srgbClr val="1F2A22"/>
                </a:solidFill>
                <a:latin typeface="Calibri" pitchFamily="34" charset="0"/>
                <a:ea typeface="Calibri" pitchFamily="34" charset="-122"/>
                <a:cs typeface="Calibri" pitchFamily="34" charset="-120"/>
              </a:rPr>
              <a:t>the three lines of sight · what KISS means</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2 · Intelligence — Why  </a:t>
            </a:r>
            <a:pPr indent="0" marL="0">
              <a:buNone/>
            </a:pPr>
            <a:r>
              <a:rPr lang="en-US" sz="2400" dirty="0">
                <a:solidFill>
                  <a:srgbClr val="1F2A22"/>
                </a:solidFill>
                <a:latin typeface="Calibri" pitchFamily="34" charset="0"/>
                <a:ea typeface="Calibri" pitchFamily="34" charset="-122"/>
                <a:cs typeface="Calibri" pitchFamily="34" charset="-120"/>
              </a:rPr>
              <a:t>why performance drifts · why KISS holds it</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3 · Extrapolating — Where  </a:t>
            </a:r>
            <a:pPr indent="0" marL="0">
              <a:buNone/>
            </a:pPr>
            <a:r>
              <a:rPr lang="en-US" sz="2400" dirty="0">
                <a:solidFill>
                  <a:srgbClr val="1F2A22"/>
                </a:solidFill>
                <a:latin typeface="Calibri" pitchFamily="34" charset="0"/>
                <a:ea typeface="Calibri" pitchFamily="34" charset="-122"/>
                <a:cs typeface="Calibri" pitchFamily="34" charset="-120"/>
              </a:rPr>
              <a:t>where drift shows first · where each KISS decision sits</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4 · Integration — Collective  </a:t>
            </a:r>
            <a:pPr indent="0" marL="0">
              <a:buNone/>
            </a:pPr>
            <a:r>
              <a:rPr lang="en-US" sz="2400" dirty="0">
                <a:solidFill>
                  <a:srgbClr val="1F2A22"/>
                </a:solidFill>
                <a:latin typeface="Calibri" pitchFamily="34" charset="0"/>
                <a:ea typeface="Calibri" pitchFamily="34" charset="-122"/>
                <a:cs typeface="Calibri" pitchFamily="34" charset="-120"/>
              </a:rPr>
              <a:t>the leadership team completes the quarterly page</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5 · Application — In Practice  </a:t>
            </a:r>
            <a:pPr indent="0" marL="0">
              <a:buNone/>
            </a:pPr>
            <a:r>
              <a:rPr lang="en-US" sz="2400" dirty="0">
                <a:solidFill>
                  <a:srgbClr val="1F2A22"/>
                </a:solidFill>
                <a:latin typeface="Calibri" pitchFamily="34" charset="0"/>
                <a:ea typeface="Calibri" pitchFamily="34" charset="-122"/>
                <a:cs typeface="Calibri" pitchFamily="34" charset="-120"/>
              </a:rPr>
              <a:t>your group completes the page for its Capstone organisation</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What Sustains Performance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Recognise the force that pulls achieved results back towards average.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Identify the leadership decisions that hold performance against that pull.</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1.1 · Performance Gravity</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Achieving a result and holding it are two separate leadership tasks.</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Performance Gravity: the steady pull of achieved results back towards the historical average.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1.2 · The Three Lines of Sight</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Strategic</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Is the Key Result still moving towards its Success in Practice?</a:t>
            </a:r>
            <a:endParaRPr lang="en-US" sz="2400" dirty="0"/>
          </a:p>
          <a:p>
            <a:pPr indent="0" marL="0">
              <a:buNone/>
            </a:pP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Reads: the Key Result against its WARD waypoint (Unit 6)</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Operational</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Are the conditions still enabling the people’s tasks?</a:t>
            </a:r>
            <a:endParaRPr lang="en-US" sz="2400" dirty="0"/>
          </a:p>
          <a:p>
            <a:pPr indent="0" marL="0">
              <a:buNone/>
            </a:pP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Reads: the ESRG scan (Unit 10)</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Behavioural</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Are people still delivering the agreed behaviours?</a:t>
            </a:r>
            <a:endParaRPr lang="en-US" sz="2400" dirty="0"/>
          </a:p>
          <a:p>
            <a:pPr indent="0" marL="0">
              <a:buNone/>
            </a:pP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Reads: the Health Thermometer (Unit 11)</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1.2 · Filtering each line through WARD</a:t>
            </a:r>
            <a:endParaRPr lang="en-US" sz="3600" dirty="0"/>
          </a:p>
        </p:txBody>
      </p:sp>
      <p:sp>
        <p:nvSpPr>
          <p:cNvPr id="3" name="Shape 1"/>
          <p:cNvSpPr/>
          <p:nvPr/>
        </p:nvSpPr>
        <p:spPr>
          <a:xfrm>
            <a:off x="548640" y="1463040"/>
            <a:ext cx="1956816" cy="521208"/>
          </a:xfrm>
          <a:prstGeom prst="roundRect">
            <a:avLst>
              <a:gd name="adj" fmla="val 17544"/>
            </a:avLst>
          </a:prstGeom>
          <a:solidFill>
            <a:srgbClr val="1A5C2C"/>
          </a:solidFill>
          <a:ln w="12700">
            <a:solidFill>
              <a:srgbClr val="1A5C2C"/>
            </a:solidFill>
            <a:prstDash val="solid"/>
          </a:ln>
        </p:spPr>
      </p:sp>
      <p:sp>
        <p:nvSpPr>
          <p:cNvPr id="4" name="Text 2"/>
          <p:cNvSpPr txBox="1"/>
          <p:nvPr/>
        </p:nvSpPr>
        <p:spPr>
          <a:xfrm>
            <a:off x="630936" y="1463040"/>
            <a:ext cx="179222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WARD</a:t>
            </a:r>
            <a:endParaRPr lang="en-US" sz="2400" dirty="0"/>
          </a:p>
        </p:txBody>
      </p:sp>
      <p:sp>
        <p:nvSpPr>
          <p:cNvPr id="5" name="Shape 3"/>
          <p:cNvSpPr/>
          <p:nvPr/>
        </p:nvSpPr>
        <p:spPr>
          <a:xfrm>
            <a:off x="2560320" y="1463040"/>
            <a:ext cx="2971800" cy="521208"/>
          </a:xfrm>
          <a:prstGeom prst="roundRect">
            <a:avLst>
              <a:gd name="adj" fmla="val 17544"/>
            </a:avLst>
          </a:prstGeom>
          <a:solidFill>
            <a:srgbClr val="1A5C2C"/>
          </a:solidFill>
          <a:ln w="12700">
            <a:solidFill>
              <a:srgbClr val="1A5C2C"/>
            </a:solidFill>
            <a:prstDash val="solid"/>
          </a:ln>
        </p:spPr>
      </p:sp>
      <p:sp>
        <p:nvSpPr>
          <p:cNvPr id="6" name="Text 4"/>
          <p:cNvSpPr txBox="1"/>
          <p:nvPr/>
        </p:nvSpPr>
        <p:spPr>
          <a:xfrm>
            <a:off x="2642616" y="1463040"/>
            <a:ext cx="2807208"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Strategic</a:t>
            </a:r>
            <a:endParaRPr lang="en-US" sz="2400" dirty="0"/>
          </a:p>
        </p:txBody>
      </p:sp>
      <p:sp>
        <p:nvSpPr>
          <p:cNvPr id="7" name="Shape 5"/>
          <p:cNvSpPr/>
          <p:nvPr/>
        </p:nvSpPr>
        <p:spPr>
          <a:xfrm>
            <a:off x="5586984" y="1463040"/>
            <a:ext cx="2971800" cy="521208"/>
          </a:xfrm>
          <a:prstGeom prst="roundRect">
            <a:avLst>
              <a:gd name="adj" fmla="val 17544"/>
            </a:avLst>
          </a:prstGeom>
          <a:solidFill>
            <a:srgbClr val="1A5C2C"/>
          </a:solidFill>
          <a:ln w="12700">
            <a:solidFill>
              <a:srgbClr val="1A5C2C"/>
            </a:solidFill>
            <a:prstDash val="solid"/>
          </a:ln>
        </p:spPr>
      </p:sp>
      <p:sp>
        <p:nvSpPr>
          <p:cNvPr id="8" name="Text 6"/>
          <p:cNvSpPr txBox="1"/>
          <p:nvPr/>
        </p:nvSpPr>
        <p:spPr>
          <a:xfrm>
            <a:off x="5669280" y="1463040"/>
            <a:ext cx="2807208"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Operational</a:t>
            </a:r>
            <a:endParaRPr lang="en-US" sz="2400" dirty="0"/>
          </a:p>
        </p:txBody>
      </p:sp>
      <p:sp>
        <p:nvSpPr>
          <p:cNvPr id="9" name="Shape 7"/>
          <p:cNvSpPr/>
          <p:nvPr/>
        </p:nvSpPr>
        <p:spPr>
          <a:xfrm>
            <a:off x="8613648" y="1463040"/>
            <a:ext cx="2971800" cy="521208"/>
          </a:xfrm>
          <a:prstGeom prst="roundRect">
            <a:avLst>
              <a:gd name="adj" fmla="val 17544"/>
            </a:avLst>
          </a:prstGeom>
          <a:solidFill>
            <a:srgbClr val="1A5C2C"/>
          </a:solidFill>
          <a:ln w="12700">
            <a:solidFill>
              <a:srgbClr val="1A5C2C"/>
            </a:solidFill>
            <a:prstDash val="solid"/>
          </a:ln>
        </p:spPr>
      </p:sp>
      <p:sp>
        <p:nvSpPr>
          <p:cNvPr id="10" name="Text 8"/>
          <p:cNvSpPr txBox="1"/>
          <p:nvPr/>
        </p:nvSpPr>
        <p:spPr>
          <a:xfrm>
            <a:off x="8695944" y="1463040"/>
            <a:ext cx="2807208"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Behavioural</a:t>
            </a:r>
            <a:endParaRPr lang="en-US" sz="2400" dirty="0"/>
          </a:p>
        </p:txBody>
      </p:sp>
      <p:sp>
        <p:nvSpPr>
          <p:cNvPr id="11" name="Shape 9"/>
          <p:cNvSpPr/>
          <p:nvPr/>
        </p:nvSpPr>
        <p:spPr>
          <a:xfrm>
            <a:off x="548640" y="2039112"/>
            <a:ext cx="1956816" cy="877824"/>
          </a:xfrm>
          <a:prstGeom prst="roundRect">
            <a:avLst>
              <a:gd name="adj" fmla="val 10417"/>
            </a:avLst>
          </a:prstGeom>
          <a:solidFill>
            <a:srgbClr val="E6D3A0"/>
          </a:solidFill>
          <a:ln w="12700">
            <a:solidFill>
              <a:srgbClr val="E6D3A0"/>
            </a:solidFill>
            <a:prstDash val="solid"/>
          </a:ln>
        </p:spPr>
      </p:sp>
      <p:sp>
        <p:nvSpPr>
          <p:cNvPr id="12" name="Text 10"/>
          <p:cNvSpPr txBox="1"/>
          <p:nvPr/>
        </p:nvSpPr>
        <p:spPr>
          <a:xfrm>
            <a:off x="630936" y="2039112"/>
            <a:ext cx="17922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W · Waypoint</a:t>
            </a:r>
            <a:endParaRPr lang="en-US" sz="2400" dirty="0"/>
          </a:p>
        </p:txBody>
      </p:sp>
      <p:sp>
        <p:nvSpPr>
          <p:cNvPr id="13" name="Shape 11"/>
          <p:cNvSpPr/>
          <p:nvPr/>
        </p:nvSpPr>
        <p:spPr>
          <a:xfrm>
            <a:off x="2560320" y="2039112"/>
            <a:ext cx="2971800"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2642616" y="2039112"/>
            <a:ext cx="2807208"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The Key Result level for this quarter</a:t>
            </a:r>
            <a:endParaRPr lang="en-US" sz="2400" dirty="0"/>
          </a:p>
        </p:txBody>
      </p:sp>
      <p:sp>
        <p:nvSpPr>
          <p:cNvPr id="15" name="Shape 13"/>
          <p:cNvSpPr/>
          <p:nvPr/>
        </p:nvSpPr>
        <p:spPr>
          <a:xfrm>
            <a:off x="5586984" y="2039112"/>
            <a:ext cx="2971800" cy="877824"/>
          </a:xfrm>
          <a:prstGeom prst="roundRect">
            <a:avLst>
              <a:gd name="adj" fmla="val 10417"/>
            </a:avLst>
          </a:prstGeom>
          <a:solidFill>
            <a:srgbClr val="EEF4EF"/>
          </a:solidFill>
          <a:ln w="12700">
            <a:solidFill>
              <a:srgbClr val="EEF4EF"/>
            </a:solidFill>
            <a:prstDash val="solid"/>
          </a:ln>
        </p:spPr>
      </p:sp>
      <p:sp>
        <p:nvSpPr>
          <p:cNvPr id="16" name="Text 14"/>
          <p:cNvSpPr txBox="1"/>
          <p:nvPr/>
        </p:nvSpPr>
        <p:spPr>
          <a:xfrm>
            <a:off x="5669280" y="2039112"/>
            <a:ext cx="2807208"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Each capability Aligned (4.0–5.0)</a:t>
            </a:r>
            <a:endParaRPr lang="en-US" sz="2400" dirty="0"/>
          </a:p>
        </p:txBody>
      </p:sp>
      <p:sp>
        <p:nvSpPr>
          <p:cNvPr id="17" name="Shape 15"/>
          <p:cNvSpPr/>
          <p:nvPr/>
        </p:nvSpPr>
        <p:spPr>
          <a:xfrm>
            <a:off x="8613648" y="2039112"/>
            <a:ext cx="2971800"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8695944" y="2039112"/>
            <a:ext cx="2807208"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Health 80–100, Healthy &amp; Thriving</a:t>
            </a:r>
            <a:endParaRPr lang="en-US" sz="2400" dirty="0"/>
          </a:p>
        </p:txBody>
      </p:sp>
      <p:sp>
        <p:nvSpPr>
          <p:cNvPr id="19" name="Shape 17"/>
          <p:cNvSpPr/>
          <p:nvPr/>
        </p:nvSpPr>
        <p:spPr>
          <a:xfrm>
            <a:off x="548640" y="2971800"/>
            <a:ext cx="1956816" cy="877824"/>
          </a:xfrm>
          <a:prstGeom prst="roundRect">
            <a:avLst>
              <a:gd name="adj" fmla="val 10417"/>
            </a:avLst>
          </a:prstGeom>
          <a:solidFill>
            <a:srgbClr val="E6D3A0"/>
          </a:solidFill>
          <a:ln w="12700">
            <a:solidFill>
              <a:srgbClr val="E6D3A0"/>
            </a:solidFill>
            <a:prstDash val="solid"/>
          </a:ln>
        </p:spPr>
      </p:sp>
      <p:sp>
        <p:nvSpPr>
          <p:cNvPr id="20" name="Text 18"/>
          <p:cNvSpPr txBox="1"/>
          <p:nvPr/>
        </p:nvSpPr>
        <p:spPr>
          <a:xfrm>
            <a:off x="630936" y="2971800"/>
            <a:ext cx="17922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A · Alert</a:t>
            </a:r>
            <a:endParaRPr lang="en-US" sz="2400" dirty="0"/>
          </a:p>
        </p:txBody>
      </p:sp>
      <p:sp>
        <p:nvSpPr>
          <p:cNvPr id="21" name="Shape 19"/>
          <p:cNvSpPr/>
          <p:nvPr/>
        </p:nvSpPr>
        <p:spPr>
          <a:xfrm>
            <a:off x="2560320" y="2971800"/>
            <a:ext cx="2971800" cy="877824"/>
          </a:xfrm>
          <a:prstGeom prst="roundRect">
            <a:avLst>
              <a:gd name="adj" fmla="val 10417"/>
            </a:avLst>
          </a:prstGeom>
          <a:solidFill>
            <a:srgbClr val="EEF4EF"/>
          </a:solidFill>
          <a:ln w="12700">
            <a:solidFill>
              <a:srgbClr val="EEF4EF"/>
            </a:solidFill>
            <a:prstDash val="solid"/>
          </a:ln>
        </p:spPr>
      </p:sp>
      <p:sp>
        <p:nvSpPr>
          <p:cNvPr id="22" name="Text 20"/>
          <p:cNvSpPr txBox="1"/>
          <p:nvPr/>
        </p:nvSpPr>
        <p:spPr>
          <a:xfrm>
            <a:off x="2642616" y="2971800"/>
            <a:ext cx="2807208"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More than the agreed margin below</a:t>
            </a:r>
            <a:endParaRPr lang="en-US" sz="2400" dirty="0"/>
          </a:p>
        </p:txBody>
      </p:sp>
      <p:sp>
        <p:nvSpPr>
          <p:cNvPr id="23" name="Shape 21"/>
          <p:cNvSpPr/>
          <p:nvPr/>
        </p:nvSpPr>
        <p:spPr>
          <a:xfrm>
            <a:off x="5586984" y="2971800"/>
            <a:ext cx="2971800" cy="877824"/>
          </a:xfrm>
          <a:prstGeom prst="roundRect">
            <a:avLst>
              <a:gd name="adj" fmla="val 10417"/>
            </a:avLst>
          </a:prstGeom>
          <a:solidFill>
            <a:srgbClr val="EEF4EF"/>
          </a:solidFill>
          <a:ln w="12700">
            <a:solidFill>
              <a:srgbClr val="EEF4EF"/>
            </a:solidFill>
            <a:prstDash val="solid"/>
          </a:ln>
        </p:spPr>
      </p:sp>
      <p:sp>
        <p:nvSpPr>
          <p:cNvPr id="24" name="Text 22"/>
          <p:cNvSpPr txBox="1"/>
          <p:nvPr/>
        </p:nvSpPr>
        <p:spPr>
          <a:xfrm>
            <a:off x="5669280" y="2971800"/>
            <a:ext cx="2807208"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A capability below 3.0</a:t>
            </a:r>
            <a:endParaRPr lang="en-US" sz="2400" dirty="0"/>
          </a:p>
        </p:txBody>
      </p:sp>
      <p:sp>
        <p:nvSpPr>
          <p:cNvPr id="25" name="Shape 23"/>
          <p:cNvSpPr/>
          <p:nvPr/>
        </p:nvSpPr>
        <p:spPr>
          <a:xfrm>
            <a:off x="8613648" y="2971800"/>
            <a:ext cx="2971800" cy="877824"/>
          </a:xfrm>
          <a:prstGeom prst="roundRect">
            <a:avLst>
              <a:gd name="adj" fmla="val 10417"/>
            </a:avLst>
          </a:prstGeom>
          <a:solidFill>
            <a:srgbClr val="EEF4EF"/>
          </a:solidFill>
          <a:ln w="12700">
            <a:solidFill>
              <a:srgbClr val="EEF4EF"/>
            </a:solidFill>
            <a:prstDash val="solid"/>
          </a:ln>
        </p:spPr>
      </p:sp>
      <p:sp>
        <p:nvSpPr>
          <p:cNvPr id="26" name="Text 24"/>
          <p:cNvSpPr txBox="1"/>
          <p:nvPr/>
        </p:nvSpPr>
        <p:spPr>
          <a:xfrm>
            <a:off x="8695944" y="2971800"/>
            <a:ext cx="2807208"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Health below 60</a:t>
            </a:r>
            <a:endParaRPr lang="en-US" sz="2400" dirty="0"/>
          </a:p>
        </p:txBody>
      </p:sp>
      <p:sp>
        <p:nvSpPr>
          <p:cNvPr id="27" name="Shape 25"/>
          <p:cNvSpPr/>
          <p:nvPr/>
        </p:nvSpPr>
        <p:spPr>
          <a:xfrm>
            <a:off x="548640" y="3904488"/>
            <a:ext cx="1956816" cy="1234440"/>
          </a:xfrm>
          <a:prstGeom prst="roundRect">
            <a:avLst>
              <a:gd name="adj" fmla="val 7407"/>
            </a:avLst>
          </a:prstGeom>
          <a:solidFill>
            <a:srgbClr val="E6D3A0"/>
          </a:solidFill>
          <a:ln w="12700">
            <a:solidFill>
              <a:srgbClr val="E6D3A0"/>
            </a:solidFill>
            <a:prstDash val="solid"/>
          </a:ln>
        </p:spPr>
      </p:sp>
      <p:sp>
        <p:nvSpPr>
          <p:cNvPr id="28" name="Text 26"/>
          <p:cNvSpPr txBox="1"/>
          <p:nvPr/>
        </p:nvSpPr>
        <p:spPr>
          <a:xfrm>
            <a:off x="630936" y="3904488"/>
            <a:ext cx="1792224" cy="1234440"/>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R · Recovery</a:t>
            </a:r>
            <a:endParaRPr lang="en-US" sz="2400" dirty="0"/>
          </a:p>
        </p:txBody>
      </p:sp>
      <p:sp>
        <p:nvSpPr>
          <p:cNvPr id="29" name="Shape 27"/>
          <p:cNvSpPr/>
          <p:nvPr/>
        </p:nvSpPr>
        <p:spPr>
          <a:xfrm>
            <a:off x="2560320" y="3904488"/>
            <a:ext cx="2971800" cy="1234440"/>
          </a:xfrm>
          <a:prstGeom prst="roundRect">
            <a:avLst>
              <a:gd name="adj" fmla="val 7407"/>
            </a:avLst>
          </a:prstGeom>
          <a:solidFill>
            <a:srgbClr val="EEF4EF"/>
          </a:solidFill>
          <a:ln w="12700">
            <a:solidFill>
              <a:srgbClr val="EEF4EF"/>
            </a:solidFill>
            <a:prstDash val="solid"/>
          </a:ln>
        </p:spPr>
      </p:sp>
      <p:sp>
        <p:nvSpPr>
          <p:cNvPr id="30" name="Text 28"/>
          <p:cNvSpPr txBox="1"/>
          <p:nvPr/>
        </p:nvSpPr>
        <p:spPr>
          <a:xfrm>
            <a:off x="2642616" y="3904488"/>
            <a:ext cx="2807208" cy="123444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For individuals and conditions</a:t>
            </a:r>
            <a:endParaRPr lang="en-US" sz="2400" dirty="0"/>
          </a:p>
        </p:txBody>
      </p:sp>
      <p:sp>
        <p:nvSpPr>
          <p:cNvPr id="31" name="Shape 29"/>
          <p:cNvSpPr/>
          <p:nvPr/>
        </p:nvSpPr>
        <p:spPr>
          <a:xfrm>
            <a:off x="5586984" y="3904488"/>
            <a:ext cx="2971800" cy="1234440"/>
          </a:xfrm>
          <a:prstGeom prst="roundRect">
            <a:avLst>
              <a:gd name="adj" fmla="val 7407"/>
            </a:avLst>
          </a:prstGeom>
          <a:solidFill>
            <a:srgbClr val="EEF4EF"/>
          </a:solidFill>
          <a:ln w="12700">
            <a:solidFill>
              <a:srgbClr val="EEF4EF"/>
            </a:solidFill>
            <a:prstDash val="solid"/>
          </a:ln>
        </p:spPr>
      </p:sp>
      <p:sp>
        <p:nvSpPr>
          <p:cNvPr id="32" name="Text 30"/>
          <p:cNvSpPr txBox="1"/>
          <p:nvPr/>
        </p:nvSpPr>
        <p:spPr>
          <a:xfrm>
            <a:off x="5669280" y="3904488"/>
            <a:ext cx="2807208" cy="123444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The condition’s owner restores it</a:t>
            </a:r>
            <a:endParaRPr lang="en-US" sz="2400" dirty="0"/>
          </a:p>
        </p:txBody>
      </p:sp>
      <p:sp>
        <p:nvSpPr>
          <p:cNvPr id="33" name="Shape 31"/>
          <p:cNvSpPr/>
          <p:nvPr/>
        </p:nvSpPr>
        <p:spPr>
          <a:xfrm>
            <a:off x="8613648" y="3904488"/>
            <a:ext cx="2971800" cy="1234440"/>
          </a:xfrm>
          <a:prstGeom prst="roundRect">
            <a:avLst>
              <a:gd name="adj" fmla="val 7407"/>
            </a:avLst>
          </a:prstGeom>
          <a:solidFill>
            <a:srgbClr val="EEF4EF"/>
          </a:solidFill>
          <a:ln w="12700">
            <a:solidFill>
              <a:srgbClr val="EEF4EF"/>
            </a:solidFill>
            <a:prstDash val="solid"/>
          </a:ln>
        </p:spPr>
      </p:sp>
      <p:sp>
        <p:nvSpPr>
          <p:cNvPr id="34" name="Text 32"/>
          <p:cNvSpPr txBox="1"/>
          <p:nvPr/>
        </p:nvSpPr>
        <p:spPr>
          <a:xfrm>
            <a:off x="8695944" y="3904488"/>
            <a:ext cx="2807208" cy="123444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The executive restores the weakest traits</a:t>
            </a:r>
            <a:endParaRPr lang="en-US" sz="2400" dirty="0"/>
          </a:p>
        </p:txBody>
      </p:sp>
      <p:sp>
        <p:nvSpPr>
          <p:cNvPr id="35" name="Shape 33"/>
          <p:cNvSpPr/>
          <p:nvPr/>
        </p:nvSpPr>
        <p:spPr>
          <a:xfrm>
            <a:off x="548640" y="5193792"/>
            <a:ext cx="1956816" cy="877824"/>
          </a:xfrm>
          <a:prstGeom prst="roundRect">
            <a:avLst>
              <a:gd name="adj" fmla="val 10417"/>
            </a:avLst>
          </a:prstGeom>
          <a:solidFill>
            <a:srgbClr val="E6D3A0"/>
          </a:solidFill>
          <a:ln w="12700">
            <a:solidFill>
              <a:srgbClr val="E6D3A0"/>
            </a:solidFill>
            <a:prstDash val="solid"/>
          </a:ln>
        </p:spPr>
      </p:sp>
      <p:sp>
        <p:nvSpPr>
          <p:cNvPr id="36" name="Text 34"/>
          <p:cNvSpPr txBox="1"/>
          <p:nvPr/>
        </p:nvSpPr>
        <p:spPr>
          <a:xfrm>
            <a:off x="630936" y="5193792"/>
            <a:ext cx="17922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D · Decider</a:t>
            </a:r>
            <a:endParaRPr lang="en-US" sz="2400" dirty="0"/>
          </a:p>
        </p:txBody>
      </p:sp>
      <p:sp>
        <p:nvSpPr>
          <p:cNvPr id="37" name="Shape 35"/>
          <p:cNvSpPr/>
          <p:nvPr/>
        </p:nvSpPr>
        <p:spPr>
          <a:xfrm>
            <a:off x="2560320" y="5193792"/>
            <a:ext cx="9025128" cy="877824"/>
          </a:xfrm>
          <a:prstGeom prst="roundRect">
            <a:avLst>
              <a:gd name="adj" fmla="val 10417"/>
            </a:avLst>
          </a:prstGeom>
          <a:solidFill>
            <a:srgbClr val="EEF4EF"/>
          </a:solidFill>
          <a:ln w="12700">
            <a:solidFill>
              <a:srgbClr val="EEF4EF"/>
            </a:solidFill>
            <a:prstDash val="solid"/>
          </a:ln>
        </p:spPr>
      </p:sp>
      <p:sp>
        <p:nvSpPr>
          <p:cNvPr id="38" name="Text 36"/>
          <p:cNvSpPr txBox="1"/>
          <p:nvPr/>
        </p:nvSpPr>
        <p:spPr>
          <a:xfrm>
            <a:off x="2642616" y="5193792"/>
            <a:ext cx="88605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The same Decider on all three lines: decides on the recovery and sees it through</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1.3 · KISS: the four sustaining decisions</a:t>
            </a:r>
            <a:endParaRPr lang="en-US" sz="3600" dirty="0"/>
          </a:p>
        </p:txBody>
      </p:sp>
      <p:sp>
        <p:nvSpPr>
          <p:cNvPr id="3" name="Shape 1"/>
          <p:cNvSpPr/>
          <p:nvPr/>
        </p:nvSpPr>
        <p:spPr>
          <a:xfrm>
            <a:off x="548640" y="1508760"/>
            <a:ext cx="2567178" cy="3931920"/>
          </a:xfrm>
          <a:prstGeom prst="roundRect">
            <a:avLst>
              <a:gd name="adj" fmla="val 3562"/>
            </a:avLst>
          </a:prstGeom>
          <a:solidFill>
            <a:srgbClr val="EEF4EF"/>
          </a:solidFill>
          <a:ln w="12700">
            <a:solidFill>
              <a:srgbClr val="EEF4EF"/>
            </a:solidFill>
            <a:prstDash val="solid"/>
          </a:ln>
        </p:spPr>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777240" y="2423160"/>
            <a:ext cx="2109978"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Keep</a:t>
            </a:r>
            <a:endParaRPr lang="en-US" sz="2600" dirty="0"/>
          </a:p>
        </p:txBody>
      </p:sp>
      <p:sp>
        <p:nvSpPr>
          <p:cNvPr id="7" name="Text 4"/>
          <p:cNvSpPr txBox="1"/>
          <p:nvPr/>
        </p:nvSpPr>
        <p:spPr>
          <a:xfrm>
            <a:off x="777240" y="3067812"/>
            <a:ext cx="2109978" cy="223570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Name and protect what produces reliable results</a:t>
            </a:r>
            <a:endParaRPr lang="en-US" sz="2400" dirty="0"/>
          </a:p>
        </p:txBody>
      </p:sp>
      <p:sp>
        <p:nvSpPr>
          <p:cNvPr id="8" name="Shape 5"/>
          <p:cNvSpPr/>
          <p:nvPr/>
        </p:nvSpPr>
        <p:spPr>
          <a:xfrm>
            <a:off x="3390138" y="1508760"/>
            <a:ext cx="2567178" cy="3931920"/>
          </a:xfrm>
          <a:prstGeom prst="roundRect">
            <a:avLst>
              <a:gd name="adj" fmla="val 3562"/>
            </a:avLst>
          </a:prstGeom>
          <a:solidFill>
            <a:srgbClr val="EEF4EF"/>
          </a:solidFill>
          <a:ln w="12700">
            <a:solidFill>
              <a:srgbClr val="EEF4EF"/>
            </a:solidFill>
            <a:prstDash val="solid"/>
          </a:ln>
        </p:spPr>
      </p:sp>
      <p:sp>
        <p:nvSpPr>
          <p:cNvPr id="9" name="Shape 6"/>
          <p:cNvSpPr/>
          <p:nvPr/>
        </p:nvSpPr>
        <p:spPr>
          <a:xfrm>
            <a:off x="3618738" y="1737360"/>
            <a:ext cx="548640" cy="54864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3755898" y="1874520"/>
            <a:ext cx="274320" cy="274320"/>
          </a:xfrm>
          <a:prstGeom prst="rect">
            <a:avLst/>
          </a:prstGeom>
        </p:spPr>
      </p:pic>
      <p:sp>
        <p:nvSpPr>
          <p:cNvPr id="11" name="Text 7"/>
          <p:cNvSpPr txBox="1"/>
          <p:nvPr/>
        </p:nvSpPr>
        <p:spPr>
          <a:xfrm>
            <a:off x="3618738" y="2423160"/>
            <a:ext cx="2109978"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Improve</a:t>
            </a:r>
            <a:endParaRPr lang="en-US" sz="2600" dirty="0"/>
          </a:p>
        </p:txBody>
      </p:sp>
      <p:sp>
        <p:nvSpPr>
          <p:cNvPr id="12" name="Text 8"/>
          <p:cNvSpPr txBox="1"/>
          <p:nvPr/>
        </p:nvSpPr>
        <p:spPr>
          <a:xfrm>
            <a:off x="3618738" y="3067812"/>
            <a:ext cx="2109978" cy="223570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Recalibrate what is beginning to work less well</a:t>
            </a:r>
            <a:endParaRPr lang="en-US" sz="2400" dirty="0"/>
          </a:p>
        </p:txBody>
      </p:sp>
      <p:sp>
        <p:nvSpPr>
          <p:cNvPr id="13" name="Shape 9"/>
          <p:cNvSpPr/>
          <p:nvPr/>
        </p:nvSpPr>
        <p:spPr>
          <a:xfrm>
            <a:off x="6231636" y="1508760"/>
            <a:ext cx="2567178" cy="3931920"/>
          </a:xfrm>
          <a:prstGeom prst="roundRect">
            <a:avLst>
              <a:gd name="adj" fmla="val 3562"/>
            </a:avLst>
          </a:prstGeom>
          <a:solidFill>
            <a:srgbClr val="EEF4EF"/>
          </a:solidFill>
          <a:ln w="12700">
            <a:solidFill>
              <a:srgbClr val="EEF4EF"/>
            </a:solidFill>
            <a:prstDash val="solid"/>
          </a:ln>
        </p:spPr>
      </p:sp>
      <p:sp>
        <p:nvSpPr>
          <p:cNvPr id="14" name="Shape 10"/>
          <p:cNvSpPr/>
          <p:nvPr/>
        </p:nvSpPr>
        <p:spPr>
          <a:xfrm>
            <a:off x="6460236" y="1737360"/>
            <a:ext cx="548640" cy="54864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6597396" y="1874520"/>
            <a:ext cx="274320" cy="274320"/>
          </a:xfrm>
          <a:prstGeom prst="rect">
            <a:avLst/>
          </a:prstGeom>
        </p:spPr>
      </p:pic>
      <p:sp>
        <p:nvSpPr>
          <p:cNvPr id="16" name="Text 11"/>
          <p:cNvSpPr txBox="1"/>
          <p:nvPr/>
        </p:nvSpPr>
        <p:spPr>
          <a:xfrm>
            <a:off x="6460236" y="2423160"/>
            <a:ext cx="2109978"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Stop</a:t>
            </a:r>
            <a:endParaRPr lang="en-US" sz="2600" dirty="0"/>
          </a:p>
        </p:txBody>
      </p:sp>
      <p:sp>
        <p:nvSpPr>
          <p:cNvPr id="17" name="Text 12"/>
          <p:cNvSpPr txBox="1"/>
          <p:nvPr/>
        </p:nvSpPr>
        <p:spPr>
          <a:xfrm>
            <a:off x="6460236" y="3067812"/>
            <a:ext cx="2109978" cy="223570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End what consumes energy without commensurate value</a:t>
            </a:r>
            <a:endParaRPr lang="en-US" sz="2400" dirty="0"/>
          </a:p>
        </p:txBody>
      </p:sp>
      <p:sp>
        <p:nvSpPr>
          <p:cNvPr id="18" name="Shape 13"/>
          <p:cNvSpPr/>
          <p:nvPr/>
        </p:nvSpPr>
        <p:spPr>
          <a:xfrm>
            <a:off x="9073134" y="1508760"/>
            <a:ext cx="2567178" cy="3931920"/>
          </a:xfrm>
          <a:prstGeom prst="roundRect">
            <a:avLst>
              <a:gd name="adj" fmla="val 3562"/>
            </a:avLst>
          </a:prstGeom>
          <a:solidFill>
            <a:srgbClr val="1A5C2C"/>
          </a:solidFill>
          <a:ln w="12700">
            <a:solidFill>
              <a:srgbClr val="1A5C2C"/>
            </a:solidFill>
            <a:prstDash val="solid"/>
          </a:ln>
        </p:spPr>
      </p:sp>
      <p:sp>
        <p:nvSpPr>
          <p:cNvPr id="19" name="Shape 14"/>
          <p:cNvSpPr/>
          <p:nvPr/>
        </p:nvSpPr>
        <p:spPr>
          <a:xfrm>
            <a:off x="9301734" y="1737360"/>
            <a:ext cx="548640" cy="548640"/>
          </a:xfrm>
          <a:prstGeom prst="ellipse">
            <a:avLst/>
          </a:prstGeom>
          <a:solidFill>
            <a:srgbClr val="C6A24C"/>
          </a:solidFill>
          <a:ln w="12700">
            <a:solidFill>
              <a:srgbClr val="C6A24C"/>
            </a:solidFill>
            <a:prstDash val="solid"/>
          </a:ln>
        </p:spPr>
      </p:sp>
      <p:pic>
        <p:nvPicPr>
          <p:cNvPr id="20" name="Image 3" descr="preencoded.png">    </p:cNvPr>
          <p:cNvPicPr>
            <a:picLocks noChangeAspect="1"/>
          </p:cNvPicPr>
          <p:nvPr/>
        </p:nvPicPr>
        <p:blipFill>
          <a:blip r:embed="rId4"/>
          <a:stretch>
            <a:fillRect/>
          </a:stretch>
        </p:blipFill>
        <p:spPr>
          <a:xfrm>
            <a:off x="9438894" y="1874520"/>
            <a:ext cx="274320" cy="274320"/>
          </a:xfrm>
          <a:prstGeom prst="rect">
            <a:avLst/>
          </a:prstGeom>
        </p:spPr>
      </p:pic>
      <p:sp>
        <p:nvSpPr>
          <p:cNvPr id="21" name="Text 15"/>
          <p:cNvSpPr txBox="1"/>
          <p:nvPr/>
        </p:nvSpPr>
        <p:spPr>
          <a:xfrm>
            <a:off x="9301734" y="2423160"/>
            <a:ext cx="2109978"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Start</a:t>
            </a:r>
            <a:endParaRPr lang="en-US" sz="2600" dirty="0"/>
          </a:p>
        </p:txBody>
      </p:sp>
      <p:sp>
        <p:nvSpPr>
          <p:cNvPr id="22" name="Text 16"/>
          <p:cNvSpPr txBox="1"/>
          <p:nvPr/>
        </p:nvSpPr>
        <p:spPr>
          <a:xfrm>
            <a:off x="9301734" y="3067812"/>
            <a:ext cx="2109978" cy="223570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Build what the next level of performance needs</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24" name="Text 18"/>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Four decisions at the close of every quarter.</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914400"/>
            <a:ext cx="1005840" cy="100584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982980" y="1165860"/>
            <a:ext cx="502920" cy="502920"/>
          </a:xfrm>
          <a:prstGeom prst="rect">
            <a:avLst/>
          </a:prstGeom>
        </p:spPr>
      </p:pic>
      <p:sp>
        <p:nvSpPr>
          <p:cNvPr id="4" name="Text 1"/>
          <p:cNvSpPr txBox="1"/>
          <p:nvPr/>
        </p:nvSpPr>
        <p:spPr>
          <a:xfrm>
            <a:off x="2011680" y="914400"/>
            <a:ext cx="950976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Section 1 Reflections</a:t>
            </a:r>
            <a:endParaRPr lang="en-US" sz="3200" dirty="0"/>
          </a:p>
        </p:txBody>
      </p:sp>
      <p:sp>
        <p:nvSpPr>
          <p:cNvPr id="5" name="Text 2"/>
          <p:cNvSpPr txBox="1"/>
          <p:nvPr/>
        </p:nvSpPr>
        <p:spPr>
          <a:xfrm>
            <a:off x="2011680" y="1463040"/>
            <a:ext cx="950976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1.2 · The Three Lines of Sight</a:t>
            </a:r>
            <a:endParaRPr lang="en-US" sz="2400" dirty="0"/>
          </a:p>
        </p:txBody>
      </p:sp>
      <p:sp>
        <p:nvSpPr>
          <p:cNvPr id="6" name="Text 3"/>
          <p:cNvSpPr txBox="1"/>
          <p:nvPr/>
        </p:nvSpPr>
        <p:spPr>
          <a:xfrm>
            <a:off x="2011680" y="2194560"/>
            <a:ext cx="9509760" cy="3291840"/>
          </a:xfrm>
          <a:prstGeom prst="rect">
            <a:avLst/>
          </a:prstGeom>
          <a:noFill/>
          <a:ln/>
        </p:spPr>
        <p:txBody>
          <a:bodyPr wrap="square" lIns="0" tIns="0" rIns="0" bIns="0" rtlCol="0" anchor="t"/>
          <a:lstStyle/>
          <a:p>
            <a:pPr indent="0" marL="0">
              <a:buNone/>
            </a:pPr>
            <a:r>
              <a:rPr lang="en-US" sz="3400" i="1" dirty="0">
                <a:solidFill>
                  <a:srgbClr val="FFFFFF"/>
                </a:solidFill>
                <a:latin typeface="Cambria" pitchFamily="34" charset="0"/>
                <a:ea typeface="Cambria" pitchFamily="34" charset="-122"/>
                <a:cs typeface="Cambria" pitchFamily="34" charset="-120"/>
              </a:rPr>
              <a:t>Which of the three lines of sight does your leadership team read least, and what has that cost your organisation?</a:t>
            </a:r>
            <a:endParaRPr lang="en-US" sz="3400" dirty="0"/>
          </a:p>
        </p:txBody>
      </p:sp>
      <p:sp>
        <p:nvSpPr>
          <p:cNvPr id="7" name="Text 4"/>
          <p:cNvSpPr txBox="1"/>
          <p:nvPr/>
        </p:nvSpPr>
        <p:spPr>
          <a:xfrm>
            <a:off x="2011680" y="5760720"/>
            <a:ext cx="9509760" cy="45720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Personal reflection · Learning Portfolio</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Why Performance Drifts, and Why KISS Holds It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Explain why achieved performance drifts back towards average across strategy, operations and behaviour.</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Counter drift before it reaches the enterprise result.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2.1 · Why performance drifts</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Momentum Illusion</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Strategic line</a:t>
            </a: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The market moves on; momentum carries the results for a while.</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Complexity Creep</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Operational line</a:t>
            </a: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Each sensible response adds weight; together they slow delivery.</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Execution Regression</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Behavioural line</a:t>
            </a: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Old habits pull behaviour back once attention moves.</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The routines that detect drift are the first to loosen.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2.2 · Why KISS holds performance</a:t>
            </a:r>
            <a:endParaRPr lang="en-US" sz="3600" dirty="0"/>
          </a:p>
        </p:txBody>
      </p:sp>
      <p:sp>
        <p:nvSpPr>
          <p:cNvPr id="3" name="Shape 1"/>
          <p:cNvSpPr/>
          <p:nvPr/>
        </p:nvSpPr>
        <p:spPr>
          <a:xfrm>
            <a:off x="548640" y="1463040"/>
            <a:ext cx="2231136" cy="521208"/>
          </a:xfrm>
          <a:prstGeom prst="roundRect">
            <a:avLst>
              <a:gd name="adj" fmla="val 17544"/>
            </a:avLst>
          </a:prstGeom>
          <a:solidFill>
            <a:srgbClr val="1A5C2C"/>
          </a:solidFill>
          <a:ln w="12700">
            <a:solidFill>
              <a:srgbClr val="1A5C2C"/>
            </a:solidFill>
            <a:prstDash val="solid"/>
          </a:ln>
        </p:spPr>
      </p:sp>
      <p:sp>
        <p:nvSpPr>
          <p:cNvPr id="4" name="Text 2"/>
          <p:cNvSpPr txBox="1"/>
          <p:nvPr/>
        </p:nvSpPr>
        <p:spPr>
          <a:xfrm>
            <a:off x="630936" y="1463040"/>
            <a:ext cx="206654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Line of sight</a:t>
            </a:r>
            <a:endParaRPr lang="en-US" sz="2400" dirty="0"/>
          </a:p>
        </p:txBody>
      </p:sp>
      <p:sp>
        <p:nvSpPr>
          <p:cNvPr id="5" name="Shape 3"/>
          <p:cNvSpPr/>
          <p:nvPr/>
        </p:nvSpPr>
        <p:spPr>
          <a:xfrm>
            <a:off x="2834640" y="1463040"/>
            <a:ext cx="2779776" cy="521208"/>
          </a:xfrm>
          <a:prstGeom prst="roundRect">
            <a:avLst>
              <a:gd name="adj" fmla="val 17544"/>
            </a:avLst>
          </a:prstGeom>
          <a:solidFill>
            <a:srgbClr val="1A5C2C"/>
          </a:solidFill>
          <a:ln w="12700">
            <a:solidFill>
              <a:srgbClr val="1A5C2C"/>
            </a:solidFill>
            <a:prstDash val="solid"/>
          </a:ln>
        </p:spPr>
      </p:sp>
      <p:sp>
        <p:nvSpPr>
          <p:cNvPr id="6" name="Text 4"/>
          <p:cNvSpPr txBox="1"/>
          <p:nvPr/>
        </p:nvSpPr>
        <p:spPr>
          <a:xfrm>
            <a:off x="2916936" y="1463040"/>
            <a:ext cx="261518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Drift</a:t>
            </a:r>
            <a:endParaRPr lang="en-US" sz="2400" dirty="0"/>
          </a:p>
        </p:txBody>
      </p:sp>
      <p:sp>
        <p:nvSpPr>
          <p:cNvPr id="7" name="Shape 5"/>
          <p:cNvSpPr/>
          <p:nvPr/>
        </p:nvSpPr>
        <p:spPr>
          <a:xfrm>
            <a:off x="5669280" y="1463040"/>
            <a:ext cx="5916168" cy="521208"/>
          </a:xfrm>
          <a:prstGeom prst="roundRect">
            <a:avLst>
              <a:gd name="adj" fmla="val 17544"/>
            </a:avLst>
          </a:prstGeom>
          <a:solidFill>
            <a:srgbClr val="1A5C2C"/>
          </a:solidFill>
          <a:ln w="12700">
            <a:solidFill>
              <a:srgbClr val="1A5C2C"/>
            </a:solidFill>
            <a:prstDash val="solid"/>
          </a:ln>
        </p:spPr>
      </p:sp>
      <p:sp>
        <p:nvSpPr>
          <p:cNvPr id="8" name="Text 6"/>
          <p:cNvSpPr txBox="1"/>
          <p:nvPr/>
        </p:nvSpPr>
        <p:spPr>
          <a:xfrm>
            <a:off x="5751576" y="1463040"/>
            <a:ext cx="575157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KISS decisions that counter it</a:t>
            </a:r>
            <a:endParaRPr lang="en-US" sz="2400" dirty="0"/>
          </a:p>
        </p:txBody>
      </p:sp>
      <p:sp>
        <p:nvSpPr>
          <p:cNvPr id="9" name="Shape 7"/>
          <p:cNvSpPr/>
          <p:nvPr/>
        </p:nvSpPr>
        <p:spPr>
          <a:xfrm>
            <a:off x="548640" y="2039112"/>
            <a:ext cx="2231136" cy="877824"/>
          </a:xfrm>
          <a:prstGeom prst="roundRect">
            <a:avLst>
              <a:gd name="adj" fmla="val 10417"/>
            </a:avLst>
          </a:prstGeom>
          <a:solidFill>
            <a:srgbClr val="E6D3A0"/>
          </a:solidFill>
          <a:ln w="12700">
            <a:solidFill>
              <a:srgbClr val="E6D3A0"/>
            </a:solidFill>
            <a:prstDash val="solid"/>
          </a:ln>
        </p:spPr>
      </p:sp>
      <p:sp>
        <p:nvSpPr>
          <p:cNvPr id="10" name="Text 8"/>
          <p:cNvSpPr txBox="1"/>
          <p:nvPr/>
        </p:nvSpPr>
        <p:spPr>
          <a:xfrm>
            <a:off x="630936" y="2039112"/>
            <a:ext cx="206654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Strategic</a:t>
            </a:r>
            <a:endParaRPr lang="en-US" sz="2400" dirty="0"/>
          </a:p>
        </p:txBody>
      </p:sp>
      <p:sp>
        <p:nvSpPr>
          <p:cNvPr id="11" name="Shape 9"/>
          <p:cNvSpPr/>
          <p:nvPr/>
        </p:nvSpPr>
        <p:spPr>
          <a:xfrm>
            <a:off x="2834640" y="2039112"/>
            <a:ext cx="2779776" cy="877824"/>
          </a:xfrm>
          <a:prstGeom prst="roundRect">
            <a:avLst>
              <a:gd name="adj" fmla="val 10417"/>
            </a:avLst>
          </a:prstGeom>
          <a:solidFill>
            <a:srgbClr val="EEF4EF"/>
          </a:solidFill>
          <a:ln w="12700">
            <a:solidFill>
              <a:srgbClr val="EEF4EF"/>
            </a:solidFill>
            <a:prstDash val="solid"/>
          </a:ln>
        </p:spPr>
      </p:sp>
      <p:sp>
        <p:nvSpPr>
          <p:cNvPr id="12" name="Text 10"/>
          <p:cNvSpPr txBox="1"/>
          <p:nvPr/>
        </p:nvSpPr>
        <p:spPr>
          <a:xfrm>
            <a:off x="2916936" y="2039112"/>
            <a:ext cx="26151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Momentum Illusion</a:t>
            </a:r>
            <a:endParaRPr lang="en-US" sz="2400" dirty="0"/>
          </a:p>
        </p:txBody>
      </p:sp>
      <p:sp>
        <p:nvSpPr>
          <p:cNvPr id="13" name="Shape 11"/>
          <p:cNvSpPr/>
          <p:nvPr/>
        </p:nvSpPr>
        <p:spPr>
          <a:xfrm>
            <a:off x="5669280" y="2039112"/>
            <a:ext cx="5916168"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5751576" y="2039112"/>
            <a:ext cx="575157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Keep what still earns the result · Start what the moved market requires</a:t>
            </a:r>
            <a:endParaRPr lang="en-US" sz="2400" dirty="0"/>
          </a:p>
        </p:txBody>
      </p:sp>
      <p:sp>
        <p:nvSpPr>
          <p:cNvPr id="15" name="Shape 13"/>
          <p:cNvSpPr/>
          <p:nvPr/>
        </p:nvSpPr>
        <p:spPr>
          <a:xfrm>
            <a:off x="548640" y="2971800"/>
            <a:ext cx="2231136" cy="877824"/>
          </a:xfrm>
          <a:prstGeom prst="roundRect">
            <a:avLst>
              <a:gd name="adj" fmla="val 10417"/>
            </a:avLst>
          </a:prstGeom>
          <a:solidFill>
            <a:srgbClr val="E6D3A0"/>
          </a:solidFill>
          <a:ln w="12700">
            <a:solidFill>
              <a:srgbClr val="E6D3A0"/>
            </a:solidFill>
            <a:prstDash val="solid"/>
          </a:ln>
        </p:spPr>
      </p:sp>
      <p:sp>
        <p:nvSpPr>
          <p:cNvPr id="16" name="Text 14"/>
          <p:cNvSpPr txBox="1"/>
          <p:nvPr/>
        </p:nvSpPr>
        <p:spPr>
          <a:xfrm>
            <a:off x="630936" y="2971800"/>
            <a:ext cx="206654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Operational</a:t>
            </a:r>
            <a:endParaRPr lang="en-US" sz="2400" dirty="0"/>
          </a:p>
        </p:txBody>
      </p:sp>
      <p:sp>
        <p:nvSpPr>
          <p:cNvPr id="17" name="Shape 15"/>
          <p:cNvSpPr/>
          <p:nvPr/>
        </p:nvSpPr>
        <p:spPr>
          <a:xfrm>
            <a:off x="2834640" y="2971800"/>
            <a:ext cx="2779776"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2916936" y="2971800"/>
            <a:ext cx="26151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Complexity Creep</a:t>
            </a:r>
            <a:endParaRPr lang="en-US" sz="2400" dirty="0"/>
          </a:p>
        </p:txBody>
      </p:sp>
      <p:sp>
        <p:nvSpPr>
          <p:cNvPr id="19" name="Shape 17"/>
          <p:cNvSpPr/>
          <p:nvPr/>
        </p:nvSpPr>
        <p:spPr>
          <a:xfrm>
            <a:off x="5669280" y="2971800"/>
            <a:ext cx="5916168" cy="877824"/>
          </a:xfrm>
          <a:prstGeom prst="roundRect">
            <a:avLst>
              <a:gd name="adj" fmla="val 10417"/>
            </a:avLst>
          </a:prstGeom>
          <a:solidFill>
            <a:srgbClr val="EEF4EF"/>
          </a:solidFill>
          <a:ln w="12700">
            <a:solidFill>
              <a:srgbClr val="EEF4EF"/>
            </a:solidFill>
            <a:prstDash val="solid"/>
          </a:ln>
        </p:spPr>
      </p:sp>
      <p:sp>
        <p:nvSpPr>
          <p:cNvPr id="20" name="Text 18"/>
          <p:cNvSpPr txBox="1"/>
          <p:nvPr/>
        </p:nvSpPr>
        <p:spPr>
          <a:xfrm>
            <a:off x="5751576" y="2971800"/>
            <a:ext cx="575157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Stop outdated structures · Improve conditions that constrain delivery</a:t>
            </a:r>
            <a:endParaRPr lang="en-US" sz="2400" dirty="0"/>
          </a:p>
        </p:txBody>
      </p:sp>
      <p:sp>
        <p:nvSpPr>
          <p:cNvPr id="21" name="Shape 19"/>
          <p:cNvSpPr/>
          <p:nvPr/>
        </p:nvSpPr>
        <p:spPr>
          <a:xfrm>
            <a:off x="548640" y="3904488"/>
            <a:ext cx="2231136" cy="877824"/>
          </a:xfrm>
          <a:prstGeom prst="roundRect">
            <a:avLst>
              <a:gd name="adj" fmla="val 10417"/>
            </a:avLst>
          </a:prstGeom>
          <a:solidFill>
            <a:srgbClr val="E6D3A0"/>
          </a:solidFill>
          <a:ln w="12700">
            <a:solidFill>
              <a:srgbClr val="E6D3A0"/>
            </a:solidFill>
            <a:prstDash val="solid"/>
          </a:ln>
        </p:spPr>
      </p:sp>
      <p:sp>
        <p:nvSpPr>
          <p:cNvPr id="22" name="Text 20"/>
          <p:cNvSpPr txBox="1"/>
          <p:nvPr/>
        </p:nvSpPr>
        <p:spPr>
          <a:xfrm>
            <a:off x="630936" y="3904488"/>
            <a:ext cx="206654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Behavioural</a:t>
            </a:r>
            <a:endParaRPr lang="en-US" sz="2400" dirty="0"/>
          </a:p>
        </p:txBody>
      </p:sp>
      <p:sp>
        <p:nvSpPr>
          <p:cNvPr id="23" name="Shape 21"/>
          <p:cNvSpPr/>
          <p:nvPr/>
        </p:nvSpPr>
        <p:spPr>
          <a:xfrm>
            <a:off x="2834640" y="3904488"/>
            <a:ext cx="2779776" cy="877824"/>
          </a:xfrm>
          <a:prstGeom prst="roundRect">
            <a:avLst>
              <a:gd name="adj" fmla="val 10417"/>
            </a:avLst>
          </a:prstGeom>
          <a:solidFill>
            <a:srgbClr val="EEF4EF"/>
          </a:solidFill>
          <a:ln w="12700">
            <a:solidFill>
              <a:srgbClr val="EEF4EF"/>
            </a:solidFill>
            <a:prstDash val="solid"/>
          </a:ln>
        </p:spPr>
      </p:sp>
      <p:sp>
        <p:nvSpPr>
          <p:cNvPr id="24" name="Text 22"/>
          <p:cNvSpPr txBox="1"/>
          <p:nvPr/>
        </p:nvSpPr>
        <p:spPr>
          <a:xfrm>
            <a:off x="2916936" y="3904488"/>
            <a:ext cx="26151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Execution Regression</a:t>
            </a:r>
            <a:endParaRPr lang="en-US" sz="2400" dirty="0"/>
          </a:p>
        </p:txBody>
      </p:sp>
      <p:sp>
        <p:nvSpPr>
          <p:cNvPr id="25" name="Shape 23"/>
          <p:cNvSpPr/>
          <p:nvPr/>
        </p:nvSpPr>
        <p:spPr>
          <a:xfrm>
            <a:off x="5669280" y="3904488"/>
            <a:ext cx="5916168" cy="877824"/>
          </a:xfrm>
          <a:prstGeom prst="roundRect">
            <a:avLst>
              <a:gd name="adj" fmla="val 10417"/>
            </a:avLst>
          </a:prstGeom>
          <a:solidFill>
            <a:srgbClr val="EEF4EF"/>
          </a:solidFill>
          <a:ln w="12700">
            <a:solidFill>
              <a:srgbClr val="EEF4EF"/>
            </a:solidFill>
            <a:prstDash val="solid"/>
          </a:ln>
        </p:spPr>
      </p:sp>
      <p:sp>
        <p:nvSpPr>
          <p:cNvPr id="26" name="Text 24"/>
          <p:cNvSpPr txBox="1"/>
          <p:nvPr/>
        </p:nvSpPr>
        <p:spPr>
          <a:xfrm>
            <a:off x="5751576" y="3904488"/>
            <a:ext cx="575157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Keep the agreed behaviours protected · Improve behaviours that slip</a:t>
            </a:r>
            <a:endParaRPr lang="en-US" sz="2400" dirty="0"/>
          </a:p>
        </p:txBody>
      </p:sp>
      <p:sp>
        <p:nvSpPr>
          <p:cNvPr id="27" name="Shape 25"/>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28" name="Text 26"/>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Each KISS decision answers a specific form of drift.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914400"/>
            <a:ext cx="1005840" cy="100584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982980" y="1165860"/>
            <a:ext cx="502920" cy="502920"/>
          </a:xfrm>
          <a:prstGeom prst="rect">
            <a:avLst/>
          </a:prstGeom>
        </p:spPr>
      </p:pic>
      <p:sp>
        <p:nvSpPr>
          <p:cNvPr id="4" name="Text 1"/>
          <p:cNvSpPr txBox="1"/>
          <p:nvPr/>
        </p:nvSpPr>
        <p:spPr>
          <a:xfrm>
            <a:off x="2011680" y="914400"/>
            <a:ext cx="950976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Section 2 Reflections</a:t>
            </a:r>
            <a:endParaRPr lang="en-US" sz="3200" dirty="0"/>
          </a:p>
        </p:txBody>
      </p:sp>
      <p:sp>
        <p:nvSpPr>
          <p:cNvPr id="5" name="Text 2"/>
          <p:cNvSpPr txBox="1"/>
          <p:nvPr/>
        </p:nvSpPr>
        <p:spPr>
          <a:xfrm>
            <a:off x="2011680" y="1463040"/>
            <a:ext cx="950976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2.2 · Why KISS Holds Performance</a:t>
            </a:r>
            <a:endParaRPr lang="en-US" sz="2400" dirty="0"/>
          </a:p>
        </p:txBody>
      </p:sp>
      <p:sp>
        <p:nvSpPr>
          <p:cNvPr id="6" name="Text 3"/>
          <p:cNvSpPr txBox="1"/>
          <p:nvPr/>
        </p:nvSpPr>
        <p:spPr>
          <a:xfrm>
            <a:off x="2011680" y="2194560"/>
            <a:ext cx="9509760" cy="3291840"/>
          </a:xfrm>
          <a:prstGeom prst="rect">
            <a:avLst/>
          </a:prstGeom>
          <a:noFill/>
          <a:ln/>
        </p:spPr>
        <p:txBody>
          <a:bodyPr wrap="square" lIns="0" tIns="0" rIns="0" bIns="0" rtlCol="0" anchor="t"/>
          <a:lstStyle/>
          <a:p>
            <a:pPr indent="0" marL="0">
              <a:buNone/>
            </a:pPr>
            <a:r>
              <a:rPr lang="en-US" sz="3400" i="1" dirty="0">
                <a:solidFill>
                  <a:srgbClr val="FFFFFF"/>
                </a:solidFill>
                <a:latin typeface="Cambria" pitchFamily="34" charset="0"/>
                <a:ea typeface="Cambria" pitchFamily="34" charset="-122"/>
                <a:cs typeface="Cambria" pitchFamily="34" charset="-120"/>
              </a:rPr>
              <a:t>Name one practice in your organisation that is drifting on one of the three lines. Which KISS decision would hold it, and who would need to make that decision?</a:t>
            </a:r>
            <a:endParaRPr lang="en-US" sz="3400" dirty="0"/>
          </a:p>
        </p:txBody>
      </p:sp>
      <p:sp>
        <p:nvSpPr>
          <p:cNvPr id="7" name="Text 4"/>
          <p:cNvSpPr txBox="1"/>
          <p:nvPr/>
        </p:nvSpPr>
        <p:spPr>
          <a:xfrm>
            <a:off x="2011680" y="5760720"/>
            <a:ext cx="9509760" cy="45720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Personal reflection · Learning Portfolio</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Where Drift Shows First, and Where Each KISS Decision Sits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Locate where drift appears first in each executive domain.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Assign executive ownership for holding performance in each domain.</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3.1a · The line each role reads first</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Strategic</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CEO · CMO · CRO</a:t>
            </a:r>
            <a:endParaRPr lang="en-US" sz="2400" dirty="0"/>
          </a:p>
          <a:p>
            <a:pPr indent="0" marL="0">
              <a:buNone/>
            </a:pP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Also: CCO and CSO</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Operational</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CFO · CTO / CIO · CPO</a:t>
            </a:r>
            <a:endParaRPr lang="en-US" sz="2400" dirty="0"/>
          </a:p>
          <a:p>
            <a:pPr indent="0" marL="0">
              <a:buNone/>
            </a:pP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Also: COO and CSO</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Behavioural</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CHRO</a:t>
            </a:r>
            <a:endParaRPr lang="en-US" sz="2400" dirty="0"/>
          </a:p>
          <a:p>
            <a:pPr indent="0" marL="0">
              <a:buNone/>
            </a:pP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Also: COO, CCO and CSO</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Drift surfaces first in the executive domain closest to it.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3.1b · The KISS decision each role leads</a:t>
            </a:r>
            <a:endParaRPr lang="en-US" sz="3600" dirty="0"/>
          </a:p>
        </p:txBody>
      </p:sp>
      <p:sp>
        <p:nvSpPr>
          <p:cNvPr id="3" name="Shape 1"/>
          <p:cNvSpPr/>
          <p:nvPr/>
        </p:nvSpPr>
        <p:spPr>
          <a:xfrm>
            <a:off x="548640" y="1463040"/>
            <a:ext cx="3328416" cy="877824"/>
          </a:xfrm>
          <a:prstGeom prst="roundRect">
            <a:avLst>
              <a:gd name="adj" fmla="val 10417"/>
            </a:avLst>
          </a:prstGeom>
          <a:solidFill>
            <a:srgbClr val="E6D3A0"/>
          </a:solidFill>
          <a:ln w="12700">
            <a:solidFill>
              <a:srgbClr val="E6D3A0"/>
            </a:solidFill>
            <a:prstDash val="solid"/>
          </a:ln>
        </p:spPr>
      </p:sp>
      <p:sp>
        <p:nvSpPr>
          <p:cNvPr id="4" name="Text 2"/>
          <p:cNvSpPr txBox="1"/>
          <p:nvPr/>
        </p:nvSpPr>
        <p:spPr>
          <a:xfrm>
            <a:off x="630936" y="1463040"/>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CEO · Strategic Coherence</a:t>
            </a:r>
            <a:endParaRPr lang="en-US" sz="2400" dirty="0"/>
          </a:p>
        </p:txBody>
      </p:sp>
      <p:sp>
        <p:nvSpPr>
          <p:cNvPr id="5" name="Shape 3"/>
          <p:cNvSpPr/>
          <p:nvPr/>
        </p:nvSpPr>
        <p:spPr>
          <a:xfrm>
            <a:off x="3931920" y="1463040"/>
            <a:ext cx="7653528" cy="877824"/>
          </a:xfrm>
          <a:prstGeom prst="roundRect">
            <a:avLst>
              <a:gd name="adj" fmla="val 10417"/>
            </a:avLst>
          </a:prstGeom>
          <a:solidFill>
            <a:srgbClr val="EEF4EF"/>
          </a:solidFill>
          <a:ln w="12700">
            <a:solidFill>
              <a:srgbClr val="EEF4EF"/>
            </a:solidFill>
            <a:prstDash val="solid"/>
          </a:ln>
        </p:spPr>
      </p:sp>
      <p:sp>
        <p:nvSpPr>
          <p:cNvPr id="6" name="Text 4"/>
          <p:cNvSpPr txBox="1"/>
          <p:nvPr/>
        </p:nvSpPr>
        <p:spPr>
          <a:xfrm>
            <a:off x="4014216" y="1463040"/>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Keep the strategic priorities clear · Stop initiatives that compete with them</a:t>
            </a:r>
            <a:endParaRPr lang="en-US" sz="2400" dirty="0"/>
          </a:p>
        </p:txBody>
      </p:sp>
      <p:sp>
        <p:nvSpPr>
          <p:cNvPr id="7" name="Shape 5"/>
          <p:cNvSpPr/>
          <p:nvPr/>
        </p:nvSpPr>
        <p:spPr>
          <a:xfrm>
            <a:off x="548640" y="2395728"/>
            <a:ext cx="3328416" cy="877824"/>
          </a:xfrm>
          <a:prstGeom prst="roundRect">
            <a:avLst>
              <a:gd name="adj" fmla="val 10417"/>
            </a:avLst>
          </a:prstGeom>
          <a:solidFill>
            <a:srgbClr val="E6D3A0"/>
          </a:solidFill>
          <a:ln w="12700">
            <a:solidFill>
              <a:srgbClr val="E6D3A0"/>
            </a:solidFill>
            <a:prstDash val="solid"/>
          </a:ln>
        </p:spPr>
      </p:sp>
      <p:sp>
        <p:nvSpPr>
          <p:cNvPr id="8" name="Text 6"/>
          <p:cNvSpPr txBox="1"/>
          <p:nvPr/>
        </p:nvSpPr>
        <p:spPr>
          <a:xfrm>
            <a:off x="630936" y="2395728"/>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CFO · Capital Discipline</a:t>
            </a:r>
            <a:endParaRPr lang="en-US" sz="2400" dirty="0"/>
          </a:p>
        </p:txBody>
      </p:sp>
      <p:sp>
        <p:nvSpPr>
          <p:cNvPr id="9" name="Shape 7"/>
          <p:cNvSpPr/>
          <p:nvPr/>
        </p:nvSpPr>
        <p:spPr>
          <a:xfrm>
            <a:off x="3931920" y="2395728"/>
            <a:ext cx="7653528" cy="877824"/>
          </a:xfrm>
          <a:prstGeom prst="roundRect">
            <a:avLst>
              <a:gd name="adj" fmla="val 10417"/>
            </a:avLst>
          </a:prstGeom>
          <a:solidFill>
            <a:srgbClr val="EEF4EF"/>
          </a:solidFill>
          <a:ln w="12700">
            <a:solidFill>
              <a:srgbClr val="EEF4EF"/>
            </a:solidFill>
            <a:prstDash val="solid"/>
          </a:ln>
        </p:spPr>
      </p:sp>
      <p:sp>
        <p:nvSpPr>
          <p:cNvPr id="10" name="Text 8"/>
          <p:cNvSpPr txBox="1"/>
          <p:nvPr/>
        </p:nvSpPr>
        <p:spPr>
          <a:xfrm>
            <a:off x="4014216" y="2395728"/>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Stop legacy spending · Start funding for the strategic initiatives</a:t>
            </a:r>
            <a:endParaRPr lang="en-US" sz="2400" dirty="0"/>
          </a:p>
        </p:txBody>
      </p:sp>
      <p:sp>
        <p:nvSpPr>
          <p:cNvPr id="11" name="Shape 9"/>
          <p:cNvSpPr/>
          <p:nvPr/>
        </p:nvSpPr>
        <p:spPr>
          <a:xfrm>
            <a:off x="548640" y="3328416"/>
            <a:ext cx="3328416" cy="877824"/>
          </a:xfrm>
          <a:prstGeom prst="roundRect">
            <a:avLst>
              <a:gd name="adj" fmla="val 10417"/>
            </a:avLst>
          </a:prstGeom>
          <a:solidFill>
            <a:srgbClr val="E6D3A0"/>
          </a:solidFill>
          <a:ln w="12700">
            <a:solidFill>
              <a:srgbClr val="E6D3A0"/>
            </a:solidFill>
            <a:prstDash val="solid"/>
          </a:ln>
        </p:spPr>
      </p:sp>
      <p:sp>
        <p:nvSpPr>
          <p:cNvPr id="12" name="Text 10"/>
          <p:cNvSpPr txBox="1"/>
          <p:nvPr/>
        </p:nvSpPr>
        <p:spPr>
          <a:xfrm>
            <a:off x="630936" y="3328416"/>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COO · Execution Cadence</a:t>
            </a:r>
            <a:endParaRPr lang="en-US" sz="2400" dirty="0"/>
          </a:p>
        </p:txBody>
      </p:sp>
      <p:sp>
        <p:nvSpPr>
          <p:cNvPr id="13" name="Shape 11"/>
          <p:cNvSpPr/>
          <p:nvPr/>
        </p:nvSpPr>
        <p:spPr>
          <a:xfrm>
            <a:off x="3931920" y="3328416"/>
            <a:ext cx="7653528"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4014216" y="3328416"/>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Keep the review rhythm · Improve escalation discipline</a:t>
            </a:r>
            <a:endParaRPr lang="en-US" sz="2400" dirty="0"/>
          </a:p>
        </p:txBody>
      </p:sp>
      <p:sp>
        <p:nvSpPr>
          <p:cNvPr id="15" name="Shape 13"/>
          <p:cNvSpPr/>
          <p:nvPr/>
        </p:nvSpPr>
        <p:spPr>
          <a:xfrm>
            <a:off x="548640" y="4261104"/>
            <a:ext cx="3328416" cy="877824"/>
          </a:xfrm>
          <a:prstGeom prst="roundRect">
            <a:avLst>
              <a:gd name="adj" fmla="val 10417"/>
            </a:avLst>
          </a:prstGeom>
          <a:solidFill>
            <a:srgbClr val="E6D3A0"/>
          </a:solidFill>
          <a:ln w="12700">
            <a:solidFill>
              <a:srgbClr val="E6D3A0"/>
            </a:solidFill>
            <a:prstDash val="solid"/>
          </a:ln>
        </p:spPr>
      </p:sp>
      <p:sp>
        <p:nvSpPr>
          <p:cNvPr id="16" name="Text 14"/>
          <p:cNvSpPr txBox="1"/>
          <p:nvPr/>
        </p:nvSpPr>
        <p:spPr>
          <a:xfrm>
            <a:off x="630936" y="4261104"/>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CHRO · Organisational Health</a:t>
            </a:r>
            <a:endParaRPr lang="en-US" sz="2400" dirty="0"/>
          </a:p>
        </p:txBody>
      </p:sp>
      <p:sp>
        <p:nvSpPr>
          <p:cNvPr id="17" name="Shape 15"/>
          <p:cNvSpPr/>
          <p:nvPr/>
        </p:nvSpPr>
        <p:spPr>
          <a:xfrm>
            <a:off x="3931920" y="4261104"/>
            <a:ext cx="7653528"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4014216" y="4261104"/>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Keep the agreed behaviours · Improve how they are recognised and reinforced</a:t>
            </a:r>
            <a:endParaRPr lang="en-US" sz="2400" dirty="0"/>
          </a:p>
        </p:txBody>
      </p:sp>
      <p:sp>
        <p:nvSpPr>
          <p:cNvPr id="19" name="Shape 17"/>
          <p:cNvSpPr/>
          <p:nvPr/>
        </p:nvSpPr>
        <p:spPr>
          <a:xfrm>
            <a:off x="548640" y="5193792"/>
            <a:ext cx="3328416" cy="877824"/>
          </a:xfrm>
          <a:prstGeom prst="roundRect">
            <a:avLst>
              <a:gd name="adj" fmla="val 10417"/>
            </a:avLst>
          </a:prstGeom>
          <a:solidFill>
            <a:srgbClr val="E6D3A0"/>
          </a:solidFill>
          <a:ln w="12700">
            <a:solidFill>
              <a:srgbClr val="E6D3A0"/>
            </a:solidFill>
            <a:prstDash val="solid"/>
          </a:ln>
        </p:spPr>
      </p:sp>
      <p:sp>
        <p:nvSpPr>
          <p:cNvPr id="20" name="Text 18"/>
          <p:cNvSpPr txBox="1"/>
          <p:nvPr/>
        </p:nvSpPr>
        <p:spPr>
          <a:xfrm>
            <a:off x="630936" y="5193792"/>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CTO / CIO · Technology</a:t>
            </a:r>
            <a:endParaRPr lang="en-US" sz="2400" dirty="0"/>
          </a:p>
        </p:txBody>
      </p:sp>
      <p:sp>
        <p:nvSpPr>
          <p:cNvPr id="21" name="Shape 19"/>
          <p:cNvSpPr/>
          <p:nvPr/>
        </p:nvSpPr>
        <p:spPr>
          <a:xfrm>
            <a:off x="3931920" y="5193792"/>
            <a:ext cx="7653528" cy="877824"/>
          </a:xfrm>
          <a:prstGeom prst="roundRect">
            <a:avLst>
              <a:gd name="adj" fmla="val 10417"/>
            </a:avLst>
          </a:prstGeom>
          <a:solidFill>
            <a:srgbClr val="EEF4EF"/>
          </a:solidFill>
          <a:ln w="12700">
            <a:solidFill>
              <a:srgbClr val="EEF4EF"/>
            </a:solidFill>
            <a:prstDash val="solid"/>
          </a:ln>
        </p:spPr>
      </p:sp>
      <p:sp>
        <p:nvSpPr>
          <p:cNvPr id="22" name="Text 20"/>
          <p:cNvSpPr txBox="1"/>
          <p:nvPr/>
        </p:nvSpPr>
        <p:spPr>
          <a:xfrm>
            <a:off x="4014216" y="5193792"/>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Improve the systems that constrain delivery · Start capability the strategy will need</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3.1c · The KISS decision each role leads</a:t>
            </a:r>
            <a:endParaRPr lang="en-US" sz="3600" dirty="0"/>
          </a:p>
        </p:txBody>
      </p:sp>
      <p:sp>
        <p:nvSpPr>
          <p:cNvPr id="3" name="Shape 1"/>
          <p:cNvSpPr/>
          <p:nvPr/>
        </p:nvSpPr>
        <p:spPr>
          <a:xfrm>
            <a:off x="548640" y="1463040"/>
            <a:ext cx="3328416" cy="877824"/>
          </a:xfrm>
          <a:prstGeom prst="roundRect">
            <a:avLst>
              <a:gd name="adj" fmla="val 10417"/>
            </a:avLst>
          </a:prstGeom>
          <a:solidFill>
            <a:srgbClr val="E6D3A0"/>
          </a:solidFill>
          <a:ln w="12700">
            <a:solidFill>
              <a:srgbClr val="E6D3A0"/>
            </a:solidFill>
            <a:prstDash val="solid"/>
          </a:ln>
        </p:spPr>
      </p:sp>
      <p:sp>
        <p:nvSpPr>
          <p:cNvPr id="4" name="Text 2"/>
          <p:cNvSpPr txBox="1"/>
          <p:nvPr/>
        </p:nvSpPr>
        <p:spPr>
          <a:xfrm>
            <a:off x="630936" y="1463040"/>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CMO · Market Intelligence</a:t>
            </a:r>
            <a:endParaRPr lang="en-US" sz="2400" dirty="0"/>
          </a:p>
        </p:txBody>
      </p:sp>
      <p:sp>
        <p:nvSpPr>
          <p:cNvPr id="5" name="Shape 3"/>
          <p:cNvSpPr/>
          <p:nvPr/>
        </p:nvSpPr>
        <p:spPr>
          <a:xfrm>
            <a:off x="3931920" y="1463040"/>
            <a:ext cx="7653528" cy="877824"/>
          </a:xfrm>
          <a:prstGeom prst="roundRect">
            <a:avLst>
              <a:gd name="adj" fmla="val 10417"/>
            </a:avLst>
          </a:prstGeom>
          <a:solidFill>
            <a:srgbClr val="EEF4EF"/>
          </a:solidFill>
          <a:ln w="12700">
            <a:solidFill>
              <a:srgbClr val="EEF4EF"/>
            </a:solidFill>
            <a:prstDash val="solid"/>
          </a:ln>
        </p:spPr>
      </p:sp>
      <p:sp>
        <p:nvSpPr>
          <p:cNvPr id="6" name="Text 4"/>
          <p:cNvSpPr txBox="1"/>
          <p:nvPr/>
        </p:nvSpPr>
        <p:spPr>
          <a:xfrm>
            <a:off x="4014216" y="1463040"/>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Start renewed customer intelligence · Stop campaigns built on the old customer view</a:t>
            </a:r>
            <a:endParaRPr lang="en-US" sz="2400" dirty="0"/>
          </a:p>
        </p:txBody>
      </p:sp>
      <p:sp>
        <p:nvSpPr>
          <p:cNvPr id="7" name="Shape 5"/>
          <p:cNvSpPr/>
          <p:nvPr/>
        </p:nvSpPr>
        <p:spPr>
          <a:xfrm>
            <a:off x="548640" y="2395728"/>
            <a:ext cx="3328416" cy="877824"/>
          </a:xfrm>
          <a:prstGeom prst="roundRect">
            <a:avLst>
              <a:gd name="adj" fmla="val 10417"/>
            </a:avLst>
          </a:prstGeom>
          <a:solidFill>
            <a:srgbClr val="E6D3A0"/>
          </a:solidFill>
          <a:ln w="12700">
            <a:solidFill>
              <a:srgbClr val="E6D3A0"/>
            </a:solidFill>
            <a:prstDash val="solid"/>
          </a:ln>
        </p:spPr>
      </p:sp>
      <p:sp>
        <p:nvSpPr>
          <p:cNvPr id="8" name="Text 6"/>
          <p:cNvSpPr txBox="1"/>
          <p:nvPr/>
        </p:nvSpPr>
        <p:spPr>
          <a:xfrm>
            <a:off x="630936" y="2395728"/>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CCO · Revenue Conversion</a:t>
            </a:r>
            <a:endParaRPr lang="en-US" sz="2400" dirty="0"/>
          </a:p>
        </p:txBody>
      </p:sp>
      <p:sp>
        <p:nvSpPr>
          <p:cNvPr id="9" name="Shape 7"/>
          <p:cNvSpPr/>
          <p:nvPr/>
        </p:nvSpPr>
        <p:spPr>
          <a:xfrm>
            <a:off x="3931920" y="2395728"/>
            <a:ext cx="7653528" cy="877824"/>
          </a:xfrm>
          <a:prstGeom prst="roundRect">
            <a:avLst>
              <a:gd name="adj" fmla="val 10417"/>
            </a:avLst>
          </a:prstGeom>
          <a:solidFill>
            <a:srgbClr val="EEF4EF"/>
          </a:solidFill>
          <a:ln w="12700">
            <a:solidFill>
              <a:srgbClr val="EEF4EF"/>
            </a:solidFill>
            <a:prstDash val="solid"/>
          </a:ln>
        </p:spPr>
      </p:sp>
      <p:sp>
        <p:nvSpPr>
          <p:cNvPr id="10" name="Text 8"/>
          <p:cNvSpPr txBox="1"/>
          <p:nvPr/>
        </p:nvSpPr>
        <p:spPr>
          <a:xfrm>
            <a:off x="4014216" y="2395728"/>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Improve conversion practices · Keep commercial discipline</a:t>
            </a:r>
            <a:endParaRPr lang="en-US" sz="2400" dirty="0"/>
          </a:p>
        </p:txBody>
      </p:sp>
      <p:sp>
        <p:nvSpPr>
          <p:cNvPr id="11" name="Shape 9"/>
          <p:cNvSpPr/>
          <p:nvPr/>
        </p:nvSpPr>
        <p:spPr>
          <a:xfrm>
            <a:off x="548640" y="3328416"/>
            <a:ext cx="3328416" cy="877824"/>
          </a:xfrm>
          <a:prstGeom prst="roundRect">
            <a:avLst>
              <a:gd name="adj" fmla="val 10417"/>
            </a:avLst>
          </a:prstGeom>
          <a:solidFill>
            <a:srgbClr val="E6D3A0"/>
          </a:solidFill>
          <a:ln w="12700">
            <a:solidFill>
              <a:srgbClr val="E6D3A0"/>
            </a:solidFill>
            <a:prstDash val="solid"/>
          </a:ln>
        </p:spPr>
      </p:sp>
      <p:sp>
        <p:nvSpPr>
          <p:cNvPr id="12" name="Text 10"/>
          <p:cNvSpPr txBox="1"/>
          <p:nvPr/>
        </p:nvSpPr>
        <p:spPr>
          <a:xfrm>
            <a:off x="630936" y="3328416"/>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CPO · Supply Resilience</a:t>
            </a:r>
            <a:endParaRPr lang="en-US" sz="2400" dirty="0"/>
          </a:p>
        </p:txBody>
      </p:sp>
      <p:sp>
        <p:nvSpPr>
          <p:cNvPr id="13" name="Shape 11"/>
          <p:cNvSpPr/>
          <p:nvPr/>
        </p:nvSpPr>
        <p:spPr>
          <a:xfrm>
            <a:off x="3931920" y="3328416"/>
            <a:ext cx="7653528"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4014216" y="3328416"/>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Improve supplier arrangements · Stop cost-only sourcing decisions</a:t>
            </a:r>
            <a:endParaRPr lang="en-US" sz="2400" dirty="0"/>
          </a:p>
        </p:txBody>
      </p:sp>
      <p:sp>
        <p:nvSpPr>
          <p:cNvPr id="15" name="Shape 13"/>
          <p:cNvSpPr/>
          <p:nvPr/>
        </p:nvSpPr>
        <p:spPr>
          <a:xfrm>
            <a:off x="548640" y="4261104"/>
            <a:ext cx="3328416" cy="877824"/>
          </a:xfrm>
          <a:prstGeom prst="roundRect">
            <a:avLst>
              <a:gd name="adj" fmla="val 10417"/>
            </a:avLst>
          </a:prstGeom>
          <a:solidFill>
            <a:srgbClr val="E6D3A0"/>
          </a:solidFill>
          <a:ln w="12700">
            <a:solidFill>
              <a:srgbClr val="E6D3A0"/>
            </a:solidFill>
            <a:prstDash val="solid"/>
          </a:ln>
        </p:spPr>
      </p:sp>
      <p:sp>
        <p:nvSpPr>
          <p:cNvPr id="16" name="Text 14"/>
          <p:cNvSpPr txBox="1"/>
          <p:nvPr/>
        </p:nvSpPr>
        <p:spPr>
          <a:xfrm>
            <a:off x="630936" y="4261104"/>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CRO · Risk Intelligence</a:t>
            </a:r>
            <a:endParaRPr lang="en-US" sz="2400" dirty="0"/>
          </a:p>
        </p:txBody>
      </p:sp>
      <p:sp>
        <p:nvSpPr>
          <p:cNvPr id="17" name="Shape 15"/>
          <p:cNvSpPr/>
          <p:nvPr/>
        </p:nvSpPr>
        <p:spPr>
          <a:xfrm>
            <a:off x="3931920" y="4261104"/>
            <a:ext cx="7653528"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4014216" y="4261104"/>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Start risk input into strategic decisions · Improve risk reporting</a:t>
            </a:r>
            <a:endParaRPr lang="en-US" sz="2400" dirty="0"/>
          </a:p>
        </p:txBody>
      </p:sp>
      <p:sp>
        <p:nvSpPr>
          <p:cNvPr id="19" name="Shape 17"/>
          <p:cNvSpPr/>
          <p:nvPr/>
        </p:nvSpPr>
        <p:spPr>
          <a:xfrm>
            <a:off x="548640" y="5193792"/>
            <a:ext cx="3328416" cy="877824"/>
          </a:xfrm>
          <a:prstGeom prst="roundRect">
            <a:avLst>
              <a:gd name="adj" fmla="val 10417"/>
            </a:avLst>
          </a:prstGeom>
          <a:solidFill>
            <a:srgbClr val="E6D3A0"/>
          </a:solidFill>
          <a:ln w="12700">
            <a:solidFill>
              <a:srgbClr val="E6D3A0"/>
            </a:solidFill>
            <a:prstDash val="solid"/>
          </a:ln>
        </p:spPr>
      </p:sp>
      <p:sp>
        <p:nvSpPr>
          <p:cNvPr id="20" name="Text 18"/>
          <p:cNvSpPr txBox="1"/>
          <p:nvPr/>
        </p:nvSpPr>
        <p:spPr>
          <a:xfrm>
            <a:off x="630936" y="5193792"/>
            <a:ext cx="316382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CSO · Strategy Translation</a:t>
            </a:r>
            <a:endParaRPr lang="en-US" sz="2400" dirty="0"/>
          </a:p>
        </p:txBody>
      </p:sp>
      <p:sp>
        <p:nvSpPr>
          <p:cNvPr id="21" name="Shape 19"/>
          <p:cNvSpPr/>
          <p:nvPr/>
        </p:nvSpPr>
        <p:spPr>
          <a:xfrm>
            <a:off x="3931920" y="5193792"/>
            <a:ext cx="7653528" cy="877824"/>
          </a:xfrm>
          <a:prstGeom prst="roundRect">
            <a:avLst>
              <a:gd name="adj" fmla="val 10417"/>
            </a:avLst>
          </a:prstGeom>
          <a:solidFill>
            <a:srgbClr val="EEF4EF"/>
          </a:solidFill>
          <a:ln w="12700">
            <a:solidFill>
              <a:srgbClr val="EEF4EF"/>
            </a:solidFill>
            <a:prstDash val="solid"/>
          </a:ln>
        </p:spPr>
      </p:sp>
      <p:sp>
        <p:nvSpPr>
          <p:cNvPr id="22" name="Text 20"/>
          <p:cNvSpPr txBox="1"/>
          <p:nvPr/>
        </p:nvSpPr>
        <p:spPr>
          <a:xfrm>
            <a:off x="4014216" y="5193792"/>
            <a:ext cx="74889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Keep the line from strategy to OKRs · Improve how the three lines are read in reviews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914400"/>
            <a:ext cx="1005840" cy="100584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982980" y="1165860"/>
            <a:ext cx="502920" cy="502920"/>
          </a:xfrm>
          <a:prstGeom prst="rect">
            <a:avLst/>
          </a:prstGeom>
        </p:spPr>
      </p:pic>
      <p:sp>
        <p:nvSpPr>
          <p:cNvPr id="4" name="Text 1"/>
          <p:cNvSpPr txBox="1"/>
          <p:nvPr/>
        </p:nvSpPr>
        <p:spPr>
          <a:xfrm>
            <a:off x="2011680" y="914400"/>
            <a:ext cx="950976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Section 3 Reflections</a:t>
            </a:r>
            <a:endParaRPr lang="en-US" sz="3200" dirty="0"/>
          </a:p>
        </p:txBody>
      </p:sp>
      <p:sp>
        <p:nvSpPr>
          <p:cNvPr id="5" name="Text 2"/>
          <p:cNvSpPr txBox="1"/>
          <p:nvPr/>
        </p:nvSpPr>
        <p:spPr>
          <a:xfrm>
            <a:off x="2011680" y="1463040"/>
            <a:ext cx="950976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3.1 · Your role</a:t>
            </a:r>
            <a:endParaRPr lang="en-US" sz="2400" dirty="0"/>
          </a:p>
        </p:txBody>
      </p:sp>
      <p:sp>
        <p:nvSpPr>
          <p:cNvPr id="6" name="Shape 3"/>
          <p:cNvSpPr/>
          <p:nvPr/>
        </p:nvSpPr>
        <p:spPr>
          <a:xfrm>
            <a:off x="2011680" y="2331720"/>
            <a:ext cx="411480" cy="411480"/>
          </a:xfrm>
          <a:prstGeom prst="ellipse">
            <a:avLst/>
          </a:prstGeom>
          <a:solidFill>
            <a:srgbClr val="C6A24C"/>
          </a:solidFill>
          <a:ln w="12700">
            <a:solidFill>
              <a:srgbClr val="C6A24C"/>
            </a:solidFill>
            <a:prstDash val="solid"/>
          </a:ln>
        </p:spPr>
      </p:sp>
      <p:pic>
        <p:nvPicPr>
          <p:cNvPr id="7" name="Image 1" descr="preencoded.png">    </p:cNvPr>
          <p:cNvPicPr>
            <a:picLocks noChangeAspect="1"/>
          </p:cNvPicPr>
          <p:nvPr/>
        </p:nvPicPr>
        <p:blipFill>
          <a:blip r:embed="rId2"/>
          <a:stretch>
            <a:fillRect/>
          </a:stretch>
        </p:blipFill>
        <p:spPr>
          <a:xfrm>
            <a:off x="2114550" y="2434590"/>
            <a:ext cx="205740" cy="205740"/>
          </a:xfrm>
          <a:prstGeom prst="rect">
            <a:avLst/>
          </a:prstGeom>
        </p:spPr>
      </p:pic>
      <p:sp>
        <p:nvSpPr>
          <p:cNvPr id="8" name="Text 4"/>
          <p:cNvSpPr txBox="1"/>
          <p:nvPr/>
        </p:nvSpPr>
        <p:spPr>
          <a:xfrm>
            <a:off x="2606040" y="2240280"/>
            <a:ext cx="8961120" cy="685800"/>
          </a:xfrm>
          <a:prstGeom prst="rect">
            <a:avLst/>
          </a:prstGeom>
          <a:noFill/>
          <a:ln/>
        </p:spPr>
        <p:txBody>
          <a:bodyPr wrap="square" lIns="0" tIns="0" rIns="0" bIns="0" rtlCol="0" anchor="ctr"/>
          <a:lstStyle/>
          <a:p>
            <a:pPr indent="0" marL="0">
              <a:buNone/>
            </a:pPr>
            <a:r>
              <a:rPr lang="en-US" sz="3000" i="1" dirty="0">
                <a:solidFill>
                  <a:srgbClr val="FFFFFF"/>
                </a:solidFill>
                <a:latin typeface="Cambria" pitchFamily="34" charset="0"/>
                <a:ea typeface="Cambria" pitchFamily="34" charset="-122"/>
                <a:cs typeface="Cambria" pitchFamily="34" charset="-120"/>
              </a:rPr>
              <a:t>My role</a:t>
            </a:r>
            <a:endParaRPr lang="en-US" sz="3000" dirty="0"/>
          </a:p>
        </p:txBody>
      </p:sp>
      <p:sp>
        <p:nvSpPr>
          <p:cNvPr id="9" name="Shape 5"/>
          <p:cNvSpPr/>
          <p:nvPr/>
        </p:nvSpPr>
        <p:spPr>
          <a:xfrm>
            <a:off x="2011680" y="3200400"/>
            <a:ext cx="411480" cy="411480"/>
          </a:xfrm>
          <a:prstGeom prst="ellipse">
            <a:avLst/>
          </a:prstGeom>
          <a:solidFill>
            <a:srgbClr val="C6A24C"/>
          </a:solidFill>
          <a:ln w="12700">
            <a:solidFill>
              <a:srgbClr val="C6A24C"/>
            </a:solidFill>
            <a:prstDash val="solid"/>
          </a:ln>
        </p:spPr>
      </p:sp>
      <p:pic>
        <p:nvPicPr>
          <p:cNvPr id="10" name="Image 2" descr="preencoded.png">    </p:cNvPr>
          <p:cNvPicPr>
            <a:picLocks noChangeAspect="1"/>
          </p:cNvPicPr>
          <p:nvPr/>
        </p:nvPicPr>
        <p:blipFill>
          <a:blip r:embed="rId3"/>
          <a:stretch>
            <a:fillRect/>
          </a:stretch>
        </p:blipFill>
        <p:spPr>
          <a:xfrm>
            <a:off x="2114550" y="3303270"/>
            <a:ext cx="205740" cy="205740"/>
          </a:xfrm>
          <a:prstGeom prst="rect">
            <a:avLst/>
          </a:prstGeom>
        </p:spPr>
      </p:pic>
      <p:sp>
        <p:nvSpPr>
          <p:cNvPr id="11" name="Text 6"/>
          <p:cNvSpPr txBox="1"/>
          <p:nvPr/>
        </p:nvSpPr>
        <p:spPr>
          <a:xfrm>
            <a:off x="2606040" y="3108960"/>
            <a:ext cx="8961120" cy="685800"/>
          </a:xfrm>
          <a:prstGeom prst="rect">
            <a:avLst/>
          </a:prstGeom>
          <a:noFill/>
          <a:ln/>
        </p:spPr>
        <p:txBody>
          <a:bodyPr wrap="square" lIns="0" tIns="0" rIns="0" bIns="0" rtlCol="0" anchor="ctr"/>
          <a:lstStyle/>
          <a:p>
            <a:pPr indent="0" marL="0">
              <a:buNone/>
            </a:pPr>
            <a:r>
              <a:rPr lang="en-US" sz="3000" i="1" dirty="0">
                <a:solidFill>
                  <a:srgbClr val="FFFFFF"/>
                </a:solidFill>
                <a:latin typeface="Cambria" pitchFamily="34" charset="0"/>
                <a:ea typeface="Cambria" pitchFamily="34" charset="-122"/>
                <a:cs typeface="Cambria" pitchFamily="34" charset="-120"/>
              </a:rPr>
              <a:t>The line of sight I read first</a:t>
            </a:r>
            <a:endParaRPr lang="en-US" sz="3000" dirty="0"/>
          </a:p>
        </p:txBody>
      </p:sp>
      <p:sp>
        <p:nvSpPr>
          <p:cNvPr id="12" name="Shape 7"/>
          <p:cNvSpPr/>
          <p:nvPr/>
        </p:nvSpPr>
        <p:spPr>
          <a:xfrm>
            <a:off x="2011680" y="4069080"/>
            <a:ext cx="411480" cy="4114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2114550" y="4171950"/>
            <a:ext cx="205740" cy="205740"/>
          </a:xfrm>
          <a:prstGeom prst="rect">
            <a:avLst/>
          </a:prstGeom>
        </p:spPr>
      </p:pic>
      <p:sp>
        <p:nvSpPr>
          <p:cNvPr id="14" name="Text 8"/>
          <p:cNvSpPr txBox="1"/>
          <p:nvPr/>
        </p:nvSpPr>
        <p:spPr>
          <a:xfrm>
            <a:off x="2606040" y="3977640"/>
            <a:ext cx="8961120" cy="685800"/>
          </a:xfrm>
          <a:prstGeom prst="rect">
            <a:avLst/>
          </a:prstGeom>
          <a:noFill/>
          <a:ln/>
        </p:spPr>
        <p:txBody>
          <a:bodyPr wrap="square" lIns="0" tIns="0" rIns="0" bIns="0" rtlCol="0" anchor="ctr"/>
          <a:lstStyle/>
          <a:p>
            <a:pPr indent="0" marL="0">
              <a:buNone/>
            </a:pPr>
            <a:r>
              <a:rPr lang="en-US" sz="3000" i="1" dirty="0">
                <a:solidFill>
                  <a:srgbClr val="FFFFFF"/>
                </a:solidFill>
                <a:latin typeface="Cambria" pitchFamily="34" charset="0"/>
                <a:ea typeface="Cambria" pitchFamily="34" charset="-122"/>
                <a:cs typeface="Cambria" pitchFamily="34" charset="-120"/>
              </a:rPr>
              <a:t>The drift signal present in my organisation today</a:t>
            </a:r>
            <a:endParaRPr lang="en-US" sz="3000" dirty="0"/>
          </a:p>
        </p:txBody>
      </p:sp>
      <p:sp>
        <p:nvSpPr>
          <p:cNvPr id="15" name="Shape 9"/>
          <p:cNvSpPr/>
          <p:nvPr/>
        </p:nvSpPr>
        <p:spPr>
          <a:xfrm>
            <a:off x="2011680" y="4937760"/>
            <a:ext cx="411480" cy="4114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2114550" y="5040630"/>
            <a:ext cx="205740" cy="205740"/>
          </a:xfrm>
          <a:prstGeom prst="rect">
            <a:avLst/>
          </a:prstGeom>
        </p:spPr>
      </p:pic>
      <p:sp>
        <p:nvSpPr>
          <p:cNvPr id="17" name="Text 10"/>
          <p:cNvSpPr txBox="1"/>
          <p:nvPr/>
        </p:nvSpPr>
        <p:spPr>
          <a:xfrm>
            <a:off x="2606040" y="4846320"/>
            <a:ext cx="8961120" cy="685800"/>
          </a:xfrm>
          <a:prstGeom prst="rect">
            <a:avLst/>
          </a:prstGeom>
          <a:noFill/>
          <a:ln/>
        </p:spPr>
        <p:txBody>
          <a:bodyPr wrap="square" lIns="0" tIns="0" rIns="0" bIns="0" rtlCol="0" anchor="ctr"/>
          <a:lstStyle/>
          <a:p>
            <a:pPr indent="0" marL="0">
              <a:buNone/>
            </a:pPr>
            <a:r>
              <a:rPr lang="en-US" sz="3000" i="1" dirty="0">
                <a:solidFill>
                  <a:srgbClr val="FFFFFF"/>
                </a:solidFill>
                <a:latin typeface="Cambria" pitchFamily="34" charset="0"/>
                <a:ea typeface="Cambria" pitchFamily="34" charset="-122"/>
                <a:cs typeface="Cambria" pitchFamily="34" charset="-120"/>
              </a:rPr>
              <a:t>The KISS decision I would lead</a:t>
            </a:r>
            <a:endParaRPr lang="en-US" sz="3000" dirty="0"/>
          </a:p>
        </p:txBody>
      </p:sp>
      <p:sp>
        <p:nvSpPr>
          <p:cNvPr id="18" name="Text 11"/>
          <p:cNvSpPr txBox="1"/>
          <p:nvPr/>
        </p:nvSpPr>
        <p:spPr>
          <a:xfrm>
            <a:off x="2011680" y="5760720"/>
            <a:ext cx="9509760" cy="45720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Personal reflection · Learning Portfolio</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The Quarterly Three Lines of Sight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Establish a collective leadership rhythm that sustains performance across every contribution.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Coordinate the enterprise response to drift before it reaches the result.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4.1 · The Quarterly Three Lines of Sight page</a:t>
            </a:r>
            <a:endParaRPr lang="en-US" sz="3600" dirty="0"/>
          </a:p>
        </p:txBody>
      </p:sp>
      <p:sp>
        <p:nvSpPr>
          <p:cNvPr id="3" name="Shape 1"/>
          <p:cNvSpPr/>
          <p:nvPr/>
        </p:nvSpPr>
        <p:spPr>
          <a:xfrm>
            <a:off x="548640" y="1463040"/>
            <a:ext cx="11091672" cy="640080"/>
          </a:xfrm>
          <a:prstGeom prst="roundRect">
            <a:avLst>
              <a:gd name="adj" fmla="val 14286"/>
            </a:avLst>
          </a:prstGeom>
          <a:solidFill>
            <a:srgbClr val="0F3B1C"/>
          </a:solidFill>
          <a:ln w="12700">
            <a:solidFill>
              <a:srgbClr val="0F3B1C"/>
            </a:solidFill>
            <a:prstDash val="solid"/>
          </a:ln>
        </p:spPr>
      </p:sp>
      <p:sp>
        <p:nvSpPr>
          <p:cNvPr id="4" name="Text 2"/>
          <p:cNvSpPr txBox="1"/>
          <p:nvPr/>
        </p:nvSpPr>
        <p:spPr>
          <a:xfrm>
            <a:off x="822960" y="1463040"/>
            <a:ext cx="10607040" cy="640080"/>
          </a:xfrm>
          <a:prstGeom prst="rect">
            <a:avLst/>
          </a:prstGeom>
          <a:noFill/>
          <a:ln/>
        </p:spPr>
        <p:txBody>
          <a:bodyPr wrap="square" lIns="0" tIns="0" rIns="0" bIns="0" rtlCol="0" anchor="ctr"/>
          <a:lstStyle/>
          <a:p>
            <a:pPr indent="0" marL="0">
              <a:buNone/>
            </a:pPr>
            <a:r>
              <a:rPr lang="en-US" sz="2600" b="1" dirty="0">
                <a:solidFill>
                  <a:srgbClr val="C6A24C"/>
                </a:solidFill>
                <a:latin typeface="Calibri" pitchFamily="34" charset="0"/>
                <a:ea typeface="Calibri" pitchFamily="34" charset="-122"/>
                <a:cs typeface="Calibri" pitchFamily="34" charset="-120"/>
              </a:rPr>
              <a:t>Header  </a:t>
            </a:r>
            <a:pPr indent="0" marL="0">
              <a:buNone/>
            </a:pPr>
            <a:r>
              <a:rPr lang="en-US" sz="2600" dirty="0">
                <a:solidFill>
                  <a:srgbClr val="FFFFFF"/>
                </a:solidFill>
                <a:latin typeface="Calibri" pitchFamily="34" charset="0"/>
                <a:ea typeface="Calibri" pitchFamily="34" charset="-122"/>
                <a:cs typeface="Calibri" pitchFamily="34" charset="-120"/>
              </a:rPr>
              <a:t>Enterprise Key Result · Quarter · Decider</a:t>
            </a:r>
            <a:endParaRPr lang="en-US" sz="2600" dirty="0"/>
          </a:p>
        </p:txBody>
      </p:sp>
      <p:sp>
        <p:nvSpPr>
          <p:cNvPr id="5" name="Shape 3"/>
          <p:cNvSpPr/>
          <p:nvPr/>
        </p:nvSpPr>
        <p:spPr>
          <a:xfrm>
            <a:off x="548640" y="2240280"/>
            <a:ext cx="3575304" cy="1325880"/>
          </a:xfrm>
          <a:prstGeom prst="roundRect">
            <a:avLst>
              <a:gd name="adj" fmla="val 6897"/>
            </a:avLst>
          </a:prstGeom>
          <a:solidFill>
            <a:srgbClr val="1A5C2C"/>
          </a:solidFill>
          <a:ln w="12700">
            <a:solidFill>
              <a:srgbClr val="1A5C2C"/>
            </a:solidFill>
            <a:prstDash val="solid"/>
          </a:ln>
        </p:spPr>
      </p:sp>
      <p:sp>
        <p:nvSpPr>
          <p:cNvPr id="6" name="Shape 4"/>
          <p:cNvSpPr/>
          <p:nvPr/>
        </p:nvSpPr>
        <p:spPr>
          <a:xfrm>
            <a:off x="731520" y="2377440"/>
            <a:ext cx="548640" cy="548640"/>
          </a:xfrm>
          <a:prstGeom prst="ellipse">
            <a:avLst/>
          </a:prstGeom>
          <a:solidFill>
            <a:srgbClr val="C6A24C"/>
          </a:solidFill>
          <a:ln w="12700">
            <a:solidFill>
              <a:srgbClr val="C6A24C"/>
            </a:solidFill>
            <a:prstDash val="solid"/>
          </a:ln>
        </p:spPr>
      </p:sp>
      <p:pic>
        <p:nvPicPr>
          <p:cNvPr id="7" name="Image 0" descr="preencoded.png">    </p:cNvPr>
          <p:cNvPicPr>
            <a:picLocks noChangeAspect="1"/>
          </p:cNvPicPr>
          <p:nvPr/>
        </p:nvPicPr>
        <p:blipFill>
          <a:blip r:embed="rId1"/>
          <a:stretch>
            <a:fillRect/>
          </a:stretch>
        </p:blipFill>
        <p:spPr>
          <a:xfrm>
            <a:off x="868680" y="2514600"/>
            <a:ext cx="274320" cy="274320"/>
          </a:xfrm>
          <a:prstGeom prst="rect">
            <a:avLst/>
          </a:prstGeom>
        </p:spPr>
      </p:pic>
      <p:sp>
        <p:nvSpPr>
          <p:cNvPr id="8" name="Text 5"/>
          <p:cNvSpPr txBox="1"/>
          <p:nvPr/>
        </p:nvSpPr>
        <p:spPr>
          <a:xfrm>
            <a:off x="1417320" y="2331720"/>
            <a:ext cx="2569464"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Strategic line</a:t>
            </a:r>
            <a:endParaRPr lang="en-US" sz="2600" dirty="0"/>
          </a:p>
        </p:txBody>
      </p:sp>
      <p:sp>
        <p:nvSpPr>
          <p:cNvPr id="9" name="Text 6"/>
          <p:cNvSpPr txBox="1"/>
          <p:nvPr/>
        </p:nvSpPr>
        <p:spPr>
          <a:xfrm>
            <a:off x="731520" y="2880360"/>
            <a:ext cx="3255264" cy="64008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Key Result and WARD</a:t>
            </a:r>
            <a:endParaRPr lang="en-US" sz="2400" dirty="0"/>
          </a:p>
        </p:txBody>
      </p:sp>
      <p:sp>
        <p:nvSpPr>
          <p:cNvPr id="10" name="Shape 7"/>
          <p:cNvSpPr/>
          <p:nvPr/>
        </p:nvSpPr>
        <p:spPr>
          <a:xfrm>
            <a:off x="4306824" y="2240280"/>
            <a:ext cx="3575304" cy="1325880"/>
          </a:xfrm>
          <a:prstGeom prst="roundRect">
            <a:avLst>
              <a:gd name="adj" fmla="val 6897"/>
            </a:avLst>
          </a:prstGeom>
          <a:solidFill>
            <a:srgbClr val="1A5C2C"/>
          </a:solidFill>
          <a:ln w="12700">
            <a:solidFill>
              <a:srgbClr val="1A5C2C"/>
            </a:solidFill>
            <a:prstDash val="solid"/>
          </a:ln>
        </p:spPr>
      </p:sp>
      <p:sp>
        <p:nvSpPr>
          <p:cNvPr id="11" name="Shape 8"/>
          <p:cNvSpPr/>
          <p:nvPr/>
        </p:nvSpPr>
        <p:spPr>
          <a:xfrm>
            <a:off x="4489704" y="2377440"/>
            <a:ext cx="548640" cy="548640"/>
          </a:xfrm>
          <a:prstGeom prst="ellipse">
            <a:avLst/>
          </a:prstGeom>
          <a:solidFill>
            <a:srgbClr val="C6A24C"/>
          </a:solidFill>
          <a:ln w="12700">
            <a:solidFill>
              <a:srgbClr val="C6A24C"/>
            </a:solidFill>
            <a:prstDash val="solid"/>
          </a:ln>
        </p:spPr>
      </p:sp>
      <p:pic>
        <p:nvPicPr>
          <p:cNvPr id="12" name="Image 1" descr="preencoded.png">    </p:cNvPr>
          <p:cNvPicPr>
            <a:picLocks noChangeAspect="1"/>
          </p:cNvPicPr>
          <p:nvPr/>
        </p:nvPicPr>
        <p:blipFill>
          <a:blip r:embed="rId2"/>
          <a:stretch>
            <a:fillRect/>
          </a:stretch>
        </p:blipFill>
        <p:spPr>
          <a:xfrm>
            <a:off x="4626864" y="2514600"/>
            <a:ext cx="274320" cy="274320"/>
          </a:xfrm>
          <a:prstGeom prst="rect">
            <a:avLst/>
          </a:prstGeom>
        </p:spPr>
      </p:pic>
      <p:sp>
        <p:nvSpPr>
          <p:cNvPr id="13" name="Text 9"/>
          <p:cNvSpPr txBox="1"/>
          <p:nvPr/>
        </p:nvSpPr>
        <p:spPr>
          <a:xfrm>
            <a:off x="5175504" y="2331720"/>
            <a:ext cx="2569464"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Operational line</a:t>
            </a:r>
            <a:endParaRPr lang="en-US" sz="2600" dirty="0"/>
          </a:p>
        </p:txBody>
      </p:sp>
      <p:sp>
        <p:nvSpPr>
          <p:cNvPr id="14" name="Text 10"/>
          <p:cNvSpPr txBox="1"/>
          <p:nvPr/>
        </p:nvSpPr>
        <p:spPr>
          <a:xfrm>
            <a:off x="4489704" y="2880360"/>
            <a:ext cx="3255264" cy="64008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ESRG scan</a:t>
            </a:r>
            <a:endParaRPr lang="en-US" sz="2400" dirty="0"/>
          </a:p>
        </p:txBody>
      </p:sp>
      <p:sp>
        <p:nvSpPr>
          <p:cNvPr id="15" name="Shape 11"/>
          <p:cNvSpPr/>
          <p:nvPr/>
        </p:nvSpPr>
        <p:spPr>
          <a:xfrm>
            <a:off x="8065008" y="2240280"/>
            <a:ext cx="3575304" cy="1325880"/>
          </a:xfrm>
          <a:prstGeom prst="roundRect">
            <a:avLst>
              <a:gd name="adj" fmla="val 6897"/>
            </a:avLst>
          </a:prstGeom>
          <a:solidFill>
            <a:srgbClr val="1A5C2C"/>
          </a:solidFill>
          <a:ln w="12700">
            <a:solidFill>
              <a:srgbClr val="1A5C2C"/>
            </a:solidFill>
            <a:prstDash val="solid"/>
          </a:ln>
        </p:spPr>
      </p:sp>
      <p:sp>
        <p:nvSpPr>
          <p:cNvPr id="16" name="Shape 12"/>
          <p:cNvSpPr/>
          <p:nvPr/>
        </p:nvSpPr>
        <p:spPr>
          <a:xfrm>
            <a:off x="8247888" y="2377440"/>
            <a:ext cx="548640" cy="548640"/>
          </a:xfrm>
          <a:prstGeom prst="ellipse">
            <a:avLst/>
          </a:prstGeom>
          <a:solidFill>
            <a:srgbClr val="C6A24C"/>
          </a:solidFill>
          <a:ln w="12700">
            <a:solidFill>
              <a:srgbClr val="C6A24C"/>
            </a:solidFill>
            <a:prstDash val="solid"/>
          </a:ln>
        </p:spPr>
      </p:sp>
      <p:pic>
        <p:nvPicPr>
          <p:cNvPr id="17" name="Image 2" descr="preencoded.png">    </p:cNvPr>
          <p:cNvPicPr>
            <a:picLocks noChangeAspect="1"/>
          </p:cNvPicPr>
          <p:nvPr/>
        </p:nvPicPr>
        <p:blipFill>
          <a:blip r:embed="rId3"/>
          <a:stretch>
            <a:fillRect/>
          </a:stretch>
        </p:blipFill>
        <p:spPr>
          <a:xfrm>
            <a:off x="8385048" y="2514600"/>
            <a:ext cx="274320" cy="274320"/>
          </a:xfrm>
          <a:prstGeom prst="rect">
            <a:avLst/>
          </a:prstGeom>
        </p:spPr>
      </p:pic>
      <p:sp>
        <p:nvSpPr>
          <p:cNvPr id="18" name="Text 13"/>
          <p:cNvSpPr txBox="1"/>
          <p:nvPr/>
        </p:nvSpPr>
        <p:spPr>
          <a:xfrm>
            <a:off x="8933688" y="2331720"/>
            <a:ext cx="2569464"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Behavioural line</a:t>
            </a:r>
            <a:endParaRPr lang="en-US" sz="2600" dirty="0"/>
          </a:p>
        </p:txBody>
      </p:sp>
      <p:sp>
        <p:nvSpPr>
          <p:cNvPr id="19" name="Text 14"/>
          <p:cNvSpPr txBox="1"/>
          <p:nvPr/>
        </p:nvSpPr>
        <p:spPr>
          <a:xfrm>
            <a:off x="8247888" y="2880360"/>
            <a:ext cx="3255264" cy="64008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Health Thermometer</a:t>
            </a:r>
            <a:endParaRPr lang="en-US" sz="2400" dirty="0"/>
          </a:p>
        </p:txBody>
      </p:sp>
      <p:sp>
        <p:nvSpPr>
          <p:cNvPr id="20" name="Shape 15"/>
          <p:cNvSpPr/>
          <p:nvPr/>
        </p:nvSpPr>
        <p:spPr>
          <a:xfrm>
            <a:off x="548640" y="3703320"/>
            <a:ext cx="11091672" cy="1463040"/>
          </a:xfrm>
          <a:prstGeom prst="roundRect">
            <a:avLst>
              <a:gd name="adj" fmla="val 6250"/>
            </a:avLst>
          </a:prstGeom>
          <a:solidFill>
            <a:srgbClr val="EEF4EF"/>
          </a:solidFill>
          <a:ln w="12700">
            <a:solidFill>
              <a:srgbClr val="EEF4EF"/>
            </a:solidFill>
            <a:prstDash val="solid"/>
          </a:ln>
        </p:spPr>
      </p:sp>
      <p:sp>
        <p:nvSpPr>
          <p:cNvPr id="21" name="Text 16"/>
          <p:cNvSpPr txBox="1"/>
          <p:nvPr/>
        </p:nvSpPr>
        <p:spPr>
          <a:xfrm>
            <a:off x="822960" y="3767328"/>
            <a:ext cx="3657600" cy="457200"/>
          </a:xfrm>
          <a:prstGeom prst="rect">
            <a:avLst/>
          </a:prstGeom>
          <a:noFill/>
          <a:ln/>
        </p:spPr>
        <p:txBody>
          <a:bodyPr wrap="square" lIns="0" tIns="0" rIns="0" bIns="0" rtlCol="0" anchor="t"/>
          <a:lstStyle/>
          <a:p>
            <a:pPr indent="0" marL="0">
              <a:buNone/>
            </a:pPr>
            <a:r>
              <a:rPr lang="en-US" sz="2400" b="1" dirty="0">
                <a:solidFill>
                  <a:srgbClr val="1A5C2C"/>
                </a:solidFill>
                <a:latin typeface="Cambria" pitchFamily="34" charset="0"/>
                <a:ea typeface="Cambria" pitchFamily="34" charset="-122"/>
                <a:cs typeface="Cambria" pitchFamily="34" charset="-120"/>
              </a:rPr>
              <a:t>On each line</a:t>
            </a:r>
            <a:endParaRPr lang="en-US" sz="2400" dirty="0"/>
          </a:p>
        </p:txBody>
      </p:sp>
      <p:sp>
        <p:nvSpPr>
          <p:cNvPr id="22" name="Text 17"/>
          <p:cNvSpPr txBox="1"/>
          <p:nvPr/>
        </p:nvSpPr>
        <p:spPr>
          <a:xfrm>
            <a:off x="822960" y="4224528"/>
            <a:ext cx="10607040" cy="41148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Result this quarter · Waypoint · Alert</a:t>
            </a:r>
            <a:endParaRPr lang="en-US" sz="2400" dirty="0"/>
          </a:p>
        </p:txBody>
      </p:sp>
      <p:sp>
        <p:nvSpPr>
          <p:cNvPr id="23" name="Text 18"/>
          <p:cNvSpPr txBox="1"/>
          <p:nvPr/>
        </p:nvSpPr>
        <p:spPr>
          <a:xfrm>
            <a:off x="822960" y="4663440"/>
            <a:ext cx="10607040" cy="41148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Alert raised · Recovery and owner · Decider checks</a:t>
            </a:r>
            <a:endParaRPr lang="en-US" sz="2400" dirty="0"/>
          </a:p>
        </p:txBody>
      </p:sp>
      <p:sp>
        <p:nvSpPr>
          <p:cNvPr id="24" name="Shape 19"/>
          <p:cNvSpPr/>
          <p:nvPr/>
        </p:nvSpPr>
        <p:spPr>
          <a:xfrm>
            <a:off x="548640" y="5303520"/>
            <a:ext cx="11091672" cy="1097280"/>
          </a:xfrm>
          <a:prstGeom prst="roundRect">
            <a:avLst>
              <a:gd name="adj" fmla="val 8333"/>
            </a:avLst>
          </a:prstGeom>
          <a:solidFill>
            <a:srgbClr val="0F3B1C"/>
          </a:solidFill>
          <a:ln w="12700">
            <a:solidFill>
              <a:srgbClr val="0F3B1C"/>
            </a:solidFill>
            <a:prstDash val="solid"/>
          </a:ln>
        </p:spPr>
      </p:sp>
      <p:sp>
        <p:nvSpPr>
          <p:cNvPr id="25" name="Text 20"/>
          <p:cNvSpPr txBox="1"/>
          <p:nvPr/>
        </p:nvSpPr>
        <p:spPr>
          <a:xfrm>
            <a:off x="822960" y="5349240"/>
            <a:ext cx="10607040" cy="1005840"/>
          </a:xfrm>
          <a:prstGeom prst="rect">
            <a:avLst/>
          </a:prstGeom>
          <a:noFill/>
          <a:ln/>
        </p:spPr>
        <p:txBody>
          <a:bodyPr wrap="square" lIns="0" tIns="0" rIns="0" bIns="0" rtlCol="0" anchor="ctr"/>
          <a:lstStyle/>
          <a:p>
            <a:pPr indent="0" marL="0">
              <a:buNone/>
            </a:pPr>
            <a:r>
              <a:rPr lang="en-US" sz="2400" b="1" dirty="0">
                <a:solidFill>
                  <a:srgbClr val="C6A24C"/>
                </a:solidFill>
                <a:latin typeface="Calibri" pitchFamily="34" charset="0"/>
                <a:ea typeface="Calibri" pitchFamily="34" charset="-122"/>
                <a:cs typeface="Calibri" pitchFamily="34" charset="-120"/>
              </a:rPr>
              <a:t>KISS for next quarter  </a:t>
            </a: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Keep · Improve · Stop · Start, each with its practice, line of sight and owner</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4.2a · Worked example: results against WARD</a:t>
            </a:r>
            <a:endParaRPr lang="en-US" sz="3600" dirty="0"/>
          </a:p>
        </p:txBody>
      </p:sp>
      <p:sp>
        <p:nvSpPr>
          <p:cNvPr id="3" name="Shape 1"/>
          <p:cNvSpPr/>
          <p:nvPr/>
        </p:nvSpPr>
        <p:spPr>
          <a:xfrm>
            <a:off x="548640" y="1463040"/>
            <a:ext cx="11091672" cy="548640"/>
          </a:xfrm>
          <a:prstGeom prst="roundRect">
            <a:avLst>
              <a:gd name="adj" fmla="val 16667"/>
            </a:avLst>
          </a:prstGeom>
          <a:solidFill>
            <a:srgbClr val="0F3B1C"/>
          </a:solidFill>
          <a:ln w="12700">
            <a:solidFill>
              <a:srgbClr val="0F3B1C"/>
            </a:solidFill>
            <a:prstDash val="solid"/>
          </a:ln>
        </p:spPr>
      </p:sp>
      <p:sp>
        <p:nvSpPr>
          <p:cNvPr id="4" name="Text 2"/>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Enquiries resolved within 48 hours: 65% to 90% by year-end · Quarter 2</a:t>
            </a:r>
            <a:endParaRPr lang="en-US" sz="2400" dirty="0"/>
          </a:p>
        </p:txBody>
      </p:sp>
      <p:sp>
        <p:nvSpPr>
          <p:cNvPr id="5" name="Shape 3"/>
          <p:cNvSpPr/>
          <p:nvPr/>
        </p:nvSpPr>
        <p:spPr>
          <a:xfrm>
            <a:off x="548640" y="2148840"/>
            <a:ext cx="2322576" cy="521208"/>
          </a:xfrm>
          <a:prstGeom prst="roundRect">
            <a:avLst>
              <a:gd name="adj" fmla="val 17544"/>
            </a:avLst>
          </a:prstGeom>
          <a:solidFill>
            <a:srgbClr val="1A5C2C"/>
          </a:solidFill>
          <a:ln w="12700">
            <a:solidFill>
              <a:srgbClr val="1A5C2C"/>
            </a:solidFill>
            <a:prstDash val="solid"/>
          </a:ln>
        </p:spPr>
      </p:sp>
      <p:sp>
        <p:nvSpPr>
          <p:cNvPr id="6" name="Text 4"/>
          <p:cNvSpPr txBox="1"/>
          <p:nvPr/>
        </p:nvSpPr>
        <p:spPr>
          <a:xfrm>
            <a:off x="630936" y="2148840"/>
            <a:ext cx="215798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WARD</a:t>
            </a:r>
            <a:endParaRPr lang="en-US" sz="2400" dirty="0"/>
          </a:p>
        </p:txBody>
      </p:sp>
      <p:sp>
        <p:nvSpPr>
          <p:cNvPr id="7" name="Shape 5"/>
          <p:cNvSpPr/>
          <p:nvPr/>
        </p:nvSpPr>
        <p:spPr>
          <a:xfrm>
            <a:off x="2926080" y="2148840"/>
            <a:ext cx="2843784" cy="521208"/>
          </a:xfrm>
          <a:prstGeom prst="roundRect">
            <a:avLst>
              <a:gd name="adj" fmla="val 17544"/>
            </a:avLst>
          </a:prstGeom>
          <a:solidFill>
            <a:srgbClr val="1A5C2C"/>
          </a:solidFill>
          <a:ln w="12700">
            <a:solidFill>
              <a:srgbClr val="1A5C2C"/>
            </a:solidFill>
            <a:prstDash val="solid"/>
          </a:ln>
        </p:spPr>
      </p:sp>
      <p:sp>
        <p:nvSpPr>
          <p:cNvPr id="8" name="Text 6"/>
          <p:cNvSpPr txBox="1"/>
          <p:nvPr/>
        </p:nvSpPr>
        <p:spPr>
          <a:xfrm>
            <a:off x="3008376" y="2148840"/>
            <a:ext cx="2679192"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Strategic</a:t>
            </a:r>
            <a:endParaRPr lang="en-US" sz="2400" dirty="0"/>
          </a:p>
        </p:txBody>
      </p:sp>
      <p:sp>
        <p:nvSpPr>
          <p:cNvPr id="9" name="Shape 7"/>
          <p:cNvSpPr/>
          <p:nvPr/>
        </p:nvSpPr>
        <p:spPr>
          <a:xfrm>
            <a:off x="5824728" y="2148840"/>
            <a:ext cx="2852928" cy="521208"/>
          </a:xfrm>
          <a:prstGeom prst="roundRect">
            <a:avLst>
              <a:gd name="adj" fmla="val 17544"/>
            </a:avLst>
          </a:prstGeom>
          <a:solidFill>
            <a:srgbClr val="1A5C2C"/>
          </a:solidFill>
          <a:ln w="12700">
            <a:solidFill>
              <a:srgbClr val="1A5C2C"/>
            </a:solidFill>
            <a:prstDash val="solid"/>
          </a:ln>
        </p:spPr>
      </p:sp>
      <p:sp>
        <p:nvSpPr>
          <p:cNvPr id="10" name="Text 8"/>
          <p:cNvSpPr txBox="1"/>
          <p:nvPr/>
        </p:nvSpPr>
        <p:spPr>
          <a:xfrm>
            <a:off x="5907024" y="2148840"/>
            <a:ext cx="268833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Operational</a:t>
            </a:r>
            <a:endParaRPr lang="en-US" sz="2400" dirty="0"/>
          </a:p>
        </p:txBody>
      </p:sp>
      <p:sp>
        <p:nvSpPr>
          <p:cNvPr id="11" name="Shape 9"/>
          <p:cNvSpPr/>
          <p:nvPr/>
        </p:nvSpPr>
        <p:spPr>
          <a:xfrm>
            <a:off x="8732520" y="2148840"/>
            <a:ext cx="2852928" cy="521208"/>
          </a:xfrm>
          <a:prstGeom prst="roundRect">
            <a:avLst>
              <a:gd name="adj" fmla="val 17544"/>
            </a:avLst>
          </a:prstGeom>
          <a:solidFill>
            <a:srgbClr val="1A5C2C"/>
          </a:solidFill>
          <a:ln w="12700">
            <a:solidFill>
              <a:srgbClr val="1A5C2C"/>
            </a:solidFill>
            <a:prstDash val="solid"/>
          </a:ln>
        </p:spPr>
      </p:sp>
      <p:sp>
        <p:nvSpPr>
          <p:cNvPr id="12" name="Text 10"/>
          <p:cNvSpPr txBox="1"/>
          <p:nvPr/>
        </p:nvSpPr>
        <p:spPr>
          <a:xfrm>
            <a:off x="8814816" y="2148840"/>
            <a:ext cx="268833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Behavioural</a:t>
            </a:r>
            <a:endParaRPr lang="en-US" sz="2400" dirty="0"/>
          </a:p>
        </p:txBody>
      </p:sp>
      <p:sp>
        <p:nvSpPr>
          <p:cNvPr id="13" name="Shape 11"/>
          <p:cNvSpPr/>
          <p:nvPr/>
        </p:nvSpPr>
        <p:spPr>
          <a:xfrm>
            <a:off x="548640" y="2724912"/>
            <a:ext cx="2322576" cy="1591056"/>
          </a:xfrm>
          <a:prstGeom prst="roundRect">
            <a:avLst>
              <a:gd name="adj" fmla="val 5747"/>
            </a:avLst>
          </a:prstGeom>
          <a:solidFill>
            <a:srgbClr val="E6D3A0"/>
          </a:solidFill>
          <a:ln w="12700">
            <a:solidFill>
              <a:srgbClr val="E6D3A0"/>
            </a:solidFill>
            <a:prstDash val="solid"/>
          </a:ln>
        </p:spPr>
      </p:sp>
      <p:sp>
        <p:nvSpPr>
          <p:cNvPr id="14" name="Text 12"/>
          <p:cNvSpPr txBox="1"/>
          <p:nvPr/>
        </p:nvSpPr>
        <p:spPr>
          <a:xfrm>
            <a:off x="630936" y="2724912"/>
            <a:ext cx="2157984" cy="1591056"/>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Result this quarter</a:t>
            </a:r>
            <a:endParaRPr lang="en-US" sz="2400" dirty="0"/>
          </a:p>
        </p:txBody>
      </p:sp>
      <p:sp>
        <p:nvSpPr>
          <p:cNvPr id="15" name="Shape 13"/>
          <p:cNvSpPr/>
          <p:nvPr/>
        </p:nvSpPr>
        <p:spPr>
          <a:xfrm>
            <a:off x="2926080" y="2724912"/>
            <a:ext cx="2843784" cy="1591056"/>
          </a:xfrm>
          <a:prstGeom prst="roundRect">
            <a:avLst>
              <a:gd name="adj" fmla="val 5747"/>
            </a:avLst>
          </a:prstGeom>
          <a:solidFill>
            <a:srgbClr val="EEF4EF"/>
          </a:solidFill>
          <a:ln w="12700">
            <a:solidFill>
              <a:srgbClr val="EEF4EF"/>
            </a:solidFill>
            <a:prstDash val="solid"/>
          </a:ln>
        </p:spPr>
      </p:sp>
      <p:sp>
        <p:nvSpPr>
          <p:cNvPr id="16" name="Text 14"/>
          <p:cNvSpPr txBox="1"/>
          <p:nvPr/>
        </p:nvSpPr>
        <p:spPr>
          <a:xfrm>
            <a:off x="3008376" y="2724912"/>
            <a:ext cx="2679192" cy="1591056"/>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74% within 48 hours</a:t>
            </a:r>
            <a:endParaRPr lang="en-US" sz="2400" dirty="0"/>
          </a:p>
        </p:txBody>
      </p:sp>
      <p:sp>
        <p:nvSpPr>
          <p:cNvPr id="17" name="Shape 15"/>
          <p:cNvSpPr/>
          <p:nvPr/>
        </p:nvSpPr>
        <p:spPr>
          <a:xfrm>
            <a:off x="5824728" y="2724912"/>
            <a:ext cx="2852928" cy="1591056"/>
          </a:xfrm>
          <a:prstGeom prst="roundRect">
            <a:avLst>
              <a:gd name="adj" fmla="val 5747"/>
            </a:avLst>
          </a:prstGeom>
          <a:solidFill>
            <a:srgbClr val="EEF4EF"/>
          </a:solidFill>
          <a:ln w="12700">
            <a:solidFill>
              <a:srgbClr val="EEF4EF"/>
            </a:solidFill>
            <a:prstDash val="solid"/>
          </a:ln>
        </p:spPr>
      </p:sp>
      <p:sp>
        <p:nvSpPr>
          <p:cNvPr id="18" name="Text 16"/>
          <p:cNvSpPr txBox="1"/>
          <p:nvPr/>
        </p:nvSpPr>
        <p:spPr>
          <a:xfrm>
            <a:off x="5907024" y="2724912"/>
            <a:ext cx="2688336" cy="1591056"/>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Readiness 4.3</a:t>
            </a: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Flow 2.0</a:t>
            </a: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Capacity 4.0</a:t>
            </a: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Responsiveness 3.7</a:t>
            </a:r>
            <a:endParaRPr lang="en-US" sz="2400" dirty="0"/>
          </a:p>
        </p:txBody>
      </p:sp>
      <p:sp>
        <p:nvSpPr>
          <p:cNvPr id="19" name="Shape 17"/>
          <p:cNvSpPr/>
          <p:nvPr/>
        </p:nvSpPr>
        <p:spPr>
          <a:xfrm>
            <a:off x="8732520" y="2724912"/>
            <a:ext cx="2852928" cy="1591056"/>
          </a:xfrm>
          <a:prstGeom prst="roundRect">
            <a:avLst>
              <a:gd name="adj" fmla="val 5747"/>
            </a:avLst>
          </a:prstGeom>
          <a:solidFill>
            <a:srgbClr val="EEF4EF"/>
          </a:solidFill>
          <a:ln w="12700">
            <a:solidFill>
              <a:srgbClr val="EEF4EF"/>
            </a:solidFill>
            <a:prstDash val="solid"/>
          </a:ln>
        </p:spPr>
      </p:sp>
      <p:sp>
        <p:nvSpPr>
          <p:cNvPr id="20" name="Text 18"/>
          <p:cNvSpPr txBox="1"/>
          <p:nvPr/>
        </p:nvSpPr>
        <p:spPr>
          <a:xfrm>
            <a:off x="8814816" y="2724912"/>
            <a:ext cx="2688336" cy="1591056"/>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52/100 (Q1: 80)</a:t>
            </a:r>
            <a:endParaRPr lang="en-US" sz="2400" dirty="0"/>
          </a:p>
          <a:p>
            <a:pPr indent="0" marL="0">
              <a:buNone/>
            </a:pPr>
            <a:r>
              <a:rPr lang="en-US" sz="2400" dirty="0">
                <a:solidFill>
                  <a:srgbClr val="1F2A22"/>
                </a:solidFill>
                <a:latin typeface="Calibri" pitchFamily="34" charset="0"/>
                <a:ea typeface="Calibri" pitchFamily="34" charset="-122"/>
                <a:cs typeface="Calibri" pitchFamily="34" charset="-120"/>
              </a:rPr>
              <a:t>Politics 8 · Morale 8</a:t>
            </a:r>
            <a:endParaRPr lang="en-US" sz="2400" dirty="0"/>
          </a:p>
        </p:txBody>
      </p:sp>
      <p:sp>
        <p:nvSpPr>
          <p:cNvPr id="21" name="Shape 19"/>
          <p:cNvSpPr/>
          <p:nvPr/>
        </p:nvSpPr>
        <p:spPr>
          <a:xfrm>
            <a:off x="548640" y="4370832"/>
            <a:ext cx="2322576" cy="877824"/>
          </a:xfrm>
          <a:prstGeom prst="roundRect">
            <a:avLst>
              <a:gd name="adj" fmla="val 10417"/>
            </a:avLst>
          </a:prstGeom>
          <a:solidFill>
            <a:srgbClr val="E6D3A0"/>
          </a:solidFill>
          <a:ln w="12700">
            <a:solidFill>
              <a:srgbClr val="E6D3A0"/>
            </a:solidFill>
            <a:prstDash val="solid"/>
          </a:ln>
        </p:spPr>
      </p:sp>
      <p:sp>
        <p:nvSpPr>
          <p:cNvPr id="22" name="Text 20"/>
          <p:cNvSpPr txBox="1"/>
          <p:nvPr/>
        </p:nvSpPr>
        <p:spPr>
          <a:xfrm>
            <a:off x="630936" y="4370832"/>
            <a:ext cx="215798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W · Waypoint</a:t>
            </a:r>
            <a:endParaRPr lang="en-US" sz="2400" dirty="0"/>
          </a:p>
        </p:txBody>
      </p:sp>
      <p:sp>
        <p:nvSpPr>
          <p:cNvPr id="23" name="Shape 21"/>
          <p:cNvSpPr/>
          <p:nvPr/>
        </p:nvSpPr>
        <p:spPr>
          <a:xfrm>
            <a:off x="2926080" y="4370832"/>
            <a:ext cx="2843784" cy="877824"/>
          </a:xfrm>
          <a:prstGeom prst="roundRect">
            <a:avLst>
              <a:gd name="adj" fmla="val 10417"/>
            </a:avLst>
          </a:prstGeom>
          <a:solidFill>
            <a:srgbClr val="EEF4EF"/>
          </a:solidFill>
          <a:ln w="12700">
            <a:solidFill>
              <a:srgbClr val="EEF4EF"/>
            </a:solidFill>
            <a:prstDash val="solid"/>
          </a:ln>
        </p:spPr>
      </p:sp>
      <p:sp>
        <p:nvSpPr>
          <p:cNvPr id="24" name="Text 22"/>
          <p:cNvSpPr txBox="1"/>
          <p:nvPr/>
        </p:nvSpPr>
        <p:spPr>
          <a:xfrm>
            <a:off x="3008376" y="4370832"/>
            <a:ext cx="2679192"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80% by end of June</a:t>
            </a:r>
            <a:endParaRPr lang="en-US" sz="2400" dirty="0"/>
          </a:p>
        </p:txBody>
      </p:sp>
      <p:sp>
        <p:nvSpPr>
          <p:cNvPr id="25" name="Shape 23"/>
          <p:cNvSpPr/>
          <p:nvPr/>
        </p:nvSpPr>
        <p:spPr>
          <a:xfrm>
            <a:off x="5824728" y="4370832"/>
            <a:ext cx="2852928" cy="877824"/>
          </a:xfrm>
          <a:prstGeom prst="roundRect">
            <a:avLst>
              <a:gd name="adj" fmla="val 10417"/>
            </a:avLst>
          </a:prstGeom>
          <a:solidFill>
            <a:srgbClr val="EEF4EF"/>
          </a:solidFill>
          <a:ln w="12700">
            <a:solidFill>
              <a:srgbClr val="EEF4EF"/>
            </a:solidFill>
            <a:prstDash val="solid"/>
          </a:ln>
        </p:spPr>
      </p:sp>
      <p:sp>
        <p:nvSpPr>
          <p:cNvPr id="26" name="Text 24"/>
          <p:cNvSpPr txBox="1"/>
          <p:nvPr/>
        </p:nvSpPr>
        <p:spPr>
          <a:xfrm>
            <a:off x="5907024" y="4370832"/>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Each capability 4.0 or above</a:t>
            </a:r>
            <a:endParaRPr lang="en-US" sz="2400" dirty="0"/>
          </a:p>
        </p:txBody>
      </p:sp>
      <p:sp>
        <p:nvSpPr>
          <p:cNvPr id="27" name="Shape 25"/>
          <p:cNvSpPr/>
          <p:nvPr/>
        </p:nvSpPr>
        <p:spPr>
          <a:xfrm>
            <a:off x="8732520" y="4370832"/>
            <a:ext cx="2852928" cy="877824"/>
          </a:xfrm>
          <a:prstGeom prst="roundRect">
            <a:avLst>
              <a:gd name="adj" fmla="val 10417"/>
            </a:avLst>
          </a:prstGeom>
          <a:solidFill>
            <a:srgbClr val="EEF4EF"/>
          </a:solidFill>
          <a:ln w="12700">
            <a:solidFill>
              <a:srgbClr val="EEF4EF"/>
            </a:solidFill>
            <a:prstDash val="solid"/>
          </a:ln>
        </p:spPr>
      </p:sp>
      <p:sp>
        <p:nvSpPr>
          <p:cNvPr id="28" name="Text 26"/>
          <p:cNvSpPr txBox="1"/>
          <p:nvPr/>
        </p:nvSpPr>
        <p:spPr>
          <a:xfrm>
            <a:off x="8814816" y="4370832"/>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80/100 or above</a:t>
            </a:r>
            <a:endParaRPr lang="en-US" sz="2400" dirty="0"/>
          </a:p>
        </p:txBody>
      </p:sp>
      <p:sp>
        <p:nvSpPr>
          <p:cNvPr id="29" name="Shape 27"/>
          <p:cNvSpPr/>
          <p:nvPr/>
        </p:nvSpPr>
        <p:spPr>
          <a:xfrm>
            <a:off x="548640" y="5303520"/>
            <a:ext cx="2322576" cy="877824"/>
          </a:xfrm>
          <a:prstGeom prst="roundRect">
            <a:avLst>
              <a:gd name="adj" fmla="val 10417"/>
            </a:avLst>
          </a:prstGeom>
          <a:solidFill>
            <a:srgbClr val="E6D3A0"/>
          </a:solidFill>
          <a:ln w="12700">
            <a:solidFill>
              <a:srgbClr val="E6D3A0"/>
            </a:solidFill>
            <a:prstDash val="solid"/>
          </a:ln>
        </p:spPr>
      </p:sp>
      <p:sp>
        <p:nvSpPr>
          <p:cNvPr id="30" name="Text 28"/>
          <p:cNvSpPr txBox="1"/>
          <p:nvPr/>
        </p:nvSpPr>
        <p:spPr>
          <a:xfrm>
            <a:off x="630936" y="5303520"/>
            <a:ext cx="215798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A · Alert</a:t>
            </a:r>
            <a:endParaRPr lang="en-US" sz="2400" dirty="0"/>
          </a:p>
        </p:txBody>
      </p:sp>
      <p:sp>
        <p:nvSpPr>
          <p:cNvPr id="31" name="Shape 29"/>
          <p:cNvSpPr/>
          <p:nvPr/>
        </p:nvSpPr>
        <p:spPr>
          <a:xfrm>
            <a:off x="2926080" y="5303520"/>
            <a:ext cx="2843784" cy="877824"/>
          </a:xfrm>
          <a:prstGeom prst="roundRect">
            <a:avLst>
              <a:gd name="adj" fmla="val 10417"/>
            </a:avLst>
          </a:prstGeom>
          <a:solidFill>
            <a:srgbClr val="EEF4EF"/>
          </a:solidFill>
          <a:ln w="12700">
            <a:solidFill>
              <a:srgbClr val="EEF4EF"/>
            </a:solidFill>
            <a:prstDash val="solid"/>
          </a:ln>
        </p:spPr>
      </p:sp>
      <p:sp>
        <p:nvSpPr>
          <p:cNvPr id="32" name="Text 30"/>
          <p:cNvSpPr txBox="1"/>
          <p:nvPr/>
        </p:nvSpPr>
        <p:spPr>
          <a:xfrm>
            <a:off x="3008376" y="5303520"/>
            <a:ext cx="2679192"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More than 3 points below</a:t>
            </a:r>
            <a:endParaRPr lang="en-US" sz="2400" dirty="0"/>
          </a:p>
        </p:txBody>
      </p:sp>
      <p:sp>
        <p:nvSpPr>
          <p:cNvPr id="33" name="Shape 31"/>
          <p:cNvSpPr/>
          <p:nvPr/>
        </p:nvSpPr>
        <p:spPr>
          <a:xfrm>
            <a:off x="5824728" y="5303520"/>
            <a:ext cx="2852928" cy="877824"/>
          </a:xfrm>
          <a:prstGeom prst="roundRect">
            <a:avLst>
              <a:gd name="adj" fmla="val 10417"/>
            </a:avLst>
          </a:prstGeom>
          <a:solidFill>
            <a:srgbClr val="EEF4EF"/>
          </a:solidFill>
          <a:ln w="12700">
            <a:solidFill>
              <a:srgbClr val="EEF4EF"/>
            </a:solidFill>
            <a:prstDash val="solid"/>
          </a:ln>
        </p:spPr>
      </p:sp>
      <p:sp>
        <p:nvSpPr>
          <p:cNvPr id="34" name="Text 32"/>
          <p:cNvSpPr txBox="1"/>
          <p:nvPr/>
        </p:nvSpPr>
        <p:spPr>
          <a:xfrm>
            <a:off x="5907024" y="5303520"/>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Any capability below 3.0</a:t>
            </a:r>
            <a:endParaRPr lang="en-US" sz="2400" dirty="0"/>
          </a:p>
        </p:txBody>
      </p:sp>
      <p:sp>
        <p:nvSpPr>
          <p:cNvPr id="35" name="Shape 33"/>
          <p:cNvSpPr/>
          <p:nvPr/>
        </p:nvSpPr>
        <p:spPr>
          <a:xfrm>
            <a:off x="8732520" y="5303520"/>
            <a:ext cx="2852928" cy="877824"/>
          </a:xfrm>
          <a:prstGeom prst="roundRect">
            <a:avLst>
              <a:gd name="adj" fmla="val 10417"/>
            </a:avLst>
          </a:prstGeom>
          <a:solidFill>
            <a:srgbClr val="EEF4EF"/>
          </a:solidFill>
          <a:ln w="12700">
            <a:solidFill>
              <a:srgbClr val="EEF4EF"/>
            </a:solidFill>
            <a:prstDash val="solid"/>
          </a:ln>
        </p:spPr>
      </p:sp>
      <p:sp>
        <p:nvSpPr>
          <p:cNvPr id="36" name="Text 34"/>
          <p:cNvSpPr txBox="1"/>
          <p:nvPr/>
        </p:nvSpPr>
        <p:spPr>
          <a:xfrm>
            <a:off x="8814816" y="5303520"/>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Below 60/100</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4.2b · Worked example: alerts and recoveries</a:t>
            </a:r>
            <a:endParaRPr lang="en-US" sz="3600" dirty="0"/>
          </a:p>
        </p:txBody>
      </p:sp>
      <p:sp>
        <p:nvSpPr>
          <p:cNvPr id="3" name="Shape 1"/>
          <p:cNvSpPr/>
          <p:nvPr/>
        </p:nvSpPr>
        <p:spPr>
          <a:xfrm>
            <a:off x="548640" y="1463040"/>
            <a:ext cx="2322576" cy="521208"/>
          </a:xfrm>
          <a:prstGeom prst="roundRect">
            <a:avLst>
              <a:gd name="adj" fmla="val 17544"/>
            </a:avLst>
          </a:prstGeom>
          <a:solidFill>
            <a:srgbClr val="1A5C2C"/>
          </a:solidFill>
          <a:ln w="12700">
            <a:solidFill>
              <a:srgbClr val="1A5C2C"/>
            </a:solidFill>
            <a:prstDash val="solid"/>
          </a:ln>
        </p:spPr>
      </p:sp>
      <p:sp>
        <p:nvSpPr>
          <p:cNvPr id="4" name="Text 2"/>
          <p:cNvSpPr txBox="1"/>
          <p:nvPr/>
        </p:nvSpPr>
        <p:spPr>
          <a:xfrm>
            <a:off x="630936" y="1463040"/>
            <a:ext cx="215798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Quarter 2</a:t>
            </a:r>
            <a:endParaRPr lang="en-US" sz="2400" dirty="0"/>
          </a:p>
        </p:txBody>
      </p:sp>
      <p:sp>
        <p:nvSpPr>
          <p:cNvPr id="5" name="Shape 3"/>
          <p:cNvSpPr/>
          <p:nvPr/>
        </p:nvSpPr>
        <p:spPr>
          <a:xfrm>
            <a:off x="2926080" y="1463040"/>
            <a:ext cx="2843784" cy="521208"/>
          </a:xfrm>
          <a:prstGeom prst="roundRect">
            <a:avLst>
              <a:gd name="adj" fmla="val 17544"/>
            </a:avLst>
          </a:prstGeom>
          <a:solidFill>
            <a:srgbClr val="1A5C2C"/>
          </a:solidFill>
          <a:ln w="12700">
            <a:solidFill>
              <a:srgbClr val="1A5C2C"/>
            </a:solidFill>
            <a:prstDash val="solid"/>
          </a:ln>
        </p:spPr>
      </p:sp>
      <p:sp>
        <p:nvSpPr>
          <p:cNvPr id="6" name="Text 4"/>
          <p:cNvSpPr txBox="1"/>
          <p:nvPr/>
        </p:nvSpPr>
        <p:spPr>
          <a:xfrm>
            <a:off x="3008376" y="1463040"/>
            <a:ext cx="2679192"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Strategic</a:t>
            </a:r>
            <a:endParaRPr lang="en-US" sz="2400" dirty="0"/>
          </a:p>
        </p:txBody>
      </p:sp>
      <p:sp>
        <p:nvSpPr>
          <p:cNvPr id="7" name="Shape 5"/>
          <p:cNvSpPr/>
          <p:nvPr/>
        </p:nvSpPr>
        <p:spPr>
          <a:xfrm>
            <a:off x="5824728" y="1463040"/>
            <a:ext cx="2852928" cy="521208"/>
          </a:xfrm>
          <a:prstGeom prst="roundRect">
            <a:avLst>
              <a:gd name="adj" fmla="val 17544"/>
            </a:avLst>
          </a:prstGeom>
          <a:solidFill>
            <a:srgbClr val="1A5C2C"/>
          </a:solidFill>
          <a:ln w="12700">
            <a:solidFill>
              <a:srgbClr val="1A5C2C"/>
            </a:solidFill>
            <a:prstDash val="solid"/>
          </a:ln>
        </p:spPr>
      </p:sp>
      <p:sp>
        <p:nvSpPr>
          <p:cNvPr id="8" name="Text 6"/>
          <p:cNvSpPr txBox="1"/>
          <p:nvPr/>
        </p:nvSpPr>
        <p:spPr>
          <a:xfrm>
            <a:off x="5907024" y="1463040"/>
            <a:ext cx="268833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Operational</a:t>
            </a:r>
            <a:endParaRPr lang="en-US" sz="2400" dirty="0"/>
          </a:p>
        </p:txBody>
      </p:sp>
      <p:sp>
        <p:nvSpPr>
          <p:cNvPr id="9" name="Shape 7"/>
          <p:cNvSpPr/>
          <p:nvPr/>
        </p:nvSpPr>
        <p:spPr>
          <a:xfrm>
            <a:off x="8732520" y="1463040"/>
            <a:ext cx="2852928" cy="521208"/>
          </a:xfrm>
          <a:prstGeom prst="roundRect">
            <a:avLst>
              <a:gd name="adj" fmla="val 17544"/>
            </a:avLst>
          </a:prstGeom>
          <a:solidFill>
            <a:srgbClr val="1A5C2C"/>
          </a:solidFill>
          <a:ln w="12700">
            <a:solidFill>
              <a:srgbClr val="1A5C2C"/>
            </a:solidFill>
            <a:prstDash val="solid"/>
          </a:ln>
        </p:spPr>
      </p:sp>
      <p:sp>
        <p:nvSpPr>
          <p:cNvPr id="10" name="Text 8"/>
          <p:cNvSpPr txBox="1"/>
          <p:nvPr/>
        </p:nvSpPr>
        <p:spPr>
          <a:xfrm>
            <a:off x="8814816" y="1463040"/>
            <a:ext cx="268833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Behavioural</a:t>
            </a:r>
            <a:endParaRPr lang="en-US" sz="2400" dirty="0"/>
          </a:p>
        </p:txBody>
      </p:sp>
      <p:sp>
        <p:nvSpPr>
          <p:cNvPr id="11" name="Shape 9"/>
          <p:cNvSpPr/>
          <p:nvPr/>
        </p:nvSpPr>
        <p:spPr>
          <a:xfrm>
            <a:off x="548640" y="2039112"/>
            <a:ext cx="2322576" cy="877824"/>
          </a:xfrm>
          <a:prstGeom prst="roundRect">
            <a:avLst>
              <a:gd name="adj" fmla="val 10417"/>
            </a:avLst>
          </a:prstGeom>
          <a:solidFill>
            <a:srgbClr val="E6D3A0"/>
          </a:solidFill>
          <a:ln w="12700">
            <a:solidFill>
              <a:srgbClr val="E6D3A0"/>
            </a:solidFill>
            <a:prstDash val="solid"/>
          </a:ln>
        </p:spPr>
      </p:sp>
      <p:sp>
        <p:nvSpPr>
          <p:cNvPr id="12" name="Text 10"/>
          <p:cNvSpPr txBox="1"/>
          <p:nvPr/>
        </p:nvSpPr>
        <p:spPr>
          <a:xfrm>
            <a:off x="630936" y="2039112"/>
            <a:ext cx="215798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Alert raised</a:t>
            </a:r>
            <a:endParaRPr lang="en-US" sz="2400" dirty="0"/>
          </a:p>
        </p:txBody>
      </p:sp>
      <p:sp>
        <p:nvSpPr>
          <p:cNvPr id="13" name="Shape 11"/>
          <p:cNvSpPr/>
          <p:nvPr/>
        </p:nvSpPr>
        <p:spPr>
          <a:xfrm>
            <a:off x="2926080" y="2039112"/>
            <a:ext cx="2843784"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3008376" y="2039112"/>
            <a:ext cx="2679192"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Yes · six points below</a:t>
            </a:r>
            <a:endParaRPr lang="en-US" sz="2400" dirty="0"/>
          </a:p>
        </p:txBody>
      </p:sp>
      <p:sp>
        <p:nvSpPr>
          <p:cNvPr id="15" name="Shape 13"/>
          <p:cNvSpPr/>
          <p:nvPr/>
        </p:nvSpPr>
        <p:spPr>
          <a:xfrm>
            <a:off x="5824728" y="2039112"/>
            <a:ext cx="2852928" cy="877824"/>
          </a:xfrm>
          <a:prstGeom prst="roundRect">
            <a:avLst>
              <a:gd name="adj" fmla="val 10417"/>
            </a:avLst>
          </a:prstGeom>
          <a:solidFill>
            <a:srgbClr val="EEF4EF"/>
          </a:solidFill>
          <a:ln w="12700">
            <a:solidFill>
              <a:srgbClr val="EEF4EF"/>
            </a:solidFill>
            <a:prstDash val="solid"/>
          </a:ln>
        </p:spPr>
      </p:sp>
      <p:sp>
        <p:nvSpPr>
          <p:cNvPr id="16" name="Text 14"/>
          <p:cNvSpPr txBox="1"/>
          <p:nvPr/>
        </p:nvSpPr>
        <p:spPr>
          <a:xfrm>
            <a:off x="5907024" y="2039112"/>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Yes · Flow at 2.0</a:t>
            </a:r>
            <a:endParaRPr lang="en-US" sz="2400" dirty="0"/>
          </a:p>
        </p:txBody>
      </p:sp>
      <p:sp>
        <p:nvSpPr>
          <p:cNvPr id="17" name="Shape 15"/>
          <p:cNvSpPr/>
          <p:nvPr/>
        </p:nvSpPr>
        <p:spPr>
          <a:xfrm>
            <a:off x="8732520" y="2039112"/>
            <a:ext cx="2852928"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8814816" y="2039112"/>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Yes · Caution Zone</a:t>
            </a:r>
            <a:endParaRPr lang="en-US" sz="2400" dirty="0"/>
          </a:p>
        </p:txBody>
      </p:sp>
      <p:sp>
        <p:nvSpPr>
          <p:cNvPr id="19" name="Shape 17"/>
          <p:cNvSpPr/>
          <p:nvPr/>
        </p:nvSpPr>
        <p:spPr>
          <a:xfrm>
            <a:off x="548640" y="2971800"/>
            <a:ext cx="2322576" cy="1947672"/>
          </a:xfrm>
          <a:prstGeom prst="roundRect">
            <a:avLst>
              <a:gd name="adj" fmla="val 4695"/>
            </a:avLst>
          </a:prstGeom>
          <a:solidFill>
            <a:srgbClr val="E6D3A0"/>
          </a:solidFill>
          <a:ln w="12700">
            <a:solidFill>
              <a:srgbClr val="E6D3A0"/>
            </a:solidFill>
            <a:prstDash val="solid"/>
          </a:ln>
        </p:spPr>
      </p:sp>
      <p:sp>
        <p:nvSpPr>
          <p:cNvPr id="20" name="Text 18"/>
          <p:cNvSpPr txBox="1"/>
          <p:nvPr/>
        </p:nvSpPr>
        <p:spPr>
          <a:xfrm>
            <a:off x="630936" y="2971800"/>
            <a:ext cx="2157984" cy="1947672"/>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R · Recovery</a:t>
            </a:r>
            <a:endParaRPr lang="en-US" sz="2400" dirty="0"/>
          </a:p>
        </p:txBody>
      </p:sp>
      <p:sp>
        <p:nvSpPr>
          <p:cNvPr id="21" name="Shape 19"/>
          <p:cNvSpPr/>
          <p:nvPr/>
        </p:nvSpPr>
        <p:spPr>
          <a:xfrm>
            <a:off x="2926080" y="2971800"/>
            <a:ext cx="2843784" cy="1947672"/>
          </a:xfrm>
          <a:prstGeom prst="roundRect">
            <a:avLst>
              <a:gd name="adj" fmla="val 4695"/>
            </a:avLst>
          </a:prstGeom>
          <a:solidFill>
            <a:srgbClr val="EEF4EF"/>
          </a:solidFill>
          <a:ln w="12700">
            <a:solidFill>
              <a:srgbClr val="EEF4EF"/>
            </a:solidFill>
            <a:prstDash val="solid"/>
          </a:ln>
        </p:spPr>
      </p:sp>
      <p:sp>
        <p:nvSpPr>
          <p:cNvPr id="22" name="Text 20"/>
          <p:cNvSpPr txBox="1"/>
          <p:nvPr/>
        </p:nvSpPr>
        <p:spPr>
          <a:xfrm>
            <a:off x="3008376" y="2971800"/>
            <a:ext cx="2679192" cy="1947672"/>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Team leaders review open enquiries with each owner every morning</a:t>
            </a:r>
            <a:endParaRPr lang="en-US" sz="2400" dirty="0"/>
          </a:p>
        </p:txBody>
      </p:sp>
      <p:sp>
        <p:nvSpPr>
          <p:cNvPr id="23" name="Shape 21"/>
          <p:cNvSpPr/>
          <p:nvPr/>
        </p:nvSpPr>
        <p:spPr>
          <a:xfrm>
            <a:off x="5824728" y="2971800"/>
            <a:ext cx="2852928" cy="1947672"/>
          </a:xfrm>
          <a:prstGeom prst="roundRect">
            <a:avLst>
              <a:gd name="adj" fmla="val 4695"/>
            </a:avLst>
          </a:prstGeom>
          <a:solidFill>
            <a:srgbClr val="EEF4EF"/>
          </a:solidFill>
          <a:ln w="12700">
            <a:solidFill>
              <a:srgbClr val="EEF4EF"/>
            </a:solidFill>
            <a:prstDash val="solid"/>
          </a:ln>
        </p:spPr>
      </p:sp>
      <p:sp>
        <p:nvSpPr>
          <p:cNvPr id="24" name="Text 22"/>
          <p:cNvSpPr txBox="1"/>
          <p:nvPr/>
        </p:nvSpPr>
        <p:spPr>
          <a:xfrm>
            <a:off x="5907024" y="2971800"/>
            <a:ext cx="2688336" cy="1947672"/>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IT restores system availability; Customer Service and Operations examine Flow</a:t>
            </a:r>
            <a:endParaRPr lang="en-US" sz="2400" dirty="0"/>
          </a:p>
        </p:txBody>
      </p:sp>
      <p:sp>
        <p:nvSpPr>
          <p:cNvPr id="25" name="Shape 23"/>
          <p:cNvSpPr/>
          <p:nvPr/>
        </p:nvSpPr>
        <p:spPr>
          <a:xfrm>
            <a:off x="8732520" y="2971800"/>
            <a:ext cx="2852928" cy="1947672"/>
          </a:xfrm>
          <a:prstGeom prst="roundRect">
            <a:avLst>
              <a:gd name="adj" fmla="val 4695"/>
            </a:avLst>
          </a:prstGeom>
          <a:solidFill>
            <a:srgbClr val="EEF4EF"/>
          </a:solidFill>
          <a:ln w="12700">
            <a:solidFill>
              <a:srgbClr val="EEF4EF"/>
            </a:solidFill>
            <a:prstDash val="solid"/>
          </a:ln>
        </p:spPr>
      </p:sp>
      <p:sp>
        <p:nvSpPr>
          <p:cNvPr id="26" name="Text 24"/>
          <p:cNvSpPr txBox="1"/>
          <p:nvPr/>
        </p:nvSpPr>
        <p:spPr>
          <a:xfrm>
            <a:off x="8814816" y="2971800"/>
            <a:ext cx="2688336" cy="1947672"/>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The COO strengthens collaboration, trust and commitment</a:t>
            </a:r>
            <a:endParaRPr lang="en-US" sz="2400" dirty="0"/>
          </a:p>
        </p:txBody>
      </p:sp>
      <p:sp>
        <p:nvSpPr>
          <p:cNvPr id="27" name="Shape 25"/>
          <p:cNvSpPr/>
          <p:nvPr/>
        </p:nvSpPr>
        <p:spPr>
          <a:xfrm>
            <a:off x="548640" y="4974336"/>
            <a:ext cx="2322576" cy="877824"/>
          </a:xfrm>
          <a:prstGeom prst="roundRect">
            <a:avLst>
              <a:gd name="adj" fmla="val 10417"/>
            </a:avLst>
          </a:prstGeom>
          <a:solidFill>
            <a:srgbClr val="E6D3A0"/>
          </a:solidFill>
          <a:ln w="12700">
            <a:solidFill>
              <a:srgbClr val="E6D3A0"/>
            </a:solidFill>
            <a:prstDash val="solid"/>
          </a:ln>
        </p:spPr>
      </p:sp>
      <p:sp>
        <p:nvSpPr>
          <p:cNvPr id="28" name="Text 26"/>
          <p:cNvSpPr txBox="1"/>
          <p:nvPr/>
        </p:nvSpPr>
        <p:spPr>
          <a:xfrm>
            <a:off x="630936" y="4974336"/>
            <a:ext cx="215798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D · Decider checks</a:t>
            </a:r>
            <a:endParaRPr lang="en-US" sz="2400" dirty="0"/>
          </a:p>
        </p:txBody>
      </p:sp>
      <p:sp>
        <p:nvSpPr>
          <p:cNvPr id="29" name="Shape 27"/>
          <p:cNvSpPr/>
          <p:nvPr/>
        </p:nvSpPr>
        <p:spPr>
          <a:xfrm>
            <a:off x="2926080" y="4974336"/>
            <a:ext cx="2843784" cy="877824"/>
          </a:xfrm>
          <a:prstGeom prst="roundRect">
            <a:avLst>
              <a:gd name="adj" fmla="val 10417"/>
            </a:avLst>
          </a:prstGeom>
          <a:solidFill>
            <a:srgbClr val="EEF4EF"/>
          </a:solidFill>
          <a:ln w="12700">
            <a:solidFill>
              <a:srgbClr val="EEF4EF"/>
            </a:solidFill>
            <a:prstDash val="solid"/>
          </a:ln>
        </p:spPr>
      </p:sp>
      <p:sp>
        <p:nvSpPr>
          <p:cNvPr id="30" name="Text 28"/>
          <p:cNvSpPr txBox="1"/>
          <p:nvPr/>
        </p:nvSpPr>
        <p:spPr>
          <a:xfrm>
            <a:off x="3008376" y="4974336"/>
            <a:ext cx="2679192"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End of July</a:t>
            </a:r>
            <a:endParaRPr lang="en-US" sz="2400" dirty="0"/>
          </a:p>
        </p:txBody>
      </p:sp>
      <p:sp>
        <p:nvSpPr>
          <p:cNvPr id="31" name="Shape 29"/>
          <p:cNvSpPr/>
          <p:nvPr/>
        </p:nvSpPr>
        <p:spPr>
          <a:xfrm>
            <a:off x="5824728" y="4974336"/>
            <a:ext cx="2852928" cy="877824"/>
          </a:xfrm>
          <a:prstGeom prst="roundRect">
            <a:avLst>
              <a:gd name="adj" fmla="val 10417"/>
            </a:avLst>
          </a:prstGeom>
          <a:solidFill>
            <a:srgbClr val="EEF4EF"/>
          </a:solidFill>
          <a:ln w="12700">
            <a:solidFill>
              <a:srgbClr val="EEF4EF"/>
            </a:solidFill>
            <a:prstDash val="solid"/>
          </a:ln>
        </p:spPr>
      </p:sp>
      <p:sp>
        <p:nvSpPr>
          <p:cNvPr id="32" name="Text 30"/>
          <p:cNvSpPr txBox="1"/>
          <p:nvPr/>
        </p:nvSpPr>
        <p:spPr>
          <a:xfrm>
            <a:off x="5907024" y="4974336"/>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End of July</a:t>
            </a:r>
            <a:endParaRPr lang="en-US" sz="2400" dirty="0"/>
          </a:p>
        </p:txBody>
      </p:sp>
      <p:sp>
        <p:nvSpPr>
          <p:cNvPr id="33" name="Shape 31"/>
          <p:cNvSpPr/>
          <p:nvPr/>
        </p:nvSpPr>
        <p:spPr>
          <a:xfrm>
            <a:off x="8732520" y="4974336"/>
            <a:ext cx="2852928" cy="877824"/>
          </a:xfrm>
          <a:prstGeom prst="roundRect">
            <a:avLst>
              <a:gd name="adj" fmla="val 10417"/>
            </a:avLst>
          </a:prstGeom>
          <a:solidFill>
            <a:srgbClr val="EEF4EF"/>
          </a:solidFill>
          <a:ln w="12700">
            <a:solidFill>
              <a:srgbClr val="EEF4EF"/>
            </a:solidFill>
            <a:prstDash val="solid"/>
          </a:ln>
        </p:spPr>
      </p:sp>
      <p:sp>
        <p:nvSpPr>
          <p:cNvPr id="34" name="Text 32"/>
          <p:cNvSpPr txBox="1"/>
          <p:nvPr/>
        </p:nvSpPr>
        <p:spPr>
          <a:xfrm>
            <a:off x="8814816" y="4974336"/>
            <a:ext cx="268833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Quarter 3 thermometer</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4.2c · KISS for Quarter 3: Keep and Improve</a:t>
            </a:r>
            <a:endParaRPr lang="en-US" sz="3600" dirty="0"/>
          </a:p>
        </p:txBody>
      </p:sp>
      <p:sp>
        <p:nvSpPr>
          <p:cNvPr id="3" name="Shape 1"/>
          <p:cNvSpPr/>
          <p:nvPr/>
        </p:nvSpPr>
        <p:spPr>
          <a:xfrm>
            <a:off x="548640" y="1463040"/>
            <a:ext cx="1682496" cy="521208"/>
          </a:xfrm>
          <a:prstGeom prst="roundRect">
            <a:avLst>
              <a:gd name="adj" fmla="val 17544"/>
            </a:avLst>
          </a:prstGeom>
          <a:solidFill>
            <a:srgbClr val="1A5C2C"/>
          </a:solidFill>
          <a:ln w="12700">
            <a:solidFill>
              <a:srgbClr val="1A5C2C"/>
            </a:solidFill>
            <a:prstDash val="solid"/>
          </a:ln>
        </p:spPr>
      </p:sp>
      <p:sp>
        <p:nvSpPr>
          <p:cNvPr id="4" name="Text 2"/>
          <p:cNvSpPr txBox="1"/>
          <p:nvPr/>
        </p:nvSpPr>
        <p:spPr>
          <a:xfrm>
            <a:off x="630936" y="1463040"/>
            <a:ext cx="151790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Decision</a:t>
            </a:r>
            <a:endParaRPr lang="en-US" sz="2400" dirty="0"/>
          </a:p>
        </p:txBody>
      </p:sp>
      <p:sp>
        <p:nvSpPr>
          <p:cNvPr id="5" name="Shape 3"/>
          <p:cNvSpPr/>
          <p:nvPr/>
        </p:nvSpPr>
        <p:spPr>
          <a:xfrm>
            <a:off x="2286000" y="1463040"/>
            <a:ext cx="4974336" cy="521208"/>
          </a:xfrm>
          <a:prstGeom prst="roundRect">
            <a:avLst>
              <a:gd name="adj" fmla="val 17544"/>
            </a:avLst>
          </a:prstGeom>
          <a:solidFill>
            <a:srgbClr val="1A5C2C"/>
          </a:solidFill>
          <a:ln w="12700">
            <a:solidFill>
              <a:srgbClr val="1A5C2C"/>
            </a:solidFill>
            <a:prstDash val="solid"/>
          </a:ln>
        </p:spPr>
      </p:sp>
      <p:sp>
        <p:nvSpPr>
          <p:cNvPr id="6" name="Text 4"/>
          <p:cNvSpPr txBox="1"/>
          <p:nvPr/>
        </p:nvSpPr>
        <p:spPr>
          <a:xfrm>
            <a:off x="2368296" y="1463040"/>
            <a:ext cx="480974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Practice</a:t>
            </a:r>
            <a:endParaRPr lang="en-US" sz="2400" dirty="0"/>
          </a:p>
        </p:txBody>
      </p:sp>
      <p:sp>
        <p:nvSpPr>
          <p:cNvPr id="7" name="Shape 5"/>
          <p:cNvSpPr/>
          <p:nvPr/>
        </p:nvSpPr>
        <p:spPr>
          <a:xfrm>
            <a:off x="7315200" y="1463040"/>
            <a:ext cx="1865376" cy="521208"/>
          </a:xfrm>
          <a:prstGeom prst="roundRect">
            <a:avLst>
              <a:gd name="adj" fmla="val 17544"/>
            </a:avLst>
          </a:prstGeom>
          <a:solidFill>
            <a:srgbClr val="1A5C2C"/>
          </a:solidFill>
          <a:ln w="12700">
            <a:solidFill>
              <a:srgbClr val="1A5C2C"/>
            </a:solidFill>
            <a:prstDash val="solid"/>
          </a:ln>
        </p:spPr>
      </p:sp>
      <p:sp>
        <p:nvSpPr>
          <p:cNvPr id="8" name="Text 6"/>
          <p:cNvSpPr txBox="1"/>
          <p:nvPr/>
        </p:nvSpPr>
        <p:spPr>
          <a:xfrm>
            <a:off x="7397496" y="1463040"/>
            <a:ext cx="170078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Line</a:t>
            </a:r>
            <a:endParaRPr lang="en-US" sz="2400" dirty="0"/>
          </a:p>
        </p:txBody>
      </p:sp>
      <p:sp>
        <p:nvSpPr>
          <p:cNvPr id="9" name="Shape 7"/>
          <p:cNvSpPr/>
          <p:nvPr/>
        </p:nvSpPr>
        <p:spPr>
          <a:xfrm>
            <a:off x="9235440" y="1463040"/>
            <a:ext cx="2350008" cy="521208"/>
          </a:xfrm>
          <a:prstGeom prst="roundRect">
            <a:avLst>
              <a:gd name="adj" fmla="val 17544"/>
            </a:avLst>
          </a:prstGeom>
          <a:solidFill>
            <a:srgbClr val="1A5C2C"/>
          </a:solidFill>
          <a:ln w="12700">
            <a:solidFill>
              <a:srgbClr val="1A5C2C"/>
            </a:solidFill>
            <a:prstDash val="solid"/>
          </a:ln>
        </p:spPr>
      </p:sp>
      <p:sp>
        <p:nvSpPr>
          <p:cNvPr id="10" name="Text 8"/>
          <p:cNvSpPr txBox="1"/>
          <p:nvPr/>
        </p:nvSpPr>
        <p:spPr>
          <a:xfrm>
            <a:off x="9317736" y="1463040"/>
            <a:ext cx="218541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Owner</a:t>
            </a:r>
            <a:endParaRPr lang="en-US" sz="2400" dirty="0"/>
          </a:p>
        </p:txBody>
      </p:sp>
      <p:sp>
        <p:nvSpPr>
          <p:cNvPr id="11" name="Shape 9"/>
          <p:cNvSpPr/>
          <p:nvPr/>
        </p:nvSpPr>
        <p:spPr>
          <a:xfrm>
            <a:off x="548640" y="2039112"/>
            <a:ext cx="1682496" cy="877824"/>
          </a:xfrm>
          <a:prstGeom prst="roundRect">
            <a:avLst>
              <a:gd name="adj" fmla="val 10417"/>
            </a:avLst>
          </a:prstGeom>
          <a:solidFill>
            <a:srgbClr val="E6D3A0"/>
          </a:solidFill>
          <a:ln w="12700">
            <a:solidFill>
              <a:srgbClr val="E6D3A0"/>
            </a:solidFill>
            <a:prstDash val="solid"/>
          </a:ln>
        </p:spPr>
      </p:sp>
      <p:sp>
        <p:nvSpPr>
          <p:cNvPr id="12" name="Text 10"/>
          <p:cNvSpPr txBox="1"/>
          <p:nvPr/>
        </p:nvSpPr>
        <p:spPr>
          <a:xfrm>
            <a:off x="630936" y="2039112"/>
            <a:ext cx="151790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Keep</a:t>
            </a:r>
            <a:endParaRPr lang="en-US" sz="2400" dirty="0"/>
          </a:p>
        </p:txBody>
      </p:sp>
      <p:sp>
        <p:nvSpPr>
          <p:cNvPr id="13" name="Shape 11"/>
          <p:cNvSpPr/>
          <p:nvPr/>
        </p:nvSpPr>
        <p:spPr>
          <a:xfrm>
            <a:off x="2286000" y="2039112"/>
            <a:ext cx="4974336"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2368296" y="2039112"/>
            <a:ext cx="480974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Morning review of open enquiries with each owner</a:t>
            </a:r>
            <a:endParaRPr lang="en-US" sz="2400" dirty="0"/>
          </a:p>
        </p:txBody>
      </p:sp>
      <p:sp>
        <p:nvSpPr>
          <p:cNvPr id="15" name="Shape 13"/>
          <p:cNvSpPr/>
          <p:nvPr/>
        </p:nvSpPr>
        <p:spPr>
          <a:xfrm>
            <a:off x="7315200" y="2039112"/>
            <a:ext cx="1865376" cy="877824"/>
          </a:xfrm>
          <a:prstGeom prst="roundRect">
            <a:avLst>
              <a:gd name="adj" fmla="val 10417"/>
            </a:avLst>
          </a:prstGeom>
          <a:solidFill>
            <a:srgbClr val="EEF4EF"/>
          </a:solidFill>
          <a:ln w="12700">
            <a:solidFill>
              <a:srgbClr val="EEF4EF"/>
            </a:solidFill>
            <a:prstDash val="solid"/>
          </a:ln>
        </p:spPr>
      </p:sp>
      <p:sp>
        <p:nvSpPr>
          <p:cNvPr id="16" name="Text 14"/>
          <p:cNvSpPr txBox="1"/>
          <p:nvPr/>
        </p:nvSpPr>
        <p:spPr>
          <a:xfrm>
            <a:off x="7397496" y="2039112"/>
            <a:ext cx="17007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Behavioural</a:t>
            </a:r>
            <a:endParaRPr lang="en-US" sz="2400" dirty="0"/>
          </a:p>
        </p:txBody>
      </p:sp>
      <p:sp>
        <p:nvSpPr>
          <p:cNvPr id="17" name="Shape 15"/>
          <p:cNvSpPr/>
          <p:nvPr/>
        </p:nvSpPr>
        <p:spPr>
          <a:xfrm>
            <a:off x="9235440" y="2039112"/>
            <a:ext cx="2350008"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9317736" y="2039112"/>
            <a:ext cx="218541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Team leaders</a:t>
            </a:r>
            <a:endParaRPr lang="en-US" sz="2400" dirty="0"/>
          </a:p>
        </p:txBody>
      </p:sp>
      <p:sp>
        <p:nvSpPr>
          <p:cNvPr id="19" name="Shape 17"/>
          <p:cNvSpPr/>
          <p:nvPr/>
        </p:nvSpPr>
        <p:spPr>
          <a:xfrm>
            <a:off x="548640" y="2971800"/>
            <a:ext cx="1682496" cy="877824"/>
          </a:xfrm>
          <a:prstGeom prst="roundRect">
            <a:avLst>
              <a:gd name="adj" fmla="val 10417"/>
            </a:avLst>
          </a:prstGeom>
          <a:solidFill>
            <a:srgbClr val="E6D3A0"/>
          </a:solidFill>
          <a:ln w="12700">
            <a:solidFill>
              <a:srgbClr val="E6D3A0"/>
            </a:solidFill>
            <a:prstDash val="solid"/>
          </a:ln>
        </p:spPr>
      </p:sp>
      <p:sp>
        <p:nvSpPr>
          <p:cNvPr id="20" name="Text 18"/>
          <p:cNvSpPr txBox="1"/>
          <p:nvPr/>
        </p:nvSpPr>
        <p:spPr>
          <a:xfrm>
            <a:off x="630936" y="2971800"/>
            <a:ext cx="151790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Keep</a:t>
            </a:r>
            <a:endParaRPr lang="en-US" sz="2400" dirty="0"/>
          </a:p>
        </p:txBody>
      </p:sp>
      <p:sp>
        <p:nvSpPr>
          <p:cNvPr id="21" name="Shape 19"/>
          <p:cNvSpPr/>
          <p:nvPr/>
        </p:nvSpPr>
        <p:spPr>
          <a:xfrm>
            <a:off x="2286000" y="2971800"/>
            <a:ext cx="4974336" cy="877824"/>
          </a:xfrm>
          <a:prstGeom prst="roundRect">
            <a:avLst>
              <a:gd name="adj" fmla="val 10417"/>
            </a:avLst>
          </a:prstGeom>
          <a:solidFill>
            <a:srgbClr val="EEF4EF"/>
          </a:solidFill>
          <a:ln w="12700">
            <a:solidFill>
              <a:srgbClr val="EEF4EF"/>
            </a:solidFill>
            <a:prstDash val="solid"/>
          </a:ln>
        </p:spPr>
      </p:sp>
      <p:sp>
        <p:nvSpPr>
          <p:cNvPr id="22" name="Text 20"/>
          <p:cNvSpPr txBox="1"/>
          <p:nvPr/>
        </p:nvSpPr>
        <p:spPr>
          <a:xfrm>
            <a:off x="2368296" y="2971800"/>
            <a:ext cx="480974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Conditions behind Readiness (4.3) and Capacity (4.0)</a:t>
            </a:r>
            <a:endParaRPr lang="en-US" sz="2400" dirty="0"/>
          </a:p>
        </p:txBody>
      </p:sp>
      <p:sp>
        <p:nvSpPr>
          <p:cNvPr id="23" name="Shape 21"/>
          <p:cNvSpPr/>
          <p:nvPr/>
        </p:nvSpPr>
        <p:spPr>
          <a:xfrm>
            <a:off x="7315200" y="2971800"/>
            <a:ext cx="1865376" cy="877824"/>
          </a:xfrm>
          <a:prstGeom prst="roundRect">
            <a:avLst>
              <a:gd name="adj" fmla="val 10417"/>
            </a:avLst>
          </a:prstGeom>
          <a:solidFill>
            <a:srgbClr val="EEF4EF"/>
          </a:solidFill>
          <a:ln w="12700">
            <a:solidFill>
              <a:srgbClr val="EEF4EF"/>
            </a:solidFill>
            <a:prstDash val="solid"/>
          </a:ln>
        </p:spPr>
      </p:sp>
      <p:sp>
        <p:nvSpPr>
          <p:cNvPr id="24" name="Text 22"/>
          <p:cNvSpPr txBox="1"/>
          <p:nvPr/>
        </p:nvSpPr>
        <p:spPr>
          <a:xfrm>
            <a:off x="7397496" y="2971800"/>
            <a:ext cx="17007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Operational</a:t>
            </a:r>
            <a:endParaRPr lang="en-US" sz="2400" dirty="0"/>
          </a:p>
        </p:txBody>
      </p:sp>
      <p:sp>
        <p:nvSpPr>
          <p:cNvPr id="25" name="Shape 23"/>
          <p:cNvSpPr/>
          <p:nvPr/>
        </p:nvSpPr>
        <p:spPr>
          <a:xfrm>
            <a:off x="9235440" y="2971800"/>
            <a:ext cx="2350008" cy="877824"/>
          </a:xfrm>
          <a:prstGeom prst="roundRect">
            <a:avLst>
              <a:gd name="adj" fmla="val 10417"/>
            </a:avLst>
          </a:prstGeom>
          <a:solidFill>
            <a:srgbClr val="EEF4EF"/>
          </a:solidFill>
          <a:ln w="12700">
            <a:solidFill>
              <a:srgbClr val="EEF4EF"/>
            </a:solidFill>
            <a:prstDash val="solid"/>
          </a:ln>
        </p:spPr>
      </p:sp>
      <p:sp>
        <p:nvSpPr>
          <p:cNvPr id="26" name="Text 24"/>
          <p:cNvSpPr txBox="1"/>
          <p:nvPr/>
        </p:nvSpPr>
        <p:spPr>
          <a:xfrm>
            <a:off x="9317736" y="2971800"/>
            <a:ext cx="218541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IT and Operations</a:t>
            </a:r>
            <a:endParaRPr lang="en-US" sz="2400" dirty="0"/>
          </a:p>
        </p:txBody>
      </p:sp>
      <p:sp>
        <p:nvSpPr>
          <p:cNvPr id="27" name="Shape 25"/>
          <p:cNvSpPr/>
          <p:nvPr/>
        </p:nvSpPr>
        <p:spPr>
          <a:xfrm>
            <a:off x="548640" y="3904488"/>
            <a:ext cx="1682496" cy="1234440"/>
          </a:xfrm>
          <a:prstGeom prst="roundRect">
            <a:avLst>
              <a:gd name="adj" fmla="val 7407"/>
            </a:avLst>
          </a:prstGeom>
          <a:solidFill>
            <a:srgbClr val="E6D3A0"/>
          </a:solidFill>
          <a:ln w="12700">
            <a:solidFill>
              <a:srgbClr val="E6D3A0"/>
            </a:solidFill>
            <a:prstDash val="solid"/>
          </a:ln>
        </p:spPr>
      </p:sp>
      <p:sp>
        <p:nvSpPr>
          <p:cNvPr id="28" name="Text 26"/>
          <p:cNvSpPr txBox="1"/>
          <p:nvPr/>
        </p:nvSpPr>
        <p:spPr>
          <a:xfrm>
            <a:off x="630936" y="3904488"/>
            <a:ext cx="1517904" cy="1234440"/>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Improve</a:t>
            </a:r>
            <a:endParaRPr lang="en-US" sz="2400" dirty="0"/>
          </a:p>
        </p:txBody>
      </p:sp>
      <p:sp>
        <p:nvSpPr>
          <p:cNvPr id="29" name="Shape 27"/>
          <p:cNvSpPr/>
          <p:nvPr/>
        </p:nvSpPr>
        <p:spPr>
          <a:xfrm>
            <a:off x="2286000" y="3904488"/>
            <a:ext cx="4974336" cy="1234440"/>
          </a:xfrm>
          <a:prstGeom prst="roundRect">
            <a:avLst>
              <a:gd name="adj" fmla="val 7407"/>
            </a:avLst>
          </a:prstGeom>
          <a:solidFill>
            <a:srgbClr val="EEF4EF"/>
          </a:solidFill>
          <a:ln w="12700">
            <a:solidFill>
              <a:srgbClr val="EEF4EF"/>
            </a:solidFill>
            <a:prstDash val="solid"/>
          </a:ln>
        </p:spPr>
      </p:sp>
      <p:sp>
        <p:nvSpPr>
          <p:cNvPr id="30" name="Text 28"/>
          <p:cNvSpPr txBox="1"/>
          <p:nvPr/>
        </p:nvSpPr>
        <p:spPr>
          <a:xfrm>
            <a:off x="2368296" y="3904488"/>
            <a:ext cx="4809744" cy="123444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Cross-functional handoffs: 40% of delays need another department</a:t>
            </a:r>
            <a:endParaRPr lang="en-US" sz="2400" dirty="0"/>
          </a:p>
        </p:txBody>
      </p:sp>
      <p:sp>
        <p:nvSpPr>
          <p:cNvPr id="31" name="Shape 29"/>
          <p:cNvSpPr/>
          <p:nvPr/>
        </p:nvSpPr>
        <p:spPr>
          <a:xfrm>
            <a:off x="7315200" y="3904488"/>
            <a:ext cx="1865376" cy="1234440"/>
          </a:xfrm>
          <a:prstGeom prst="roundRect">
            <a:avLst>
              <a:gd name="adj" fmla="val 7407"/>
            </a:avLst>
          </a:prstGeom>
          <a:solidFill>
            <a:srgbClr val="EEF4EF"/>
          </a:solidFill>
          <a:ln w="12700">
            <a:solidFill>
              <a:srgbClr val="EEF4EF"/>
            </a:solidFill>
            <a:prstDash val="solid"/>
          </a:ln>
        </p:spPr>
      </p:sp>
      <p:sp>
        <p:nvSpPr>
          <p:cNvPr id="32" name="Text 30"/>
          <p:cNvSpPr txBox="1"/>
          <p:nvPr/>
        </p:nvSpPr>
        <p:spPr>
          <a:xfrm>
            <a:off x="7397496" y="3904488"/>
            <a:ext cx="1700784" cy="123444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Operational</a:t>
            </a:r>
            <a:endParaRPr lang="en-US" sz="2400" dirty="0"/>
          </a:p>
        </p:txBody>
      </p:sp>
      <p:sp>
        <p:nvSpPr>
          <p:cNvPr id="33" name="Shape 31"/>
          <p:cNvSpPr/>
          <p:nvPr/>
        </p:nvSpPr>
        <p:spPr>
          <a:xfrm>
            <a:off x="9235440" y="3904488"/>
            <a:ext cx="2350008" cy="1234440"/>
          </a:xfrm>
          <a:prstGeom prst="roundRect">
            <a:avLst>
              <a:gd name="adj" fmla="val 7407"/>
            </a:avLst>
          </a:prstGeom>
          <a:solidFill>
            <a:srgbClr val="EEF4EF"/>
          </a:solidFill>
          <a:ln w="12700">
            <a:solidFill>
              <a:srgbClr val="EEF4EF"/>
            </a:solidFill>
            <a:prstDash val="solid"/>
          </a:ln>
        </p:spPr>
      </p:sp>
      <p:sp>
        <p:nvSpPr>
          <p:cNvPr id="34" name="Text 32"/>
          <p:cNvSpPr txBox="1"/>
          <p:nvPr/>
        </p:nvSpPr>
        <p:spPr>
          <a:xfrm>
            <a:off x="9317736" y="3904488"/>
            <a:ext cx="2185416" cy="123444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Customer Service with Operations</a:t>
            </a:r>
            <a:endParaRPr lang="en-US" sz="2400" dirty="0"/>
          </a:p>
        </p:txBody>
      </p:sp>
      <p:sp>
        <p:nvSpPr>
          <p:cNvPr id="35" name="Shape 33"/>
          <p:cNvSpPr/>
          <p:nvPr/>
        </p:nvSpPr>
        <p:spPr>
          <a:xfrm>
            <a:off x="548640" y="5193792"/>
            <a:ext cx="1682496" cy="877824"/>
          </a:xfrm>
          <a:prstGeom prst="roundRect">
            <a:avLst>
              <a:gd name="adj" fmla="val 10417"/>
            </a:avLst>
          </a:prstGeom>
          <a:solidFill>
            <a:srgbClr val="E6D3A0"/>
          </a:solidFill>
          <a:ln w="12700">
            <a:solidFill>
              <a:srgbClr val="E6D3A0"/>
            </a:solidFill>
            <a:prstDash val="solid"/>
          </a:ln>
        </p:spPr>
      </p:sp>
      <p:sp>
        <p:nvSpPr>
          <p:cNvPr id="36" name="Text 34"/>
          <p:cNvSpPr txBox="1"/>
          <p:nvPr/>
        </p:nvSpPr>
        <p:spPr>
          <a:xfrm>
            <a:off x="630936" y="5193792"/>
            <a:ext cx="151790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Improve</a:t>
            </a:r>
            <a:endParaRPr lang="en-US" sz="2400" dirty="0"/>
          </a:p>
        </p:txBody>
      </p:sp>
      <p:sp>
        <p:nvSpPr>
          <p:cNvPr id="37" name="Shape 35"/>
          <p:cNvSpPr/>
          <p:nvPr/>
        </p:nvSpPr>
        <p:spPr>
          <a:xfrm>
            <a:off x="2286000" y="5193792"/>
            <a:ext cx="4974336" cy="877824"/>
          </a:xfrm>
          <a:prstGeom prst="roundRect">
            <a:avLst>
              <a:gd name="adj" fmla="val 10417"/>
            </a:avLst>
          </a:prstGeom>
          <a:solidFill>
            <a:srgbClr val="EEF4EF"/>
          </a:solidFill>
          <a:ln w="12700">
            <a:solidFill>
              <a:srgbClr val="EEF4EF"/>
            </a:solidFill>
            <a:prstDash val="solid"/>
          </a:ln>
        </p:spPr>
      </p:sp>
      <p:sp>
        <p:nvSpPr>
          <p:cNvPr id="38" name="Text 36"/>
          <p:cNvSpPr txBox="1"/>
          <p:nvPr/>
        </p:nvSpPr>
        <p:spPr>
          <a:xfrm>
            <a:off x="2368296" y="5193792"/>
            <a:ext cx="480974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Collaboration and morale in Operations</a:t>
            </a:r>
            <a:endParaRPr lang="en-US" sz="2400" dirty="0"/>
          </a:p>
        </p:txBody>
      </p:sp>
      <p:sp>
        <p:nvSpPr>
          <p:cNvPr id="39" name="Shape 37"/>
          <p:cNvSpPr/>
          <p:nvPr/>
        </p:nvSpPr>
        <p:spPr>
          <a:xfrm>
            <a:off x="7315200" y="5193792"/>
            <a:ext cx="1865376" cy="877824"/>
          </a:xfrm>
          <a:prstGeom prst="roundRect">
            <a:avLst>
              <a:gd name="adj" fmla="val 10417"/>
            </a:avLst>
          </a:prstGeom>
          <a:solidFill>
            <a:srgbClr val="EEF4EF"/>
          </a:solidFill>
          <a:ln w="12700">
            <a:solidFill>
              <a:srgbClr val="EEF4EF"/>
            </a:solidFill>
            <a:prstDash val="solid"/>
          </a:ln>
        </p:spPr>
      </p:sp>
      <p:sp>
        <p:nvSpPr>
          <p:cNvPr id="40" name="Text 38"/>
          <p:cNvSpPr txBox="1"/>
          <p:nvPr/>
        </p:nvSpPr>
        <p:spPr>
          <a:xfrm>
            <a:off x="7397496" y="5193792"/>
            <a:ext cx="17007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Behavioural</a:t>
            </a:r>
            <a:endParaRPr lang="en-US" sz="2400" dirty="0"/>
          </a:p>
        </p:txBody>
      </p:sp>
      <p:sp>
        <p:nvSpPr>
          <p:cNvPr id="41" name="Shape 39"/>
          <p:cNvSpPr/>
          <p:nvPr/>
        </p:nvSpPr>
        <p:spPr>
          <a:xfrm>
            <a:off x="9235440" y="5193792"/>
            <a:ext cx="2350008" cy="877824"/>
          </a:xfrm>
          <a:prstGeom prst="roundRect">
            <a:avLst>
              <a:gd name="adj" fmla="val 10417"/>
            </a:avLst>
          </a:prstGeom>
          <a:solidFill>
            <a:srgbClr val="EEF4EF"/>
          </a:solidFill>
          <a:ln w="12700">
            <a:solidFill>
              <a:srgbClr val="EEF4EF"/>
            </a:solidFill>
            <a:prstDash val="solid"/>
          </a:ln>
        </p:spPr>
      </p:sp>
      <p:sp>
        <p:nvSpPr>
          <p:cNvPr id="42" name="Text 40"/>
          <p:cNvSpPr txBox="1"/>
          <p:nvPr/>
        </p:nvSpPr>
        <p:spPr>
          <a:xfrm>
            <a:off x="9317736" y="5193792"/>
            <a:ext cx="218541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COO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4.2d · KISS for Quarter 3: Stop and Start</a:t>
            </a:r>
            <a:endParaRPr lang="en-US" sz="3600" dirty="0"/>
          </a:p>
        </p:txBody>
      </p:sp>
      <p:sp>
        <p:nvSpPr>
          <p:cNvPr id="3" name="Shape 1"/>
          <p:cNvSpPr/>
          <p:nvPr/>
        </p:nvSpPr>
        <p:spPr>
          <a:xfrm>
            <a:off x="548640" y="1463040"/>
            <a:ext cx="1682496" cy="521208"/>
          </a:xfrm>
          <a:prstGeom prst="roundRect">
            <a:avLst>
              <a:gd name="adj" fmla="val 17544"/>
            </a:avLst>
          </a:prstGeom>
          <a:solidFill>
            <a:srgbClr val="1A5C2C"/>
          </a:solidFill>
          <a:ln w="12700">
            <a:solidFill>
              <a:srgbClr val="1A5C2C"/>
            </a:solidFill>
            <a:prstDash val="solid"/>
          </a:ln>
        </p:spPr>
      </p:sp>
      <p:sp>
        <p:nvSpPr>
          <p:cNvPr id="4" name="Text 2"/>
          <p:cNvSpPr txBox="1"/>
          <p:nvPr/>
        </p:nvSpPr>
        <p:spPr>
          <a:xfrm>
            <a:off x="630936" y="1463040"/>
            <a:ext cx="151790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Decision</a:t>
            </a:r>
            <a:endParaRPr lang="en-US" sz="2400" dirty="0"/>
          </a:p>
        </p:txBody>
      </p:sp>
      <p:sp>
        <p:nvSpPr>
          <p:cNvPr id="5" name="Shape 3"/>
          <p:cNvSpPr/>
          <p:nvPr/>
        </p:nvSpPr>
        <p:spPr>
          <a:xfrm>
            <a:off x="2286000" y="1463040"/>
            <a:ext cx="4974336" cy="521208"/>
          </a:xfrm>
          <a:prstGeom prst="roundRect">
            <a:avLst>
              <a:gd name="adj" fmla="val 17544"/>
            </a:avLst>
          </a:prstGeom>
          <a:solidFill>
            <a:srgbClr val="1A5C2C"/>
          </a:solidFill>
          <a:ln w="12700">
            <a:solidFill>
              <a:srgbClr val="1A5C2C"/>
            </a:solidFill>
            <a:prstDash val="solid"/>
          </a:ln>
        </p:spPr>
      </p:sp>
      <p:sp>
        <p:nvSpPr>
          <p:cNvPr id="6" name="Text 4"/>
          <p:cNvSpPr txBox="1"/>
          <p:nvPr/>
        </p:nvSpPr>
        <p:spPr>
          <a:xfrm>
            <a:off x="2368296" y="1463040"/>
            <a:ext cx="480974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Practice</a:t>
            </a:r>
            <a:endParaRPr lang="en-US" sz="2400" dirty="0"/>
          </a:p>
        </p:txBody>
      </p:sp>
      <p:sp>
        <p:nvSpPr>
          <p:cNvPr id="7" name="Shape 5"/>
          <p:cNvSpPr/>
          <p:nvPr/>
        </p:nvSpPr>
        <p:spPr>
          <a:xfrm>
            <a:off x="7315200" y="1463040"/>
            <a:ext cx="1865376" cy="521208"/>
          </a:xfrm>
          <a:prstGeom prst="roundRect">
            <a:avLst>
              <a:gd name="adj" fmla="val 17544"/>
            </a:avLst>
          </a:prstGeom>
          <a:solidFill>
            <a:srgbClr val="1A5C2C"/>
          </a:solidFill>
          <a:ln w="12700">
            <a:solidFill>
              <a:srgbClr val="1A5C2C"/>
            </a:solidFill>
            <a:prstDash val="solid"/>
          </a:ln>
        </p:spPr>
      </p:sp>
      <p:sp>
        <p:nvSpPr>
          <p:cNvPr id="8" name="Text 6"/>
          <p:cNvSpPr txBox="1"/>
          <p:nvPr/>
        </p:nvSpPr>
        <p:spPr>
          <a:xfrm>
            <a:off x="7397496" y="1463040"/>
            <a:ext cx="1700784"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Line</a:t>
            </a:r>
            <a:endParaRPr lang="en-US" sz="2400" dirty="0"/>
          </a:p>
        </p:txBody>
      </p:sp>
      <p:sp>
        <p:nvSpPr>
          <p:cNvPr id="9" name="Shape 7"/>
          <p:cNvSpPr/>
          <p:nvPr/>
        </p:nvSpPr>
        <p:spPr>
          <a:xfrm>
            <a:off x="9235440" y="1463040"/>
            <a:ext cx="2350008" cy="521208"/>
          </a:xfrm>
          <a:prstGeom prst="roundRect">
            <a:avLst>
              <a:gd name="adj" fmla="val 17544"/>
            </a:avLst>
          </a:prstGeom>
          <a:solidFill>
            <a:srgbClr val="1A5C2C"/>
          </a:solidFill>
          <a:ln w="12700">
            <a:solidFill>
              <a:srgbClr val="1A5C2C"/>
            </a:solidFill>
            <a:prstDash val="solid"/>
          </a:ln>
        </p:spPr>
      </p:sp>
      <p:sp>
        <p:nvSpPr>
          <p:cNvPr id="10" name="Text 8"/>
          <p:cNvSpPr txBox="1"/>
          <p:nvPr/>
        </p:nvSpPr>
        <p:spPr>
          <a:xfrm>
            <a:off x="9317736" y="1463040"/>
            <a:ext cx="2185416" cy="52120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Owner</a:t>
            </a:r>
            <a:endParaRPr lang="en-US" sz="2400" dirty="0"/>
          </a:p>
        </p:txBody>
      </p:sp>
      <p:sp>
        <p:nvSpPr>
          <p:cNvPr id="11" name="Shape 9"/>
          <p:cNvSpPr/>
          <p:nvPr/>
        </p:nvSpPr>
        <p:spPr>
          <a:xfrm>
            <a:off x="548640" y="2039112"/>
            <a:ext cx="1682496" cy="877824"/>
          </a:xfrm>
          <a:prstGeom prst="roundRect">
            <a:avLst>
              <a:gd name="adj" fmla="val 10417"/>
            </a:avLst>
          </a:prstGeom>
          <a:solidFill>
            <a:srgbClr val="E6D3A0"/>
          </a:solidFill>
          <a:ln w="12700">
            <a:solidFill>
              <a:srgbClr val="E6D3A0"/>
            </a:solidFill>
            <a:prstDash val="solid"/>
          </a:ln>
        </p:spPr>
      </p:sp>
      <p:sp>
        <p:nvSpPr>
          <p:cNvPr id="12" name="Text 10"/>
          <p:cNvSpPr txBox="1"/>
          <p:nvPr/>
        </p:nvSpPr>
        <p:spPr>
          <a:xfrm>
            <a:off x="630936" y="2039112"/>
            <a:ext cx="151790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Stop</a:t>
            </a:r>
            <a:endParaRPr lang="en-US" sz="2400" dirty="0"/>
          </a:p>
        </p:txBody>
      </p:sp>
      <p:sp>
        <p:nvSpPr>
          <p:cNvPr id="13" name="Shape 11"/>
          <p:cNvSpPr/>
          <p:nvPr/>
        </p:nvSpPr>
        <p:spPr>
          <a:xfrm>
            <a:off x="2286000" y="2039112"/>
            <a:ext cx="4974336" cy="877824"/>
          </a:xfrm>
          <a:prstGeom prst="roundRect">
            <a:avLst>
              <a:gd name="adj" fmla="val 10417"/>
            </a:avLst>
          </a:prstGeom>
          <a:solidFill>
            <a:srgbClr val="EEF4EF"/>
          </a:solidFill>
          <a:ln w="12700">
            <a:solidFill>
              <a:srgbClr val="EEF4EF"/>
            </a:solidFill>
            <a:prstDash val="solid"/>
          </a:ln>
        </p:spPr>
      </p:sp>
      <p:sp>
        <p:nvSpPr>
          <p:cNvPr id="14" name="Text 12"/>
          <p:cNvSpPr txBox="1"/>
          <p:nvPr/>
        </p:nvSpPr>
        <p:spPr>
          <a:xfrm>
            <a:off x="2368296" y="2039112"/>
            <a:ext cx="480974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Senior-management approval of routine refunds</a:t>
            </a:r>
            <a:endParaRPr lang="en-US" sz="2400" dirty="0"/>
          </a:p>
        </p:txBody>
      </p:sp>
      <p:sp>
        <p:nvSpPr>
          <p:cNvPr id="15" name="Shape 13"/>
          <p:cNvSpPr/>
          <p:nvPr/>
        </p:nvSpPr>
        <p:spPr>
          <a:xfrm>
            <a:off x="7315200" y="2039112"/>
            <a:ext cx="1865376" cy="877824"/>
          </a:xfrm>
          <a:prstGeom prst="roundRect">
            <a:avLst>
              <a:gd name="adj" fmla="val 10417"/>
            </a:avLst>
          </a:prstGeom>
          <a:solidFill>
            <a:srgbClr val="EEF4EF"/>
          </a:solidFill>
          <a:ln w="12700">
            <a:solidFill>
              <a:srgbClr val="EEF4EF"/>
            </a:solidFill>
            <a:prstDash val="solid"/>
          </a:ln>
        </p:spPr>
      </p:sp>
      <p:sp>
        <p:nvSpPr>
          <p:cNvPr id="16" name="Text 14"/>
          <p:cNvSpPr txBox="1"/>
          <p:nvPr/>
        </p:nvSpPr>
        <p:spPr>
          <a:xfrm>
            <a:off x="7397496" y="2039112"/>
            <a:ext cx="17007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Operational</a:t>
            </a:r>
            <a:endParaRPr lang="en-US" sz="2400" dirty="0"/>
          </a:p>
        </p:txBody>
      </p:sp>
      <p:sp>
        <p:nvSpPr>
          <p:cNvPr id="17" name="Shape 15"/>
          <p:cNvSpPr/>
          <p:nvPr/>
        </p:nvSpPr>
        <p:spPr>
          <a:xfrm>
            <a:off x="9235440" y="2039112"/>
            <a:ext cx="2350008" cy="877824"/>
          </a:xfrm>
          <a:prstGeom prst="roundRect">
            <a:avLst>
              <a:gd name="adj" fmla="val 10417"/>
            </a:avLst>
          </a:prstGeom>
          <a:solidFill>
            <a:srgbClr val="EEF4EF"/>
          </a:solidFill>
          <a:ln w="12700">
            <a:solidFill>
              <a:srgbClr val="EEF4EF"/>
            </a:solidFill>
            <a:prstDash val="solid"/>
          </a:ln>
        </p:spPr>
      </p:sp>
      <p:sp>
        <p:nvSpPr>
          <p:cNvPr id="18" name="Text 16"/>
          <p:cNvSpPr txBox="1"/>
          <p:nvPr/>
        </p:nvSpPr>
        <p:spPr>
          <a:xfrm>
            <a:off x="9317736" y="2039112"/>
            <a:ext cx="218541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Operations</a:t>
            </a:r>
            <a:endParaRPr lang="en-US" sz="2400" dirty="0"/>
          </a:p>
        </p:txBody>
      </p:sp>
      <p:sp>
        <p:nvSpPr>
          <p:cNvPr id="19" name="Shape 17"/>
          <p:cNvSpPr/>
          <p:nvPr/>
        </p:nvSpPr>
        <p:spPr>
          <a:xfrm>
            <a:off x="548640" y="2971800"/>
            <a:ext cx="1682496" cy="877824"/>
          </a:xfrm>
          <a:prstGeom prst="roundRect">
            <a:avLst>
              <a:gd name="adj" fmla="val 10417"/>
            </a:avLst>
          </a:prstGeom>
          <a:solidFill>
            <a:srgbClr val="E6D3A0"/>
          </a:solidFill>
          <a:ln w="12700">
            <a:solidFill>
              <a:srgbClr val="E6D3A0"/>
            </a:solidFill>
            <a:prstDash val="solid"/>
          </a:ln>
        </p:spPr>
      </p:sp>
      <p:sp>
        <p:nvSpPr>
          <p:cNvPr id="20" name="Text 18"/>
          <p:cNvSpPr txBox="1"/>
          <p:nvPr/>
        </p:nvSpPr>
        <p:spPr>
          <a:xfrm>
            <a:off x="630936" y="2971800"/>
            <a:ext cx="151790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Stop</a:t>
            </a:r>
            <a:endParaRPr lang="en-US" sz="2400" dirty="0"/>
          </a:p>
        </p:txBody>
      </p:sp>
      <p:sp>
        <p:nvSpPr>
          <p:cNvPr id="21" name="Shape 19"/>
          <p:cNvSpPr/>
          <p:nvPr/>
        </p:nvSpPr>
        <p:spPr>
          <a:xfrm>
            <a:off x="2286000" y="2971800"/>
            <a:ext cx="4974336" cy="877824"/>
          </a:xfrm>
          <a:prstGeom prst="roundRect">
            <a:avLst>
              <a:gd name="adj" fmla="val 10417"/>
            </a:avLst>
          </a:prstGeom>
          <a:solidFill>
            <a:srgbClr val="EEF4EF"/>
          </a:solidFill>
          <a:ln w="12700">
            <a:solidFill>
              <a:srgbClr val="EEF4EF"/>
            </a:solidFill>
            <a:prstDash val="solid"/>
          </a:ln>
        </p:spPr>
      </p:sp>
      <p:sp>
        <p:nvSpPr>
          <p:cNvPr id="22" name="Text 20"/>
          <p:cNvSpPr txBox="1"/>
          <p:nvPr/>
        </p:nvSpPr>
        <p:spPr>
          <a:xfrm>
            <a:off x="2368296" y="2971800"/>
            <a:ext cx="480974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Scorecards counting enquiries processed in place of resolved</a:t>
            </a:r>
            <a:endParaRPr lang="en-US" sz="2400" dirty="0"/>
          </a:p>
        </p:txBody>
      </p:sp>
      <p:sp>
        <p:nvSpPr>
          <p:cNvPr id="23" name="Shape 21"/>
          <p:cNvSpPr/>
          <p:nvPr/>
        </p:nvSpPr>
        <p:spPr>
          <a:xfrm>
            <a:off x="7315200" y="2971800"/>
            <a:ext cx="1865376" cy="877824"/>
          </a:xfrm>
          <a:prstGeom prst="roundRect">
            <a:avLst>
              <a:gd name="adj" fmla="val 10417"/>
            </a:avLst>
          </a:prstGeom>
          <a:solidFill>
            <a:srgbClr val="EEF4EF"/>
          </a:solidFill>
          <a:ln w="12700">
            <a:solidFill>
              <a:srgbClr val="EEF4EF"/>
            </a:solidFill>
            <a:prstDash val="solid"/>
          </a:ln>
        </p:spPr>
      </p:sp>
      <p:sp>
        <p:nvSpPr>
          <p:cNvPr id="24" name="Text 22"/>
          <p:cNvSpPr txBox="1"/>
          <p:nvPr/>
        </p:nvSpPr>
        <p:spPr>
          <a:xfrm>
            <a:off x="7397496" y="2971800"/>
            <a:ext cx="17007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Behavioural</a:t>
            </a:r>
            <a:endParaRPr lang="en-US" sz="2400" dirty="0"/>
          </a:p>
        </p:txBody>
      </p:sp>
      <p:sp>
        <p:nvSpPr>
          <p:cNvPr id="25" name="Shape 23"/>
          <p:cNvSpPr/>
          <p:nvPr/>
        </p:nvSpPr>
        <p:spPr>
          <a:xfrm>
            <a:off x="9235440" y="2971800"/>
            <a:ext cx="2350008" cy="877824"/>
          </a:xfrm>
          <a:prstGeom prst="roundRect">
            <a:avLst>
              <a:gd name="adj" fmla="val 10417"/>
            </a:avLst>
          </a:prstGeom>
          <a:solidFill>
            <a:srgbClr val="EEF4EF"/>
          </a:solidFill>
          <a:ln w="12700">
            <a:solidFill>
              <a:srgbClr val="EEF4EF"/>
            </a:solidFill>
            <a:prstDash val="solid"/>
          </a:ln>
        </p:spPr>
      </p:sp>
      <p:sp>
        <p:nvSpPr>
          <p:cNvPr id="26" name="Text 24"/>
          <p:cNvSpPr txBox="1"/>
          <p:nvPr/>
        </p:nvSpPr>
        <p:spPr>
          <a:xfrm>
            <a:off x="9317736" y="2971800"/>
            <a:ext cx="218541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Customer Service Executive</a:t>
            </a:r>
            <a:endParaRPr lang="en-US" sz="2400" dirty="0"/>
          </a:p>
        </p:txBody>
      </p:sp>
      <p:sp>
        <p:nvSpPr>
          <p:cNvPr id="27" name="Shape 25"/>
          <p:cNvSpPr/>
          <p:nvPr/>
        </p:nvSpPr>
        <p:spPr>
          <a:xfrm>
            <a:off x="548640" y="3904488"/>
            <a:ext cx="1682496" cy="877824"/>
          </a:xfrm>
          <a:prstGeom prst="roundRect">
            <a:avLst>
              <a:gd name="adj" fmla="val 10417"/>
            </a:avLst>
          </a:prstGeom>
          <a:solidFill>
            <a:srgbClr val="E6D3A0"/>
          </a:solidFill>
          <a:ln w="12700">
            <a:solidFill>
              <a:srgbClr val="E6D3A0"/>
            </a:solidFill>
            <a:prstDash val="solid"/>
          </a:ln>
        </p:spPr>
      </p:sp>
      <p:sp>
        <p:nvSpPr>
          <p:cNvPr id="28" name="Text 26"/>
          <p:cNvSpPr txBox="1"/>
          <p:nvPr/>
        </p:nvSpPr>
        <p:spPr>
          <a:xfrm>
            <a:off x="630936" y="3904488"/>
            <a:ext cx="1517904" cy="877824"/>
          </a:xfrm>
          <a:prstGeom prst="rect">
            <a:avLst/>
          </a:prstGeom>
          <a:noFill/>
          <a:ln/>
        </p:spPr>
        <p:txBody>
          <a:bodyPr wrap="square" lIns="0" tIns="0" rIns="0" bIns="0" rtlCol="0" anchor="ctr"/>
          <a:lstStyle/>
          <a:p>
            <a:pPr indent="0" marL="0">
              <a:buNone/>
            </a:pPr>
            <a:r>
              <a:rPr lang="en-US" sz="2400" b="1" dirty="0">
                <a:solidFill>
                  <a:srgbClr val="0F3B1C"/>
                </a:solidFill>
                <a:latin typeface="Cambria" pitchFamily="34" charset="0"/>
                <a:ea typeface="Cambria" pitchFamily="34" charset="-122"/>
                <a:cs typeface="Cambria" pitchFamily="34" charset="-120"/>
              </a:rPr>
              <a:t>Start</a:t>
            </a:r>
            <a:endParaRPr lang="en-US" sz="2400" dirty="0"/>
          </a:p>
        </p:txBody>
      </p:sp>
      <p:sp>
        <p:nvSpPr>
          <p:cNvPr id="29" name="Shape 27"/>
          <p:cNvSpPr/>
          <p:nvPr/>
        </p:nvSpPr>
        <p:spPr>
          <a:xfrm>
            <a:off x="2286000" y="3904488"/>
            <a:ext cx="4974336" cy="877824"/>
          </a:xfrm>
          <a:prstGeom prst="roundRect">
            <a:avLst>
              <a:gd name="adj" fmla="val 10417"/>
            </a:avLst>
          </a:prstGeom>
          <a:solidFill>
            <a:srgbClr val="EEF4EF"/>
          </a:solidFill>
          <a:ln w="12700">
            <a:solidFill>
              <a:srgbClr val="EEF4EF"/>
            </a:solidFill>
            <a:prstDash val="solid"/>
          </a:ln>
        </p:spPr>
      </p:sp>
      <p:sp>
        <p:nvSpPr>
          <p:cNvPr id="30" name="Text 28"/>
          <p:cNvSpPr txBox="1"/>
          <p:nvPr/>
        </p:nvSpPr>
        <p:spPr>
          <a:xfrm>
            <a:off x="2368296" y="3904488"/>
            <a:ext cx="480974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Case tracking after escalation, through to resolution</a:t>
            </a:r>
            <a:endParaRPr lang="en-US" sz="2400" dirty="0"/>
          </a:p>
        </p:txBody>
      </p:sp>
      <p:sp>
        <p:nvSpPr>
          <p:cNvPr id="31" name="Shape 29"/>
          <p:cNvSpPr/>
          <p:nvPr/>
        </p:nvSpPr>
        <p:spPr>
          <a:xfrm>
            <a:off x="7315200" y="3904488"/>
            <a:ext cx="1865376" cy="877824"/>
          </a:xfrm>
          <a:prstGeom prst="roundRect">
            <a:avLst>
              <a:gd name="adj" fmla="val 10417"/>
            </a:avLst>
          </a:prstGeom>
          <a:solidFill>
            <a:srgbClr val="EEF4EF"/>
          </a:solidFill>
          <a:ln w="12700">
            <a:solidFill>
              <a:srgbClr val="EEF4EF"/>
            </a:solidFill>
            <a:prstDash val="solid"/>
          </a:ln>
        </p:spPr>
      </p:sp>
      <p:sp>
        <p:nvSpPr>
          <p:cNvPr id="32" name="Text 30"/>
          <p:cNvSpPr txBox="1"/>
          <p:nvPr/>
        </p:nvSpPr>
        <p:spPr>
          <a:xfrm>
            <a:off x="7397496" y="3904488"/>
            <a:ext cx="1700784"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Strategic</a:t>
            </a:r>
            <a:endParaRPr lang="en-US" sz="2400" dirty="0"/>
          </a:p>
        </p:txBody>
      </p:sp>
      <p:sp>
        <p:nvSpPr>
          <p:cNvPr id="33" name="Shape 31"/>
          <p:cNvSpPr/>
          <p:nvPr/>
        </p:nvSpPr>
        <p:spPr>
          <a:xfrm>
            <a:off x="9235440" y="3904488"/>
            <a:ext cx="2350008" cy="877824"/>
          </a:xfrm>
          <a:prstGeom prst="roundRect">
            <a:avLst>
              <a:gd name="adj" fmla="val 10417"/>
            </a:avLst>
          </a:prstGeom>
          <a:solidFill>
            <a:srgbClr val="EEF4EF"/>
          </a:solidFill>
          <a:ln w="12700">
            <a:solidFill>
              <a:srgbClr val="EEF4EF"/>
            </a:solidFill>
            <a:prstDash val="solid"/>
          </a:ln>
        </p:spPr>
      </p:sp>
      <p:sp>
        <p:nvSpPr>
          <p:cNvPr id="34" name="Text 32"/>
          <p:cNvSpPr txBox="1"/>
          <p:nvPr/>
        </p:nvSpPr>
        <p:spPr>
          <a:xfrm>
            <a:off x="9317736" y="3904488"/>
            <a:ext cx="2185416" cy="877824"/>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IT with Customer Service</a:t>
            </a:r>
            <a:endParaRPr lang="en-US" sz="2400" dirty="0"/>
          </a:p>
        </p:txBody>
      </p:sp>
      <p:sp>
        <p:nvSpPr>
          <p:cNvPr id="35" name="Shape 3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36" name="Text 3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Each decision names its practice, its line of sight and its owner.</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Our Quarterly Three Lines of Sight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Exercise forward-looking judgement that holds performance gains across people and organisation.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Design a leadership rhythm that sustains the enterprise result quarter after quarter.</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5.1 · Brought into your page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Unit 6</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enterprise Key Result and its WARD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Unit 10 · 10A</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ESRG scan</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Unit 11 · 11B</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The consolidated health position</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Your reference: the worked example in 4.2.</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5.2 to 5.4 · Your page, in order</a:t>
            </a:r>
            <a:endParaRPr lang="en-US" sz="3600" dirty="0"/>
          </a:p>
        </p:txBody>
      </p:sp>
      <p:sp>
        <p:nvSpPr>
          <p:cNvPr id="3" name="Shape 1"/>
          <p:cNvSpPr/>
          <p:nvPr/>
        </p:nvSpPr>
        <p:spPr>
          <a:xfrm>
            <a:off x="548640" y="2004060"/>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2164080"/>
            <a:ext cx="320040" cy="320040"/>
          </a:xfrm>
          <a:prstGeom prst="rect">
            <a:avLst/>
          </a:prstGeom>
        </p:spPr>
      </p:pic>
      <p:sp>
        <p:nvSpPr>
          <p:cNvPr id="5" name="Text 2"/>
          <p:cNvSpPr txBox="1"/>
          <p:nvPr/>
        </p:nvSpPr>
        <p:spPr>
          <a:xfrm>
            <a:off x="1508760" y="1508760"/>
            <a:ext cx="10131552" cy="163068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5.2 · Your results for the quarter  </a:t>
            </a:r>
            <a:pPr indent="0" marL="0">
              <a:buNone/>
            </a:pPr>
            <a:r>
              <a:rPr lang="en-US" sz="2400" dirty="0">
                <a:solidFill>
                  <a:srgbClr val="1F2A22"/>
                </a:solidFill>
                <a:latin typeface="Calibri" pitchFamily="34" charset="0"/>
                <a:ea typeface="Calibri" pitchFamily="34" charset="-122"/>
                <a:cs typeface="Calibri" pitchFamily="34" charset="-120"/>
              </a:rPr>
              <a:t>brought in; the scribe chooses the quarter and corrects any changed value</a:t>
            </a:r>
            <a:endParaRPr lang="en-US" sz="2400" dirty="0"/>
          </a:p>
        </p:txBody>
      </p:sp>
      <p:sp>
        <p:nvSpPr>
          <p:cNvPr id="6" name="Shape 3"/>
          <p:cNvSpPr/>
          <p:nvPr/>
        </p:nvSpPr>
        <p:spPr>
          <a:xfrm>
            <a:off x="548640" y="3634740"/>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794760"/>
            <a:ext cx="320040" cy="320040"/>
          </a:xfrm>
          <a:prstGeom prst="rect">
            <a:avLst/>
          </a:prstGeom>
        </p:spPr>
      </p:pic>
      <p:sp>
        <p:nvSpPr>
          <p:cNvPr id="8" name="Text 4"/>
          <p:cNvSpPr txBox="1"/>
          <p:nvPr/>
        </p:nvSpPr>
        <p:spPr>
          <a:xfrm>
            <a:off x="1508760" y="3139440"/>
            <a:ext cx="10131552" cy="163068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5.3 · The three lines of sight  </a:t>
            </a:r>
            <a:pPr indent="0" marL="0">
              <a:buNone/>
            </a:pPr>
            <a:r>
              <a:rPr lang="en-US" sz="2400" dirty="0">
                <a:solidFill>
                  <a:srgbClr val="1F2A22"/>
                </a:solidFill>
                <a:latin typeface="Calibri" pitchFamily="34" charset="0"/>
                <a:ea typeface="Calibri" pitchFamily="34" charset="-122"/>
                <a:cs typeface="Calibri" pitchFamily="34" charset="-120"/>
              </a:rPr>
              <a:t>each line filtered through WARD, with its recovery, owner and check</a:t>
            </a:r>
            <a:endParaRPr lang="en-US" sz="2400" dirty="0"/>
          </a:p>
        </p:txBody>
      </p:sp>
      <p:sp>
        <p:nvSpPr>
          <p:cNvPr id="9" name="Shape 5"/>
          <p:cNvSpPr/>
          <p:nvPr/>
        </p:nvSpPr>
        <p:spPr>
          <a:xfrm>
            <a:off x="548640" y="5265420"/>
            <a:ext cx="640080" cy="640080"/>
          </a:xfrm>
          <a:prstGeom prst="ellipse">
            <a:avLst/>
          </a:prstGeom>
          <a:solidFill>
            <a:srgbClr val="C6A24C"/>
          </a:solidFill>
          <a:ln w="12700">
            <a:solidFill>
              <a:srgbClr val="C6A24C"/>
            </a:solidFill>
            <a:prstDash val="solid"/>
          </a:ln>
        </p:spPr>
      </p:sp>
      <p:pic>
        <p:nvPicPr>
          <p:cNvPr id="10" name="Image 2" descr="preencoded.png">    </p:cNvPr>
          <p:cNvPicPr>
            <a:picLocks noChangeAspect="1"/>
          </p:cNvPicPr>
          <p:nvPr/>
        </p:nvPicPr>
        <p:blipFill>
          <a:blip r:embed="rId3"/>
          <a:stretch>
            <a:fillRect/>
          </a:stretch>
        </p:blipFill>
        <p:spPr>
          <a:xfrm>
            <a:off x="708660" y="5425440"/>
            <a:ext cx="320040" cy="320040"/>
          </a:xfrm>
          <a:prstGeom prst="rect">
            <a:avLst/>
          </a:prstGeom>
        </p:spPr>
      </p:pic>
      <p:sp>
        <p:nvSpPr>
          <p:cNvPr id="11" name="Text 6"/>
          <p:cNvSpPr txBox="1"/>
          <p:nvPr/>
        </p:nvSpPr>
        <p:spPr>
          <a:xfrm>
            <a:off x="1508760" y="4770120"/>
            <a:ext cx="10131552" cy="163068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5.4 · KISS for next quarter  </a:t>
            </a:r>
            <a:pPr indent="0" marL="0">
              <a:buNone/>
            </a:pPr>
            <a:r>
              <a:rPr lang="en-US" sz="2400" dirty="0">
                <a:solidFill>
                  <a:srgbClr val="1F2A22"/>
                </a:solidFill>
                <a:latin typeface="Calibri" pitchFamily="34" charset="0"/>
                <a:ea typeface="Calibri" pitchFamily="34" charset="-122"/>
                <a:cs typeface="Calibri" pitchFamily="34" charset="-120"/>
              </a:rPr>
              <a:t>at least one Keep, one Improve, one Stop and one Start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5.5 · Capstone output</a:t>
            </a:r>
            <a:endParaRPr lang="en-US" sz="3600" dirty="0"/>
          </a:p>
        </p:txBody>
      </p:sp>
      <p:sp>
        <p:nvSpPr>
          <p:cNvPr id="3" name="Shape 1"/>
          <p:cNvSpPr/>
          <p:nvPr/>
        </p:nvSpPr>
        <p:spPr>
          <a:xfrm>
            <a:off x="548640" y="1508760"/>
            <a:ext cx="2567178" cy="3931920"/>
          </a:xfrm>
          <a:prstGeom prst="roundRect">
            <a:avLst>
              <a:gd name="adj" fmla="val 3562"/>
            </a:avLst>
          </a:prstGeom>
          <a:solidFill>
            <a:srgbClr val="EEF4EF"/>
          </a:solidFill>
          <a:ln w="12700">
            <a:solidFill>
              <a:srgbClr val="EEF4EF"/>
            </a:solidFill>
            <a:prstDash val="solid"/>
          </a:ln>
        </p:spPr>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777240" y="2423160"/>
            <a:ext cx="2109978"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12A</a:t>
            </a:r>
            <a:endParaRPr lang="en-US" sz="2600" dirty="0"/>
          </a:p>
        </p:txBody>
      </p:sp>
      <p:sp>
        <p:nvSpPr>
          <p:cNvPr id="7" name="Text 4"/>
          <p:cNvSpPr txBox="1"/>
          <p:nvPr/>
        </p:nvSpPr>
        <p:spPr>
          <a:xfrm>
            <a:off x="777240" y="3067812"/>
            <a:ext cx="2109978" cy="223570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Strategic line</a:t>
            </a:r>
            <a:endParaRPr lang="en-US" sz="2400" dirty="0"/>
          </a:p>
        </p:txBody>
      </p:sp>
      <p:sp>
        <p:nvSpPr>
          <p:cNvPr id="8" name="Shape 5"/>
          <p:cNvSpPr/>
          <p:nvPr/>
        </p:nvSpPr>
        <p:spPr>
          <a:xfrm>
            <a:off x="3390138" y="1508760"/>
            <a:ext cx="2567178" cy="3931920"/>
          </a:xfrm>
          <a:prstGeom prst="roundRect">
            <a:avLst>
              <a:gd name="adj" fmla="val 3562"/>
            </a:avLst>
          </a:prstGeom>
          <a:solidFill>
            <a:srgbClr val="EEF4EF"/>
          </a:solidFill>
          <a:ln w="12700">
            <a:solidFill>
              <a:srgbClr val="EEF4EF"/>
            </a:solidFill>
            <a:prstDash val="solid"/>
          </a:ln>
        </p:spPr>
      </p:sp>
      <p:sp>
        <p:nvSpPr>
          <p:cNvPr id="9" name="Shape 6"/>
          <p:cNvSpPr/>
          <p:nvPr/>
        </p:nvSpPr>
        <p:spPr>
          <a:xfrm>
            <a:off x="3618738" y="1737360"/>
            <a:ext cx="548640" cy="54864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3755898" y="1874520"/>
            <a:ext cx="274320" cy="274320"/>
          </a:xfrm>
          <a:prstGeom prst="rect">
            <a:avLst/>
          </a:prstGeom>
        </p:spPr>
      </p:pic>
      <p:sp>
        <p:nvSpPr>
          <p:cNvPr id="11" name="Text 7"/>
          <p:cNvSpPr txBox="1"/>
          <p:nvPr/>
        </p:nvSpPr>
        <p:spPr>
          <a:xfrm>
            <a:off x="3618738" y="2423160"/>
            <a:ext cx="2109978"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12B</a:t>
            </a:r>
            <a:endParaRPr lang="en-US" sz="2600" dirty="0"/>
          </a:p>
        </p:txBody>
      </p:sp>
      <p:sp>
        <p:nvSpPr>
          <p:cNvPr id="12" name="Text 8"/>
          <p:cNvSpPr txBox="1"/>
          <p:nvPr/>
        </p:nvSpPr>
        <p:spPr>
          <a:xfrm>
            <a:off x="3618738" y="3067812"/>
            <a:ext cx="2109978" cy="223570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Operational line</a:t>
            </a:r>
            <a:endParaRPr lang="en-US" sz="2400" dirty="0"/>
          </a:p>
        </p:txBody>
      </p:sp>
      <p:sp>
        <p:nvSpPr>
          <p:cNvPr id="13" name="Shape 9"/>
          <p:cNvSpPr/>
          <p:nvPr/>
        </p:nvSpPr>
        <p:spPr>
          <a:xfrm>
            <a:off x="6231636" y="1508760"/>
            <a:ext cx="2567178" cy="3931920"/>
          </a:xfrm>
          <a:prstGeom prst="roundRect">
            <a:avLst>
              <a:gd name="adj" fmla="val 3562"/>
            </a:avLst>
          </a:prstGeom>
          <a:solidFill>
            <a:srgbClr val="EEF4EF"/>
          </a:solidFill>
          <a:ln w="12700">
            <a:solidFill>
              <a:srgbClr val="EEF4EF"/>
            </a:solidFill>
            <a:prstDash val="solid"/>
          </a:ln>
        </p:spPr>
      </p:sp>
      <p:sp>
        <p:nvSpPr>
          <p:cNvPr id="14" name="Shape 10"/>
          <p:cNvSpPr/>
          <p:nvPr/>
        </p:nvSpPr>
        <p:spPr>
          <a:xfrm>
            <a:off x="6460236" y="1737360"/>
            <a:ext cx="548640" cy="54864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6597396" y="1874520"/>
            <a:ext cx="274320" cy="274320"/>
          </a:xfrm>
          <a:prstGeom prst="rect">
            <a:avLst/>
          </a:prstGeom>
        </p:spPr>
      </p:pic>
      <p:sp>
        <p:nvSpPr>
          <p:cNvPr id="16" name="Text 11"/>
          <p:cNvSpPr txBox="1"/>
          <p:nvPr/>
        </p:nvSpPr>
        <p:spPr>
          <a:xfrm>
            <a:off x="6460236" y="2423160"/>
            <a:ext cx="2109978"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12C</a:t>
            </a:r>
            <a:endParaRPr lang="en-US" sz="2600" dirty="0"/>
          </a:p>
        </p:txBody>
      </p:sp>
      <p:sp>
        <p:nvSpPr>
          <p:cNvPr id="17" name="Text 12"/>
          <p:cNvSpPr txBox="1"/>
          <p:nvPr/>
        </p:nvSpPr>
        <p:spPr>
          <a:xfrm>
            <a:off x="6460236" y="3067812"/>
            <a:ext cx="2109978" cy="223570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Behavioural line</a:t>
            </a:r>
            <a:endParaRPr lang="en-US" sz="2400" dirty="0"/>
          </a:p>
        </p:txBody>
      </p:sp>
      <p:sp>
        <p:nvSpPr>
          <p:cNvPr id="18" name="Shape 13"/>
          <p:cNvSpPr/>
          <p:nvPr/>
        </p:nvSpPr>
        <p:spPr>
          <a:xfrm>
            <a:off x="9073134" y="1508760"/>
            <a:ext cx="2567178" cy="3931920"/>
          </a:xfrm>
          <a:prstGeom prst="roundRect">
            <a:avLst>
              <a:gd name="adj" fmla="val 3562"/>
            </a:avLst>
          </a:prstGeom>
          <a:solidFill>
            <a:srgbClr val="1A5C2C"/>
          </a:solidFill>
          <a:ln w="12700">
            <a:solidFill>
              <a:srgbClr val="1A5C2C"/>
            </a:solidFill>
            <a:prstDash val="solid"/>
          </a:ln>
        </p:spPr>
      </p:sp>
      <p:sp>
        <p:nvSpPr>
          <p:cNvPr id="19" name="Shape 14"/>
          <p:cNvSpPr/>
          <p:nvPr/>
        </p:nvSpPr>
        <p:spPr>
          <a:xfrm>
            <a:off x="9301734" y="1737360"/>
            <a:ext cx="548640" cy="548640"/>
          </a:xfrm>
          <a:prstGeom prst="ellipse">
            <a:avLst/>
          </a:prstGeom>
          <a:solidFill>
            <a:srgbClr val="C6A24C"/>
          </a:solidFill>
          <a:ln w="12700">
            <a:solidFill>
              <a:srgbClr val="C6A24C"/>
            </a:solidFill>
            <a:prstDash val="solid"/>
          </a:ln>
        </p:spPr>
      </p:sp>
      <p:pic>
        <p:nvPicPr>
          <p:cNvPr id="20" name="Image 3" descr="preencoded.png">    </p:cNvPr>
          <p:cNvPicPr>
            <a:picLocks noChangeAspect="1"/>
          </p:cNvPicPr>
          <p:nvPr/>
        </p:nvPicPr>
        <p:blipFill>
          <a:blip r:embed="rId4"/>
          <a:stretch>
            <a:fillRect/>
          </a:stretch>
        </p:blipFill>
        <p:spPr>
          <a:xfrm>
            <a:off x="9438894" y="1874520"/>
            <a:ext cx="274320" cy="274320"/>
          </a:xfrm>
          <a:prstGeom prst="rect">
            <a:avLst/>
          </a:prstGeom>
        </p:spPr>
      </p:pic>
      <p:sp>
        <p:nvSpPr>
          <p:cNvPr id="21" name="Text 15"/>
          <p:cNvSpPr txBox="1"/>
          <p:nvPr/>
        </p:nvSpPr>
        <p:spPr>
          <a:xfrm>
            <a:off x="9301734" y="2423160"/>
            <a:ext cx="2109978"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12D</a:t>
            </a:r>
            <a:endParaRPr lang="en-US" sz="2600" dirty="0"/>
          </a:p>
        </p:txBody>
      </p:sp>
      <p:sp>
        <p:nvSpPr>
          <p:cNvPr id="22" name="Text 16"/>
          <p:cNvSpPr txBox="1"/>
          <p:nvPr/>
        </p:nvSpPr>
        <p:spPr>
          <a:xfrm>
            <a:off x="9301734" y="3067812"/>
            <a:ext cx="2109978" cy="223570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KISS for next quarter</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24" name="Text 18"/>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Once every member agrees, the page goes into your Capstone S2R® Blueprint.</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Unit Summary · S2R® programme close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Achieved results come under Performance Gravity, a pull back towards average.</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The pull shows first on one of three lines: strategic, operational or behavioural.</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Each line reads a result you already produce. WARD filters all three.</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Each line drifts through its own mechanism. KISS answers each one.</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Each quarter, one page brings the three lines together and closes with KISS.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12 · Sustaining Performance</dc:title>
  <dc:subject>PptxGenJS Presentation</dc:subject>
  <dc:creator>Institute of Behavioural Strategy &amp; Leadership</dc:creator>
  <cp:lastModifiedBy>Institute of Behavioural Strategy &amp; Leadership</cp:lastModifiedBy>
  <cp:revision>1</cp:revision>
  <dcterms:created xsi:type="dcterms:W3CDTF">2026-10-28T11:09:23Z</dcterms:created>
  <dcterms:modified xsi:type="dcterms:W3CDTF">2026-10-28T11:09:23Z</dcterms:modified>
</cp:coreProperties>
</file>