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12 · SUSTAINING PERFORMANCE
Module 4 · Grounding · Unit 12 · The final unit of the S2R® programme
Unit intent (Facilitator Guide):
Unit 12 answers the central question in organisational performance: how to sustain results once they are achieved. The central argument is precise — sustained performance is a navigation discipline applied continuously to five force categories that never stop moving.
The architecture of this unit is causal. Awareness introduces Performance Gravity and KISS. Intelligence shows that the three mechanisms of Performance Gravity are each the direct consequence of a specific force category going unnavigated. Extrapolating gives leaders the WHERE (the Alignment Brigade across leadership domains), the HOW TO READ (ABCV as the navigation diagnostic), and the HOW TO RESPOND (KISS as the navigation action). Integration embeds this as a collective quarterly rhythm. Application practises the full chain in real leadership domains.
This unit is industry-neutral and programme-independent. The forces it describes exist in every organisation in every sector every day. The navigation disciplines apply whether or not an organisation has engaged in any formal programme.
Unit overview (facilitator file): Sustained performance is the continuous navigation of five forces that never stop moving. This unit gives leaders the causal understanding and the navigation architecture to sustain performance — across industries, in daily execution, permanently.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Distinguish short-term performance attainment from sustained institutional capability.
2. Evaluate organisational resilience and adaptability as internal and external conditions evolve.
3. Recognise the sources of performance drift and the early erosion of strategic coherence.
4. Exercise forward-looking executive judgement that protects organisational value and long-term performance.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no minute timings for this unit.
Session structure (facilitator file):
AWARENESS — What Performance Gravity is and what counters it (KISS)
INTELLIGENCE — Why the five forces produce Performance Gravity when unnavigated
EXTRAPOLATING — Where forces pull + ABCV diagnostic + KISS navigation response
INTEGRATION — The S2R® Collective Intelligence Review as quarterly navigation rhythm
APPLICATION — Force-anchored scenarios with ABCV diagnostic + KISS response + Programme Commitment
Key Facilitation Questions
“Name a time your organisation achieved strong performance and then lost it. Looking back — which force had moved that you were not tracking?”
“Which of the five force categories is your organisation least systematically monitoring right now — and what would be the consequence of missing its movement for six months?”
“When a competitive signal appears — a shift in win rates, a change in customer conversation — what is the first question your leadership team asks? Is it strategic or operational?”
“Apply ABCV to the most significant force movement in your environment right now. Which of the four MBT conditions is most under threat?”
“Which KISS discipline is your organisation consistently avoiding — and what is the honest reason for that?”
Tone &amp; Watch Points
This unit must feel permanent. It is the opening of a permanent discipline. Every facilitation choice should reinforce: this is how high-performing organisations operate every day.
Watch for: leaders who agree conceptually with all five forces but cannot name one specific force movement currently threatening their strategy. Push to specifics: “Name the force. Name where it is moving. Name what it has invalidated.”
The ABCV connection is the pivot point of this unit. Participants encountered ABCV as an OKR stress-test in Unit 4. Here it is elevated to its full strategic purpose as the navigation diagnostic. Make this elevation explicit: “ABCV was introduced to test the soundness of your strategic commitments. Here we use it to test whether those commitments still hold as forces move.”
The Application exercise runs the full chain. Do not allow it to become a KISS exercise alone. Each scenario names a force, requires an ABCV diagnostic, then activates KISS. Leaders who skip the ABCV step are responding without diagnosing.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Performance Gravity — and the KISS Navigation Disciplines
Understanding the force that pulls organisations back toward average — and the four precise decisions that counter it.
Section learning outcomes:
1. Recognise the forces that pull performance back towards average.
2. Identify the navigation disciplines that sustain performance against that pull.
FACILITATOR GUIDANCE — Awareness
Open with the central reframe: Performance Gravity is the predictable organisational consequence of five external forces moving while the organisation stays still. This reframe matters because it shifts the conversation from blame to navigation. The question is “which force moved that we stopped tracking?”
When introducing the three mechanisms, note that each one is anchored to a specific force category — this is the bridge to Intelligence. Do not develop the force connections in depth here; Awareness introduces the mechanisms, Intelligence explains the causality.
KISS is fully introduced and defined in this section. It does not need to appear in full depth in any subsequent section. When KISS appears in Extrapolating and Application, it is always as the navigation response — the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NAVIGATION PREMISE
Content:
The forces in your operating environment never stop moving. They moved before your strategy was designed. They are moving now. And they will continue moving regardless of what your performance indicators show, what your strategy says, or what your leadership team has decided.
Sustained performance is the outcome of continuous navigation — the deliberate, disciplined practice of reading the forces that shape the environment in which you perform and adjusting your position in response to their movement.
Most organisations treat sustained performance as a stability problem. They assume that if they maintain what they are currently doing, results will continue. The assumption is wrong. The environment in which your current results were earned is already changing. And the gap between your current approach and the current environment will only become visible when the cost of correction is already significant.
Performance Gravity is what happens when forces move and the organisation does not move with them. It is a failure of navigation. And like physical gravity, it operates continuously — whether or not the organisation is aware of it.
Participant file (1.1 — The Navigation Premise) — prompts participants complete:
- ✎ Reflection — Name a time your organisation achieved strong performance and then lost it. Looking back — which force had moved that was not being tracked?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THREE MECHANISMS OF PERFORMANCE GRAVITY (Each produced by a specific force)
Content:
Performance Gravity operates through three distinct mechanisms. Each mechanism is the organisational consequence of a specific category of external force going unnavigated. Intelligence examines each force category in depth. Here we introduce the mechanisms and their force origins.
Mechanism 1
Momentum Illusion
The enterprise competes with a playbook the market has already moved past
Force that produces this: Competitive + Disruptive
When competitive and disruptive forces shift and the organisation does not track them, the organisation continues running the approach that once produced results — unaware that the landscape in which those results were earned has already changed. Results remain acceptable in the short term because momentum carries forward. The gap between the playbook and the market widens invisibly until it becomes undeniable — at which point the cost of correction is significantly higher than earlier navigation would have required.
Mechanism 2
Complexity Creep
Structural responses to old conditions accumulate permanently as organisational weight
Force that produces this: Macro-environmental
When macro-environmental forces — regulatory frameworks, economic conditions, political dynamics, technological infrastructure — shift over time, organisations build structural responses to each change. Each response is justified at the time of its creation. Collectively, across multiple macro-environmental shifts, they create an organisation that is heavier, slower, and more internally focused than its current environment requires. The processes, governance layers, and approval structures built for yesterday’s macro-environment become permanent fixtures even after the conditions that justified them have changed.
Mechanism 3
Execution Regression
The organisation reverts to its historical operating pattern across all mechanisms simultaneously
Force that produces this: Internal forces
Every organisation has a cultural gravity — a set of norms, habits, assumptions, and identity patterns reinforced over years of operating history. This internal gravity continuously pulls the organisation’s behaviour back toward its historical pattern, even when a new strategy is set or strong results are achieved. When internal forces are not actively navigated, Execution Regression sets in: the enterprise reverts to the operating pattern that predates its current strategic direction. Standards quietly return to pre-programme baselines. Decision habits revert. The gap between what the strategy says and what daily behaviour reflects widens until the two are no longer recognisably connected.
The fourth force category — Social and Environmental forces — produces a distinct fourth consequence when unnavigated: Legitimacy Erosion. Stakeholder expectations shift while enterprise behaviour remains anchored to what once earned approval. This is examined in depth in Intelligence.
Participant file (1.2 — The Three Mechanisms of Performance Gravity) — prompts participants complete:
- ✎ Which mechanism is most active in your organisation right now? Mechanism Where it is most visible Earliest warning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KISS: THE FOUR NAVIGATION DISCIPLINES (The response to Performance Gravity)
Content:
KISS provides the four precise navigation decisions every leadership team must make at the close of every performance cycle. These are operational decisions — specific, named, and accountable. They apply in every industry, in every quarterly review, permanently.
K
KEEP
What is working and must be actively protected
The discipline of Keep is the conscious decision to identify, name, and protect the practices, routines, enterprise behaviours, and systems that are producing reliable results. Effective practices are vulnerable — they depend on specific leadership attention, team behaviour, and structural support. When that attention is redirected, the practice degrades without announcement. Keep requires leaders to make the implicit explicit: what specifically is producing this result, and what must remain in place to ensure it continues? Keep is the direct antidote to Momentum Illusion.
I
IMPROVE
What has shifted and requires recalibration
The discipline of Improve is the honest recognition that something which was working well is beginning to work less well — and that the gap between current performance and required performance is growing slowly enough to ignore but fast enough to be dangerous. Improve is the discipline of early correction: addressing drift when it is still a signal, well before it becomes a crisis. Every organisation has practices that were excellent six months ago and are merely adequate today. Improve prevents adequate from becoming insufficient before the gap is visible in results.
S
STOP
What is harming performance and must be eliminated
The discipline of Stop is the most difficult and most neglected of the four. Stop requires leaders to identify and eliminate practices, meetings, processes, reporting requirements, and approval layers consuming organisational energy without producing commensurate value. The resistance to Stop is structural: every practice that should be stopped has a sponsor, a team, and stakeholders whose interests are served by its continuation. Stop is the direct antidote to Complexity Creep — the accumulation of structural responses to conditions that no longer exist.
S
START
What must be introduced to sustain the next level of performance
The discipline of Start is the forward-facing investment that sustained performance requires. Start asks: what is the organisation not yet capable of that the changing force environment will require? It demands that leaders examine emerging strategic requirements, internal capability gaps, and governance evolution needs before the environment makes them urgent. Start is the anticipatory discipline that distinguishes organisations that sustain performance from those that merely extend it temporarily. It is the investment in future fitness that current performance makes possible.
KISS is a navigation discipline. In Extrapolating, it becomes the response mechanism of the navigation chain: Forces detected → ABCV reveals which strategic assumption has been invalidated → KISS determines the specific response.
Participant file (1.3 — KISS: The Four Navigation Disciplines) — prompts participants complete:
- ✎ Reflection — In your function right now — which practice, rhythm, or enterprise behaviour is producing the most reliable results and is most at risk of being taken for granted?
- ✎ Reflection — Name one practice in your organisation that was strong six months ago and is merely adequate today. What is the one early correction that would restore it before the gap becomes a trend?
- ✎ Reflection — Name one meeting, one report, or one approval layer in your function that should be stopped. If we were designing this organisation today, would we introduce it? If the answer is no — what is preventing you from stopping it?
- ✎ Reflection — What capability does your organisation need to begin building now — before the environment requires it — to sustain performance at the next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the Five Forces Produce Performance Gravity When Unnavigated
The causal relationship between force movement and organisational performance decline — across industries, in daily execution, permanently.
Section learning outcomes:
1. Explain how unnavigated internal and external forces erode strategic coherence.
2. Diagnose which force is most active in their organisation.
FACILITATOR GUIDANCE — Intelligence
This section establishes the causal architecture that makes this unit distinctive. The argument is that performance is hard to sustain because forces are always moving — and the specific way each force moves produces a specific and predictable consequence when not navigated.
Work through each force slowly. For each one, ask participants to name a specific movement in their operating environment right now. The force categories are present and active in every organisation’s environment at this moment.
The causal table is the centrepiece of this section. After working through all five forces, return to it. Ask: “Which row describes your organisation’s most urgent navigation challenge right now?” The answer determines which part of Extrapolating deserves the most attention in their context.
Success Inertia is what happens when all five rows of the causal table are true simultaneously. It is the total navigation failure. Make this visceral: name organisations that experienced it. The pattern is always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FIVE FORCES: CAUSAL ANALYSIS (Select each force to explore)
Content:
Each of the five force categories is a permanent feature of the environment in which every organisation operates. Competitive and disruptive forces are examined together because they produce the same mechanism. None can be managed away. None takes a break when performance is strong. Each produces a specific and predictable consequence when organisations stop navigating it.
Forces 1–2
Competitive + Disruptive
Force 3
Macro-Environmental
Force 4
Social + Environmental
Force 5
Internal
All Five
Success Inertia
Competitive + Disruptive Forces → Momentum Illusion
In daily execution, competitive and disruptive forces move quietly in the background of every commercial decision, every customer conversation, every quarterly review. A competitor repositions. A new entrant captures a segment the organisation considered low-value. A technology application begins solving the same customer problem in a different way — at lower cost, with greater convenience — at the margins of the market.
None of these movements appear as crises on the day they begin. They appear as gradual shifts: win rates that move slightly, customer acquisition costs that increase incrementally, renewal conversations that feel subtly different. Organisations navigating these forces read those signals in real time. Organisations that are not explain each shift as temporary noise — until the pattern is undeniable.
Daily Execution Signal
Gradual shifts in win rates, customer acquisition costs, and renewal conversations. Competitors responding faster to market changes. Customers referencing alternatives that did not exist in last year’s review.
Navigation Discipline
Continuous competitive monitoring embedded in the operational rhythm. The question in every commercial review is “what has moved in our competitive and disruptive landscape since we last looked — and does our approach still match the landscape as it is now?”
When unnavigated produces: Momentum Illusion. The organisation is running a playbook that once produced results in a competitive and disruptive landscape that has since moved. The results still appear acceptable. The playbook is already obsolete.
Macro-Environmental Forces → Complexity Creep
Macro-environmental forces — economic cycles, regulatory frameworks, political dynamics, and technological infrastructure — are experienced as the background conditions that constrain or enable every operational decision. These forces are often slow-moving, which makes them easy to discount. But their cumulative effect on the definition of good performance is enormous.
The characteristic danger of macro-environmental forces is accumulation. A regulation tightened three years ago, another two years ago, a third last year — none individually disruptive, together a fundamentally different operating constraint. The organisation has adapted to each change incrementally, building a structural response each time, without stepping back to examine the cumulative weight of all responses together.
Daily Execution Signal
Processes and governance layers that no one can explain the current purpose of. Approval requirements that pre-date three regulatory cycles. Budget structures built for economic conditions that no longer exist. Committees that were formed in response to a specific event and never dissolved.
Navigation Discipline
Quarterly macro-environmental scanning at the leadership level. The question is “which of our current structural responses was built for a macro condition that has now changed — and should therefore be stopped?”
When unnavigated produces: Complexity Creep. Old structural responses to old conditions accumulate permanently as organisational weight. The macro environment has changed. The structures have not.
Social + Environmental Forces → Legitimacy Erosion
Social and environmental forces operate simultaneously across every stakeholder relationship the organisation maintains. Customer expectations about how organisations behave, as well as what they produce, evolve continuously. Employee expectations about purpose, fairness, and leadership conduct shift generationally and in response to social events that have nothing to do with the organisation directly. Investor expectations about governance, environmental impact, and social accountability have moved from peripheral to central in most sectors.
The critical feature of these forces is that they operate through perception and legitimacy. An organisation can be operationally excellent and commercially strong while its legitimacy is eroding — because stakeholder expectations have moved and enterprise behaviour has not. The erosion is invisible in operational metrics until it surfaces as recruitment difficulty, customer advocacy decline, regulatory scrutiny, or investor concern.
Daily Execution Signal
Recruitment conversations where candidates ask questions about values and practices that were not asked three years ago. Customers raising expectations in account reviews that feel different from previous cycles. Investor questions about governance and disclosure that are more pointed than historical norms. Regulatory attention before any formal requirement changes.
Navigation Discipline
Continuous stakeholder intelligence that reads emerging expectations. Expectation leads formal demand by twelve to eighteen months in most sectors. The Start discipline of KISS is most directly activated here: what must the organisation begin building now in its practices, disclosures, governance, and enterprise behaviour before the expectation becomes a non-negotiable requirement?
When unnavigated produces: Legitimacy Erosion. Enterprise behaviour remains anchored to what once earned stakeholder approval while expectations have moved. By its own historical standards, the organisation is behaving well. It is simply no longer meeting the current standards of its stakeholder universe.
Internal Forces → Execution Regression
Every organisation has a cultural gravity — a set of norms, habits, assumptions, and enterprise behaviour patterns that have been reinforced over years or decades of operating history. This internal gravity exerts continuous force on every decision, every meeting, every performance conversation, every escalation. It pulls the organisation toward its historical pattern regardless of what the strategy says or what the leadership team has committed to.
Internal forces are unique among the five because they operate entirely within the organisation’s own boundaries. They cannot be read in a market report or a regulatory update. They must be read in the daily observable behaviour of the enterprise — in how decisions are actually made versus how the governance structure says they should be made, in what actually gets discussed in leadership forums versus what appears on the agenda, in which conversations happen in the room and which happen afterwards.
Daily Execution Signal
The gap between what the strategy says and what daily decisions, meetings, and enterprise behaviours actually reflect. Review conversations that feel operationally busy but strategically vague. Accountability standards applied unevenly. The language of strategic direction disappearing from operational discussions.
Navigation Discipline
Continuous reading of the internal force field through structured diagnostics — the Organisational Health Thermometer, the ACE-IT coaching model, and the KISS reflection applied as permanent executive operating disciplines. The question is “is the organisation’s daily enterprise behaviour matching the strategic direction, or are internal forces pulling it back toward the historical pattern?”
When unnavigated produces: Execution Regression — and uniquely amplifies all three other mechanisms simultaneously. An organisation whose internal forces are reasserting has no capacity to navigate external forces. It is fighting itself while fighting the environment at the same time.
All Five Unnavigated → Success Inertia
Success Inertia is the total navigation failure — the state in which all five force categories have moved and the organisation is still positioned for the environment that existed when its results were strong.
Success Inertia operates through a deeply human mechanism. When an approach produces strong results, the people who designed and executed it develop a natural conviction in its continued validity. The strategy worked. The processes delivered. The enterprise performed. Why would we change what is working?
This conviction is understandable and dangerous, because the environment that rewarded the approach has already changed. The organisation’s attachment to the approach that succeeded is precisely what prevents it from developing the approach that will succeed next.
Success Inertia is Performance Gravity applied to all five forces simultaneously. Competitive landscape moved — untracked. Macro conditions accumulated weight — unremoved. Stakeholder expectations evolved — unread. Internal behaviour patterns reasserted — unaddressed. And through all of it, the organisation continued to believe that what worked yesterday will sustain tomorrow.
Every organisation that has ever achieved something significant and then lost it followed this pattern. It lost through the quiet accumulation of five unnavigated force movements, each individually dismissible, collectively devastating.
Participant file (2.1 — The Five Forces: Causal Analysis) — prompts participants complete:
- ✎ Which force category is most actively moving in your operating environment right now? Force category How it is moving Gravity mechanism it produces Earliest evidence in daily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THE CAUSAL MAP: FORCES PRODUCE PERFORMANCE GRAVITY
Content:
Force Movement | When Unnavigated Produces | Daily Execution Signal
Competitive + Disruptive forces shift | Momentum Illusion — the enterprise competes with a playbook the market has already moved past | Gradual win rate shifts, customer acquisition cost creep, renewal conversations that feel different
Macro-environmental forces accumulate | Complexity Creep — structural responses to old conditions accumulate permanently as organisational weight | Processes no one can justify, governance layers built for conditions that no longer exist
Social + Environmental forces evolve | Legitimacy Erosion — enterprise behaviour anchored to what once earned approval while expectations have moved | Recruitment difficulty, advocacy softening, investor questioning before any formal requirement changes
Internal forces reassert | Execution Regression — the organisation reverts to historical operating patterns, amplifying all other mechanisms | Gap between strategy and daily enterprise behaviour, accountability applied unevenly, strategic language disappearing from operations
All five unnavigated simultaneously | Success Inertia — total navigation failure. The organisation is positioned for an environment that no longer exists. | Results decline that leadership cannot explain because they have stopped reading the forces that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The Alignment Brigade — ABCV — KISS Navigation Chain
Where force movements appear first across the enterprise, how to read what they mean for strategic position, and how to determine the navigation response.
Section learning outcomes:
1. Locate where force movements appear first across the enterprise.
2. Determine what each movement means for strategic position and the response it requires.
FACILITATOR GUIDANCE — Extrapolating
This section runs in three connected parts. The Alignment Brigade shows WHERE. ABCV shows HOW TO READ IT. KISS shows HOW TO RESPOND. These three are sequentially dependent — do not allow leaders to jump to KISS without completing the ABCV diagnostic. The quality of the KISS response is entirely dependent on the quality of the ABCV reading.
On the Alignment Brigade: Each row now shows the primary force category alongside the domain. Ask each leader to read their own row and identify which early warning signal is already present. If none are present, ask: “How confident are you that you would see the signal if it appeared?”
On ABCV: Participants encountered this in Unit 4 as the OKR stress-test. Make the elevation explicit: “In Unit 4, ABCV tested whether your strategic commitments were soundly built. Here it tests whether they still hold as forces move. Same instrument, elevated purpose.” For each ABCV card, ask leaders to apply the navigation question to the most significant force movement currently active in their environment.
On the Navigation Chain: The chain is the practical payoff of the entire unit. Walk through it once as a group using a real example from the room before the Application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PART 1 · THE ALIGNMENT BRIGADE (WHERE forces pull hardest · 10 leadership domains)
Content:
Force movements surface first in specific leadership domains — where the organisation’s interface with that force is closest. The Alignment Brigade maps each domain to its primary force category, its characteristic drift pattern, its early warning signals, and the ABCV navigation questions most relevant to that domain.
CEO
Strategic Coherence
Competitive + Disruptive
How Force Drift Emerges
The strategic narrative fragments. Business units interpret priorities differently. Initiatives proliferate without clear connection to strategic intent. Competitive movements are acknowledged but not integrated into the strategic direction.
Early Warning Signals
Different interpretations of priorities in leadership forums. Initiatives competing for attention without a clear hierarchy. The language of strategic direction disappearing from operational reviews.
ABCV Navigation Questions
A — Arena: Has the customer end-game we are competing for shifted? C — Competition: Are we tracking all alternatives the customer now has?
CFO
Capital Discipline
Macro-Environmental
How Force Drift Emerges
Resource allocation responds to historical spending and internal influence. Budget structures built for economic or regulatory conditions that have since changed remain unchanged.
Early Warning Signals
Strategic initiatives underfunded while legacy activities remain fully resourced. Financial reviews focused on variance alone. Budget conversations anchored to prior-year baselines.
ABCV Navigation Questions
B — Boundaries: Which of our financial structures was built for macro conditions that no longer apply? What must be stopped?
COO
Execution Cadence
Internal
How Force Drift Emerges
Operational rhythms weaken. Performance reviews become less rigorous. Escalation pathways slow. The enterprise behaviour patterns that sustained execution momentum revert to historical defaults.
Early Warning Signals
Review meetings shortened or postponed. Operational issues persisting across multiple cycles without resolution. Teams relying on ad hoc interventions. The gap between strategic intent and daily operational behaviour widening.
ABCV Navigation Questions
B — Boundaries: What internal enterprise behaviour pattern is constraining execution? V — Value Proposition: Is our operational capability still delivering the distinctive quality our value proposition requires?
CHRO
Organisational Health
Internal + Social
How Force Drift Emerges
Enterprise behaviour patterns — trust, clarity, accountability — erode as internal forces reassert. Simultaneously, employee expectations about how organisations should operate have shifted, creating a legitimacy gap.
Early Warning Signals
Reduced willingness to surface problems early. Increased friction in cross-functional settings. Health Thermometer scores declining. Recruitment conversations raising questions about enterprise culture that were not raised previously.
ABCV Navigation Questions
V — Value Proposition: Does our employee experience still reflect the enterprise we claim to be? B — Boundaries: Which cultural constraints are we no longer operating within?
CTO / CIO
Technology Enablement
Macro-Environmental + Disruptive
How Force Drift Emerges
Technology investments fall out of alignment with operational and strategic needs. Disruptive technology applications emerge in adjacent sectors and are not systematically tracked. Macro-level technological infrastructure evolves and creates new possibilities the organisation has not assessed.
Early Warning Signals
Teams creating manual workarounds. Fragmented data systems slowing decision-making. Technology roadmaps diverging from strategic priorities. Competitor technology capability advancing faster than the organisation’s.
ABCV Navigation Questions
C — Competition: What technology-based alternatives are emerging that our customers might choose? B — Boundaries: Which technology constraints are now limiting execution in ways the infrastructure no longer justifies?
CMO
Market Intelligence
Competitive + Disruptive + Social
How Force Drift Emerges
Depth of customer intelligence declines as attention turns inward. Marketing activity continues but increasingly reflects who the customer was. Disruptive forces at the market margins are not tracked.
Early Warning Signals
Customer satisfaction metrics declining subtly before visibly. Product or service adjustments lagging behind shifting expectations. Competitors responding faster to market changes. Commercial teams reporting customer conversations that reveal misalignment.
ABCV Navigation Questions
A — Arena: Has the customer end-game we are competing for shifted? What is the customer actually trying to achieve now? C — Competition: Who else is solving this problem — including alternatives that look nothing like us?
CCO
Revenue Conversion
Competitive + Internal
How Force Drift Emerges
The connection between market opportunity and revenue conversion weakens. Commercial enterprise behaviour softens as pipeline appears healthy. Internal habits around pipeline discipline revert to less rigorous defaults.
Early Warning Signals
Pipeline growth without proportional revenue. Declining win rates. Increasing sales cycle duration. Commercial teams explaining performance through external factors alone.
ABCV Navigation Questions
C — Competition: What specific advantage do we hold over every alternative the customer is now considering? V — Value Proposition: Are we winning on our distinctive edge or on price — and what does that reveal?
CPO
Supply Resilience
Macro-Environmental + Social
How Force Drift Emerges
Procurement decisions prioritise short-term cost reduction over strategic partnership and supply resilience. Social and environmental expectations of major customers and investors regarding supply chain practices have evolved and are not being tracked.
Early Warning Signals
Supplier reliability declining. Cost volatility increasing. Customers and investors raising supply chain questions that were not previously part of commercial or governance conversations.
ABCV Navigation Questions
B — Boundaries: What supply chain constraints have the macro environment and social expectations introduced that our procurement model has not yet addressed?
CRO
Risk Intelligence
Social + Environmental
How Force Drift Emerges
Stakeholder expectations about risk transparency, accountability, and proactive governance have evolved significantly. The organisation’s risk management approach remains anchored to the compliance expectations of a prior stakeholder environment.
Early Warning Signals
Increasing operational surprises not anticipated by risk registers. Risk conversations that are reactive. Investors, regulators, and other stakeholders raising risk questions that the governance process does not yet address.
ABCV Navigation Questions
V — Value Proposition: Does our risk governance reflect the enterprise integrity our stakeholders now expect? A — Arena: Which stakeholder groups’ expectations of us have moved beyond what our current risk approach is designed to address?
CSO
Strategy Translation
All Five
How Force Drift Emerges
Strategic intent remains clear at the executive level but its translation into daily operational direction becomes uneven as all five forces move simultaneously and the strategy is not recalibrated in response.
Early Warning Signals
Teams struggling to connect operational priorities to strategic direction. OKRs drifting from strategic objectives. Execution conversations operationally busy but strategically vague. The enterprise operating from last year’s strategic map.
ABCV Navigation Questions
Full ABCV diagnostic: A (Arena shifted?), B (Boundaries tightened?), C (Competition reshaped?), V (Value Proposition eroding?) — all four questions apply when force movements accumulate across the enterprise.
Participant file (3.1 — Part 1 · The Alignment Brigade) — prompts participants complete:
- ✎ Your domain ABCV question Early warning signal present Force producing it ABCV question it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PART 2 · ABCV AS THE NAVIGATION DIAGNOSTIC (HOW TO READ what force movement means for strategic position)
Content:
When the Alignment Brigade detects force movement in any domain, the ABCV framework provides the diagnostic instrument that reveals what that movement means for the organisation’s strategic position. Introduced in this programme as the OKR integrity stress-test, ABCV reaches its full strategic purpose here: four diagnostic questions applied to any detected force movement, each with a Must-Be-True condition that identifies the precise moment a navigation response is required.
For each force movement detected: run the four ABCV navigation questions. When a MBT condition can no longer be confirmed as true — that is the navigation signal. That is when KISS is activated.
Arena
The Customer End-Game
Navigation Question
Has this force shifted the customer end-game we are competing for? Are we still solving the right problem for the right stakeholders in the right way?
Strategic Logic
Strategy starts with a clear definition of the arena — the specific customer need the organisation is competing to serve. Force movements — competitive, disruptive, and social — threaten execution and fundamentally shift the arena itself. The customer’s problem evolves. The job they need done changes. The context in which they experience your solution is different from the context in which it was designed.
Must-Be-True Condition
What must remain true about the relevance of the customer problem we are solving for our current approach to remain the right approach?
When Not Examined
When Competitive or Disruptive forces move and Arena is not re-examined: the organisation continues serving a problem the customer has either solved another way, deprioritised, or reframed entirely. Revenue can be temporarily maintained through relationship inertia while the Arena has already shifted away.
Boundaries
The Friction Architecture
Navigation Question
Has this force created new operational, regulatory, or cultural constraints on our ability to deliver? Are we operating within boundaries that the current environment no longer imposes — or failing to recognise boundaries that it does?
Strategic Logic
Boundaries are the internal and external constraints within which the organisation must operate. Macro-environmental forces move these boundaries continuously — regulations tighten, economic conditions shift, technology changes what is operationally possible. Internal forces also create boundaries through cultural habits and enterprise behaviour patterns that constrain what people are actually willing to do, regardless of what the strategy says.
Must-Be-True Condition
What must remain true about our operational and regulatory environment for our current delivery model to continue functioning within tolerance?
When Not Examined
When Macro-environmental or Internal forces move and Boundaries are not re-examined: the organisation continues operating within self-imposed constraints that the current environment does not require — or fails to recognise new constraints the environment has introduced. Complexity Creep is the result of boundaries accumulated and never reviewed.
Competition
The True Landscape
Navigation Question
Has this force changed who we are actually competing against — including alternatives the customer now has that did not previously exist?
Strategic Logic
Competition is defined by the customer’s choice set. When Competitive and Disruptive forces move, the set of alternatives available to the customer changes. New entrants solve the same problem differently. Technology creates self-service alternatives. Adjacent competitors develop capability that makes them viable for previously loyal customers. The organisation that defines competition by reference to historical peers misses the force movements that matter most.
Must-Be-True Condition
What must remain true about our specific advantage relative to every alternative the customer could now choose?
When Not Examined
When Competitive or Disruptive forces move and Competition is not re-examined: the organisation maintains advantage over competitors it knows while losing ground to competitors it is not watching. Win rate shifts are explained by execution, and the fundamental change in the competitive landscape goes unexamined.
Value Proposition
Coherent Advantage
Navigation Question
Has this force changed whether our distinctive advantage still holds — or is what differentiated us becoming the new baseline?
Strategic Logic
The Value Proposition is the distinctive edge that defines the organisation’s position. Social and Environmental forces move this constantly — what was distinctive practice becomes expected standard. What earned trust in one stakeholder environment fails to earn it in the next. Internal forces erode value proposition coherence when enterprise behaviour drifts away from the standards that made the proposition credible. The organisation that mistakes its current value proposition for a permanent advantage is already in the early stages of Legitimacy Erosion.
Must-Be-True Condition
What must remain true about the distinctiveness of our advantage for our current positioning to remain credible to the stakeholders whose choice sustains our performance?
When Not Examined
When Social, Environmental, or Internal forces move and Value Proposition is not re-examined: the organisation continues investing in maintaining a distinction that stakeholders no longer perceive as distinctive. Legitimacy Erosion is the consequence. The cost is visible only when the erosion has already compounded to a level that is expensive to reverse.
Participant file (3.2 — Part 2 · ABCV as the Navigation Diagnostic) — prompts participants complete:
- ✎ Apply ABCV to the most significant force movement currently active in your environment Force moving A — Arena (end-game still the same?) B — Boundaries (constraints changed?) C — Competition (alternative set changed?) V — Value Proposition (edge still holding?) MBT condition most under threat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PART 3 · THE NAVIGATION CHAIN (HOW TO RESPOND · Forces → ABCV → KISS)
Content:
The navigation chain closes the loop from force detection to leadership response. It is the operational logic that leaders carry into every quarterly review, every performance conversation, every strategic decision.
1
Detect the Force Movement
The Alignment Brigade identifies where force movements are appearing first. Which domain? Which primary force? Which early warning signal has appeared?
↓
2
Run the ABCV Diagnostic
Apply the four navigation questions to the detected force movement. Which MBT condition is under threat? Arena, Boundaries, Competition, or Value Proposition?
↓
3
Identify the Invalidated Assumption
The MBT condition that can no longer be confirmed as true is the precise strategic assumption the force movement has invalidated. This is what the navigation response must address.
↓
4
Activate KISS
The KISS discipline that responds to each ABCV finding:
ABCV Finding | MBT Condition Invalidated | KISS Response
Arena shifted | Customer end-game no longer matches current approach | Start capability for the new end-game. Stop investment optimised for the old one. Improve market intelligence rhythm.
Boundaries tightened or loosened | Operating environment no longer matches structural response | Stop structures built for conditions that no longer apply. Improve practices now constrained by new boundaries. Start building for the new constraint environment.
Competition reshaped | Distinctive advantage no longer holds against full alternative set | Keep what sustains genuine differentiation. Start building advantage relevant to the new competitive landscape. Improve competitive intelligence rhythm.
Value Proposition eroding | Distinctive edge no longer perceived as distinctive by stakeholders | Improve what is drifting from the distinctive standard. Stop what is diluting distinctiveness. Start the repositioning the new stakeholder expectation requires.
This chain is a permanent navigation logic applicable in any industry, in any quarterly review, by any leadership team that wants to understand why their performance is sustaining or declining — and what precisely to do about it.
Guidance (Section 3): Walk through the chain once as a group using a real example from the room before the Application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The S2R® Collective Intelligence Review
The four navigation instruments operating as a single quarterly collective discipline — detecting force movements across the enterprise and coordinating the navigation response before Performance Gravity takes hold.
Section learning outcomes:
1. Establish a collective leadership rhythm for detecting and responding to force movements.
2. Coordinate the enterprise response to evolving conditions.
FACILITATOR GUIDANCE — Integration
Frame the Collective Intelligence Review explicitly as a navigation operating rhythm. It exists because no individual leader can read all five forces across all ten domains. The Review is the mechanism through which the enterprise develops collective force awareness — the shared, real-time understanding of which forces are moving, which strategic assumptions they are invalidating, and which KISS responses are required.
The quarterly commitment is the output of this section. Before leaving the Integration section, the group should name a date, a lead for each of the four conversations, and a format for capturing and acting on the output. If no date is named, the Review will not happen.
The four instruments are in the notes of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S2R® COLLECTIVE INTELLIGENCE REVIEW (select each instrument in the file)
Content:
The four navigation instruments are most powerful when used together in a structured quarterly conversation. Individually, each surfaces a part of the force environment. Together, they produce a complete picture of where forces are moving, which strategic assumptions are under threat, and what navigation responses are required across the enterprise. Select each instrument to understand its navigation role.
ESRG Scanner
Led by: COO, CTO/CIO, CHRO, CFO · Purpose: Diagnose the Operating Conditions
Evaluates whether the organisation’s Environment, Systems, Resources, and Governance conditions are enabling or constraining strategic delivery. In the navigation context, the ESRG Scanner surfaces the structural consequences of Macro-environmental and Internal force movements — the Complexity Creep and Execution Regression that has accumulated since the last review.
Navigation Questions for This Review
Which of our current structural conditions was built for a force environment that has since changed?
Where is Complexity Creep most visible in our current operational architecture?
Which governance constraints are now slowing execution beyond what the current environment requires?
Enterprise COMPASS
Led by: CEO, CSO · Purpose: Align the Enterprise
Evaluates alignment across seven critical execution zones. In the navigation context, the COMPASS assessment reveals where force movements have created divergence between strategic intent and operational reality — where the enterprise is moving in different directions because different parts are responding to different signals from the same forces.
Navigation Questions for This Review
Where is strategic direction being interpreted differently across the enterprise?
Which execution zone is showing the greatest gap between strategic intent and operational behaviour?
Where is the force movement creating the most significant strategic misalignment?
KISS Reflection
Led by: All leaders for their respective domains · Purpose: Reinforce the Navigation Discipline
Each leader shares the KISS reflection from their domain: what is being Kept, Improved, Stopped, and Started. In the navigation context, the KISS reflection reveals the collective navigation posture of the enterprise — where the organisation is actively navigating forces and where it is not. The patterns across multiple KISS reflections reveal which forces are being tracked and which are being ignored.
Navigation Questions for This Review
Which force movement is producing the most STOP decisions across domains?
Where are the most urgent START investments appearing?
Which domain has the most Improve signals — and which force is producing them?
Organisational Health Thermometer
Led by: CHRO, CEO · Purpose: Monitor the Behavioural Climate
Reviews organisational health signals emerging across teams. In the navigation context, the Health Thermometer reads the internal force environment — detecting Execution Regression before it becomes fully established. Declining health scores are the earliest available signal that internal forces are reasserting.
Navigation Questions for This Review
Which of the five health traits is declining — and which internal force movement is driving it?
Where is the gap between the enterprise behaviour the strategy requires and the enterprise behaviour the Health Thermometer is detecting?
Which ACE-IT guardrail is most urgently needed to stabilise the internal force environment?
When the S2R® Collective Intelligence Review is conducted consistently, the leadership team develops collective navigation intelligence — the shared, real-time awareness of which forces are active, which MBT conditions are under threat, and which KISS responses are required to sustain performance. This is the enterprise-level capability that separates organisations that sustain performance from those that achieve it once.
Guidance (Section 4): The quarterly commitment is the output of this section. Before leaving the Integration section, the group should name a date, a lead for each of the four conversations, and a format for capturing and acting on the output. If no date is named, the Review will not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Force-Anchored Scenarios — ABCV Diagnostic — KISS Response
Practising the full navigation chain in real leadership domains — from force detection through diagnostic to specific operational response.
Section learning outcomes:
1. Exercise forward-looking judgement from force detection to navigation response in a real leadership domain.
2. Commit to a specific navigation decision with a named date.
FACILITATOR GUIDANCE — Application
The exercise runs the full chain — do not shortcut it. The most common failure in this exercise is leaders jumping to the KISS response without completing the ABCV diagnostic. Push back: “Before you name the KISS response — which MBT condition has been invalidated? Which ABCV letter?” The quality of the KISS response depends entirely on the precision of the ABCV reading.
Each scenario is anchored to a specific force and a specific domain — but leaders should choose the scenario closest to their own reality. The CMO in the room may find the CFO scenario more relevant. Let them choose on the basis of recognition.
The Programme Commitment is the final output. Each leader names publicly: the force most active in their organisation, the ABCV MBT condition most under threat, and one specific KISS response with a named date. These are navigation decisions made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PART 1 · THE NAVIGATION CHAIN SCENARIOS (choose the closest to your reality)
Guidance (Application): Push back if a leader jumps to KISS: “Before you name the KISS response — which MBT condition has been invalidated? Which ABCV letter?” Let leaders choose the scenario on the basis of recognition.
Content:
Four scenarios, each grounded in a real leadership domain. Each names a specific force movement, identifies the ABCV MBT condition under threat, and asks you to complete the KISS navigation response. Choose the scenario closest to your current reality. Use the navigation chain: Force → ABCV → KISS.
Scenario 1
Internal
The COO’s Execution Rhythm
Performance Gravity: Execution Regression · Domain: COO — Execution Cadence
A manufacturing organisation delivered three consecutive strong performance quarters. The COO’s execution rhythm was rigorous during that period: weekly cross-functional reviews, disciplined escalation protocols, structured performance dashboards. Results were consistently strong. Four months later, the results are still acceptable — but the rhythm has quietly changed. Weekly reviews have moved to fortnightly. Dashboard discipline has softened. Issues that would previously have been escalated within 24 hours are now sitting with teams for a week. No one has formally decided to relax the standards. The internal force — the organisation’s historical habit of less rigorous review cadences before the improvement period — has quietly reasserted. Enterprise behaviour has begun reverting to the pattern that predated the performance improvement.
ABCV Diagnostic — Which MBT Condition Is Invalidated?
Boundaries (B): Internal enterprise behaviour patterns are now constraining execution quality. The boundary between the strategic standard and the historical default has shifted.
Must-Be-True Condition to Test
What must remain true about our internal enterprise behaviour and execution standards for our current performance level to continue? Can we still confirm that our operational discipline matches the standard that produced the results we are sustaining?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
Scenario 2
Macro-Environmental
The CFO’s Legacy Budget
Performance Gravity: Complexity Creep · Domain: CFO — Capital Discipline
A financial services organisation completed a rigorous zero-based budgeting exercise eighteen months ago, aligning all resources to strategic priorities. The exercise was disciplined and effective. Since then, two macro-environmental shifts have occurred: a significant regulatory change that created new compliance requirements absorbing capacity from strategic initiatives, and an economic cycle shift that has changed the cost of capital and the assumptions behind several major investment decisions. Neither shift has been formally integrated into the budget structure. The regulatory compliance costs have been absorbed additively. The investment assumptions have not been revisited. The budget still reflects the macro environment of eighteen months ago. Strategic initiatives are underfunded relative to their current importance. Legacy cost structures have quietly re-established their original funding levels.
ABCV Diagnostic — Which MBT Condition Is Invalidated?
Boundaries (B): Macro-environmental forces have created new operational and regulatory constraints that the budget structure was not built for. Old structural responses to old conditions are accumulating as weight.
Must-Be-True Condition to Test
What must remain true about the macro-environmental conditions — regulatory, economic, and technological — for our current capital allocation to continue supporting our strategic priorities? Can we still confirm those conditions hold?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
Scenario 3
Competitive + Disruptive
The CMO’s Comfortable Intelligence
Performance Gravity: Momentum Illusion · Domain: CMO — Market Intelligence
A retail organisation’s marketing function produced exceptional results during a strong strategic period. Brand awareness improved. Customer acquisition costs declined. The CMO built a reputation for commercial insight. The customer intelligence underpinning this performance was built twenty months ago. Since then, competitive forces have moved: two new entrants have positioned in segments previously considered low-priority, and a technology-enabled alternative has emerged that solves a significant portion of the customer’s problem at a lower price point. The CMO’s team is executing the existing strategy with discipline. But the foundational customer intelligence — who the customer is, what they are trying to achieve, and who else is competing for that achievement — has not been meaningfully updated. The playbook is running well. The landscape it was built for has moved.
ABCV Diagnostic — Which MBT Condition Is Invalidated?
Arena (A): The customer end-game may have shifted. Competitive + Disruptive (C): The alternatives the customer now has include entrants and technology solutions that were not present when the strategy was built.
Must-Be-True Condition to Test
What must remain true about the customer problem we are solving and the alternatives available to the customer for our current marketing approach to continue producing the results it achieved when built? Can we still confirm both?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
Scenario 4
Social + Environmental
The CRO’s Legitimacy Gap
Performance Gravity: Legitimacy Erosion · Domain: CRO — Risk Intelligence
A professional services organisation has maintained what is widely regarded as exemplary risk governance. The risk register is comprehensive, current, and consistently well-reviewed. Audit feedback has been positive for multiple cycles. However, social and environmental forces have moved significantly. Institutional investors — who represent a material portion of the organisation’s client base — have shifted their expectations about risk governance from compliance demonstration to strategic integration. They now expect risk intelligence to be visibly embedded in strategic decision-making as well as in governance reporting. Several major clients have begun asking in commercial conversations about how the organisation’s risk thinking shapes its strategic choices. The CRO’s governance approach was built for a stakeholder environment in which compliance demonstration earned approval. That environment has moved. The value proposition of the risk function — what it offers to internal and external stakeholders — is eroding because what stakeholders now value has advanced.
ABCV Diagnostic — Which MBT Condition Is Invalidated?
Value Proposition (V): Social and environmental force movements have shifted what stakeholders perceive as distinctive and valuable risk governance. The current approach no longer earns the approval it once earned from the stakeholder universe that now matters most.
Must-Be-True Condition to Test
What must remain true about what our stakeholders consider credible, distinctive, and valuable risk governance for our current approach to continue earning their confidence? Can we still confirm that the enterprise integrity our stakeholders now expect is reflected in how we govern risk?
Apply the KISS navigation response: given which ABCV MBT condition is invalidated, what specifically should this leader Keep, Improve, Stop, and Start?
KISS | ABCV Finding | Specific Navigation Decision
Keep | What still holds and must be protected
Improve | What has shifted and needs recalibration
Stop | What was built for conditions that no longer apply
Start | What the current force environment now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PART 2 · THE NAVIGATION COMMITMENT (The final public commitment)
Question 1
“Which of the five force categories is most actively moving in your operating environment right now — and which Performance Gravity mechanism is it producing in your organisation?”
Name the force. Name the mechanism. Name the evidence already visible in daily execution.
Question 2
“Apply ABCV to that force movement. Which MBT condition is most under threat — Arena, Boundaries, Competition, or Value Proposition?”
The ABCV letter that names the threatened assumption is the precise point where the navigation response must focus.
Question 3
“What is the one KISS decision — specific, named, dated — that you are committing to make in the next thirty days in response to that ABCV finding?”
One KISS decision. One named action. One named date. Witnessed by this group.
Content:
Sustained performance is a navigation discipline practised continuously — reading the forces that shape the environment, diagnosing what their movements mean for strategic position, and making the four KISS decisions that keep the organisation moving with the environment.
Every organisation in every industry faces the same five force categories. Every quarter, those forces have moved. The question is whether the organisation is tracking the movement — and whether the leadership team is translating that tracking into specific navigation decisions.
That is the discipline of sustained performance. It is available to every organisation that chooses to practise it — permanently, consistently, and with increasing skill.
That is the organisation you have the capability to become.
Three questions. Answered publicly. In this room.
Participant file (5.2 — Part 2 · The Navigation Commitment) — prompts participants complete:
- “Which of the five force categories is most actively moving in your operating environment right now — and which Performance Gravity mechanism is it producing?” Name the force. Name the mechanism. Name the evidence already visible in daily execution. Force Mechanism it is producing Evidence already visible
- “Apply ABCV to that force movement. Which MBT condition is most under threat?” A (Arena), B (Boundaries), C (Competition), or V (Value Proposition)? ABCV letter MBT condition no longer confirmable What this means for strategic position
- “What is the one KISS decision — specific, named, dated — I am committing to make in the next thirty days?” One KISS discipline (K/I/S/S). One named action. One named date. KISS discipline Specific action Named date How this group will hold me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12 synthesis · S2R® Programme Close)
Content:
The final unit addresses the question that no strategy programme asks but every organisation eventually faces: now that performance has been achieved, how is it kept? The answer this unit provides is precise: sustained performance is the continuous navigation of five force categories that never stop moving — using ABCV to diagnose what each movement means, and KISS to determine the specific response.
Awareness — What
Performance Gravity is the predictable organisational consequence of five external forces moving while the enterprise stays still. Three mechanisms — Momentum Illusion, Complexity Creep, and Execution Regression — each produced by a specific force category. KISS provides the four navigation disciplines that counter each mechanism.
Intelligence — Why
Each of the five force categories produces a specific consequence when unnavigated: Competitive + Disruptive → Momentum Illusion; Macro-environmental → Complexity Creep; Social + Environmental → Legitimacy Erosion; Internal → Execution Regression. All five unnavigated simultaneously → Success Inertia. This is causal.
Extrapolating — Where
The Alignment Brigade surfaces force movements across ten leadership domains. ABCV provides the diagnostic: which MBT condition has the force movement invalidated? The Navigation Chain closes the loop: Force detected → ABCV reveals invalidated assumption → KISS determines the response.
Integration — Collective
The S2R® Collective Intelligence Review — four instruments, quarterly cadence — is the mechanism through which the enterprise develops collective navigation intelligence. No individual leader can read all five forces. The Review is the collective capability that makes sustained navigation possible.
Application — In Practice
Four industry-grounded scenarios, each anchored to a specific force movement and ABCV diagnostic. The navigation chain practised in a real leadership domain. The Programme Commitment names the vulnerability and the response publicly.
You came into this programme with a strategy. You leave with a navigation discipline.
The five forces were named at the start of this programme. The instruments to navigate them were built across its units — ABCV to stress-test strategic assumptions, the Health Thermometer to read internal force movements, the ESRG Scanner to diagnose the operating environment, and KISS to determine the response. In this final unit, they come together as a single navigation system applicable in any industry, in every quarterly review, permanently.
Performance Gravity is real. It is patient. And it never stops pulling. But so is navigation discipline — when it is applied consistently, collectively, and with increasing precision by leaders who understand which forces are moving and what those movements require.
That is the organisation you have the capability to become.
Keep climbing.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4 · Grounding · Unit 12</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Sustaining Performance</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Sustained performance is the continuous navigation of five forces that never stop moving</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short-term performance attainment from sustained institutional capability.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organisational resilience and adaptability as internal and external conditions evolve.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sources of performance drift and the early erosion of strategic coherence.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Exercise forward-looking executive judgement that protects organisational value and long-term performance.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Performance Gravity — and the KISS Navigation Disciplines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forces that pull performance back towards average.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navigation disciplines that sustain performance against that pull.</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The navigation premise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The forces in your operating environment never stop moving.</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Performance Gravity is what happens when forces move and the organisation does not move with them.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Three mechanisms of Performance Gravity</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Momentum Illusion</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Competitive + Disruptive forces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Complexity Creep</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Macro-environmental forces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Execution Regression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Internal forces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Each mechanism is the consequence of a force category going unnavigated.</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KISS: the four navigation disciplines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K · Keep  </a:t>
            </a:r>
            <a:pPr indent="0" marL="0">
              <a:buNone/>
            </a:pPr>
            <a:r>
              <a:rPr lang="en-US" sz="2600" dirty="0">
                <a:solidFill>
                  <a:srgbClr val="1F2A22"/>
                </a:solidFill>
                <a:latin typeface="Calibri" pitchFamily="34" charset="0"/>
                <a:ea typeface="Calibri" pitchFamily="34" charset="-122"/>
                <a:cs typeface="Calibri" pitchFamily="34" charset="-120"/>
              </a:rPr>
              <a:t>what is working and must be protected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 · Improve  </a:t>
            </a:r>
            <a:pPr indent="0" marL="0">
              <a:buNone/>
            </a:pPr>
            <a:r>
              <a:rPr lang="en-US" sz="2600" dirty="0">
                <a:solidFill>
                  <a:srgbClr val="1F2A22"/>
                </a:solidFill>
                <a:latin typeface="Calibri" pitchFamily="34" charset="0"/>
                <a:ea typeface="Calibri" pitchFamily="34" charset="-122"/>
                <a:cs typeface="Calibri" pitchFamily="34" charset="-120"/>
              </a:rPr>
              <a:t>what has shifted and needs recalibration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Stop  </a:t>
            </a:r>
            <a:pPr indent="0" marL="0">
              <a:buNone/>
            </a:pPr>
            <a:r>
              <a:rPr lang="en-US" sz="2600" dirty="0">
                <a:solidFill>
                  <a:srgbClr val="1F2A22"/>
                </a:solidFill>
                <a:latin typeface="Calibri" pitchFamily="34" charset="0"/>
                <a:ea typeface="Calibri" pitchFamily="34" charset="-122"/>
                <a:cs typeface="Calibri" pitchFamily="34" charset="-120"/>
              </a:rPr>
              <a:t>what is harming performance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Start  </a:t>
            </a:r>
            <a:pPr indent="0" marL="0">
              <a:buNone/>
            </a:pPr>
            <a:r>
              <a:rPr lang="en-US" sz="2600" dirty="0">
                <a:solidFill>
                  <a:srgbClr val="1F2A22"/>
                </a:solidFill>
                <a:latin typeface="Calibri" pitchFamily="34" charset="0"/>
                <a:ea typeface="Calibri" pitchFamily="34" charset="-122"/>
                <a:cs typeface="Calibri" pitchFamily="34" charset="-120"/>
              </a:rPr>
              <a:t>what the next level of performance requires</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the Five Forces Produce Performance Gravity When Unnavigated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unnavigated internal and external forces erode strategic coherence.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which force is most active in their organisation.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five forces, unnavigated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Competitive + Disruptive  </a:t>
            </a:r>
            <a:pPr indent="0" marL="0">
              <a:buNone/>
            </a:pPr>
            <a:r>
              <a:rPr lang="en-US" sz="2400" dirty="0">
                <a:solidFill>
                  <a:srgbClr val="1F2A22"/>
                </a:solidFill>
                <a:latin typeface="Calibri" pitchFamily="34" charset="0"/>
                <a:ea typeface="Calibri" pitchFamily="34" charset="-122"/>
                <a:cs typeface="Calibri" pitchFamily="34" charset="-120"/>
              </a:rPr>
              <a:t>→ Momentum Illusion</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Macro-Environmental  </a:t>
            </a:r>
            <a:pPr indent="0" marL="0">
              <a:buNone/>
            </a:pPr>
            <a:r>
              <a:rPr lang="en-US" sz="2400" dirty="0">
                <a:solidFill>
                  <a:srgbClr val="1F2A22"/>
                </a:solidFill>
                <a:latin typeface="Calibri" pitchFamily="34" charset="0"/>
                <a:ea typeface="Calibri" pitchFamily="34" charset="-122"/>
                <a:cs typeface="Calibri" pitchFamily="34" charset="-120"/>
              </a:rPr>
              <a:t>→ Complexity Creep</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Social + Environmental  </a:t>
            </a:r>
            <a:pPr indent="0" marL="0">
              <a:buNone/>
            </a:pPr>
            <a:r>
              <a:rPr lang="en-US" sz="2400" dirty="0">
                <a:solidFill>
                  <a:srgbClr val="1F2A22"/>
                </a:solidFill>
                <a:latin typeface="Calibri" pitchFamily="34" charset="0"/>
                <a:ea typeface="Calibri" pitchFamily="34" charset="-122"/>
                <a:cs typeface="Calibri" pitchFamily="34" charset="-120"/>
              </a:rPr>
              <a:t>→ Legitimacy Erosion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Internal  </a:t>
            </a:r>
            <a:pPr indent="0" marL="0">
              <a:buNone/>
            </a:pPr>
            <a:r>
              <a:rPr lang="en-US" sz="2400" dirty="0">
                <a:solidFill>
                  <a:srgbClr val="1F2A22"/>
                </a:solidFill>
                <a:latin typeface="Calibri" pitchFamily="34" charset="0"/>
                <a:ea typeface="Calibri" pitchFamily="34" charset="-122"/>
                <a:cs typeface="Calibri" pitchFamily="34" charset="-120"/>
              </a:rPr>
              <a:t>→ Execution Regression</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All five unnavigated  </a:t>
            </a:r>
            <a:pPr indent="0" marL="0">
              <a:buNone/>
            </a:pPr>
            <a:r>
              <a:rPr lang="en-US" sz="2400" dirty="0">
                <a:solidFill>
                  <a:srgbClr val="1F2A22"/>
                </a:solidFill>
                <a:latin typeface="Calibri" pitchFamily="34" charset="0"/>
                <a:ea typeface="Calibri" pitchFamily="34" charset="-122"/>
                <a:cs typeface="Calibri" pitchFamily="34" charset="-120"/>
              </a:rPr>
              <a:t>→ Success Inertia</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2.2 · The causal map</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Which row describes your organisation’s most urgent navigation challenge right now?</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Success Inertia: the organisation is positioned for an environment that no longer exists.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Alignment Brigade — ABCV — KISS Navigation Chain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Locate where force movements appear first across the enterprise.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what each movement means for strategic position and the response it requires.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Alignment Brigade: ten domains</a:t>
            </a:r>
            <a:endParaRPr lang="en-US" sz="3600" dirty="0"/>
          </a:p>
        </p:txBody>
      </p:sp>
      <p:sp>
        <p:nvSpPr>
          <p:cNvPr id="3" name="Shape 1"/>
          <p:cNvSpPr/>
          <p:nvPr/>
        </p:nvSpPr>
        <p:spPr>
          <a:xfrm>
            <a:off x="548640" y="1554480"/>
            <a:ext cx="5440680" cy="822960"/>
          </a:xfrm>
          <a:prstGeom prst="roundRect">
            <a:avLst>
              <a:gd name="adj" fmla="val 11111"/>
            </a:avLst>
          </a:prstGeom>
          <a:solidFill>
            <a:srgbClr val="EEF4EF"/>
          </a:solidFill>
          <a:ln w="12700">
            <a:solidFill>
              <a:srgbClr val="EEF4EF"/>
            </a:solidFill>
            <a:prstDash val="solid"/>
          </a:ln>
        </p:spPr>
      </p:sp>
      <p:sp>
        <p:nvSpPr>
          <p:cNvPr id="4" name="Text 2"/>
          <p:cNvSpPr txBox="1"/>
          <p:nvPr/>
        </p:nvSpPr>
        <p:spPr>
          <a:xfrm>
            <a:off x="77724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   </a:t>
            </a:r>
            <a:pPr indent="0" marL="0">
              <a:buNone/>
            </a:pPr>
            <a:r>
              <a:rPr lang="en-US" sz="2600" dirty="0">
                <a:solidFill>
                  <a:srgbClr val="1F2A22"/>
                </a:solidFill>
                <a:latin typeface="Calibri" pitchFamily="34" charset="0"/>
                <a:ea typeface="Calibri" pitchFamily="34" charset="-122"/>
                <a:cs typeface="Calibri" pitchFamily="34" charset="-120"/>
              </a:rPr>
              <a:t>Strategic Coherence</a:t>
            </a:r>
            <a:endParaRPr lang="en-US" sz="2600" dirty="0"/>
          </a:p>
        </p:txBody>
      </p:sp>
      <p:sp>
        <p:nvSpPr>
          <p:cNvPr id="5" name="Shape 3"/>
          <p:cNvSpPr/>
          <p:nvPr/>
        </p:nvSpPr>
        <p:spPr>
          <a:xfrm>
            <a:off x="6172200" y="1554480"/>
            <a:ext cx="5440680" cy="822960"/>
          </a:xfrm>
          <a:prstGeom prst="roundRect">
            <a:avLst>
              <a:gd name="adj" fmla="val 11111"/>
            </a:avLst>
          </a:prstGeom>
          <a:solidFill>
            <a:srgbClr val="EEF4EF"/>
          </a:solidFill>
          <a:ln w="12700">
            <a:solidFill>
              <a:srgbClr val="EEF4EF"/>
            </a:solidFill>
            <a:prstDash val="solid"/>
          </a:ln>
        </p:spPr>
      </p:sp>
      <p:sp>
        <p:nvSpPr>
          <p:cNvPr id="6" name="Text 4"/>
          <p:cNvSpPr txBox="1"/>
          <p:nvPr/>
        </p:nvSpPr>
        <p:spPr>
          <a:xfrm>
            <a:off x="640080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   </a:t>
            </a:r>
            <a:pPr indent="0" marL="0">
              <a:buNone/>
            </a:pPr>
            <a:r>
              <a:rPr lang="en-US" sz="2600" dirty="0">
                <a:solidFill>
                  <a:srgbClr val="1F2A22"/>
                </a:solidFill>
                <a:latin typeface="Calibri" pitchFamily="34" charset="0"/>
                <a:ea typeface="Calibri" pitchFamily="34" charset="-122"/>
                <a:cs typeface="Calibri" pitchFamily="34" charset="-120"/>
              </a:rPr>
              <a:t>Capital Discipline</a:t>
            </a:r>
            <a:endParaRPr lang="en-US" sz="2600" dirty="0"/>
          </a:p>
        </p:txBody>
      </p:sp>
      <p:sp>
        <p:nvSpPr>
          <p:cNvPr id="7" name="Shape 5"/>
          <p:cNvSpPr/>
          <p:nvPr/>
        </p:nvSpPr>
        <p:spPr>
          <a:xfrm>
            <a:off x="548640" y="2514600"/>
            <a:ext cx="5440680" cy="822960"/>
          </a:xfrm>
          <a:prstGeom prst="roundRect">
            <a:avLst>
              <a:gd name="adj" fmla="val 11111"/>
            </a:avLst>
          </a:prstGeom>
          <a:solidFill>
            <a:srgbClr val="EEF4EF"/>
          </a:solidFill>
          <a:ln w="12700">
            <a:solidFill>
              <a:srgbClr val="EEF4EF"/>
            </a:solidFill>
            <a:prstDash val="solid"/>
          </a:ln>
        </p:spPr>
      </p:sp>
      <p:sp>
        <p:nvSpPr>
          <p:cNvPr id="8" name="Text 6"/>
          <p:cNvSpPr txBox="1"/>
          <p:nvPr/>
        </p:nvSpPr>
        <p:spPr>
          <a:xfrm>
            <a:off x="77724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   </a:t>
            </a:r>
            <a:pPr indent="0" marL="0">
              <a:buNone/>
            </a:pPr>
            <a:r>
              <a:rPr lang="en-US" sz="2600" dirty="0">
                <a:solidFill>
                  <a:srgbClr val="1F2A22"/>
                </a:solidFill>
                <a:latin typeface="Calibri" pitchFamily="34" charset="0"/>
                <a:ea typeface="Calibri" pitchFamily="34" charset="-122"/>
                <a:cs typeface="Calibri" pitchFamily="34" charset="-120"/>
              </a:rPr>
              <a:t>Execution Cadence</a:t>
            </a:r>
            <a:endParaRPr lang="en-US" sz="2600" dirty="0"/>
          </a:p>
        </p:txBody>
      </p:sp>
      <p:sp>
        <p:nvSpPr>
          <p:cNvPr id="9" name="Shape 7"/>
          <p:cNvSpPr/>
          <p:nvPr/>
        </p:nvSpPr>
        <p:spPr>
          <a:xfrm>
            <a:off x="6172200" y="2514600"/>
            <a:ext cx="5440680" cy="822960"/>
          </a:xfrm>
          <a:prstGeom prst="roundRect">
            <a:avLst>
              <a:gd name="adj" fmla="val 11111"/>
            </a:avLst>
          </a:prstGeom>
          <a:solidFill>
            <a:srgbClr val="EEF4EF"/>
          </a:solidFill>
          <a:ln w="12700">
            <a:solidFill>
              <a:srgbClr val="EEF4EF"/>
            </a:solidFill>
            <a:prstDash val="solid"/>
          </a:ln>
        </p:spPr>
      </p:sp>
      <p:sp>
        <p:nvSpPr>
          <p:cNvPr id="10" name="Text 8"/>
          <p:cNvSpPr txBox="1"/>
          <p:nvPr/>
        </p:nvSpPr>
        <p:spPr>
          <a:xfrm>
            <a:off x="640080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   </a:t>
            </a:r>
            <a:pPr indent="0" marL="0">
              <a:buNone/>
            </a:pPr>
            <a:r>
              <a:rPr lang="en-US" sz="2600" dirty="0">
                <a:solidFill>
                  <a:srgbClr val="1F2A22"/>
                </a:solidFill>
                <a:latin typeface="Calibri" pitchFamily="34" charset="0"/>
                <a:ea typeface="Calibri" pitchFamily="34" charset="-122"/>
                <a:cs typeface="Calibri" pitchFamily="34" charset="-120"/>
              </a:rPr>
              <a:t>Organisational Health</a:t>
            </a:r>
            <a:endParaRPr lang="en-US" sz="2600" dirty="0"/>
          </a:p>
        </p:txBody>
      </p:sp>
      <p:sp>
        <p:nvSpPr>
          <p:cNvPr id="11" name="Shape 9"/>
          <p:cNvSpPr/>
          <p:nvPr/>
        </p:nvSpPr>
        <p:spPr>
          <a:xfrm>
            <a:off x="548640" y="3474720"/>
            <a:ext cx="5440680" cy="822960"/>
          </a:xfrm>
          <a:prstGeom prst="roundRect">
            <a:avLst>
              <a:gd name="adj" fmla="val 11111"/>
            </a:avLst>
          </a:prstGeom>
          <a:solidFill>
            <a:srgbClr val="EEF4EF"/>
          </a:solidFill>
          <a:ln w="12700">
            <a:solidFill>
              <a:srgbClr val="EEF4EF"/>
            </a:solidFill>
            <a:prstDash val="solid"/>
          </a:ln>
        </p:spPr>
      </p:sp>
      <p:sp>
        <p:nvSpPr>
          <p:cNvPr id="12" name="Text 10"/>
          <p:cNvSpPr txBox="1"/>
          <p:nvPr/>
        </p:nvSpPr>
        <p:spPr>
          <a:xfrm>
            <a:off x="77724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CTO/CIO   </a:t>
            </a:r>
            <a:pPr indent="0" marL="0">
              <a:buNone/>
            </a:pPr>
            <a:r>
              <a:rPr lang="en-US" sz="2600" dirty="0">
                <a:solidFill>
                  <a:srgbClr val="1F2A22"/>
                </a:solidFill>
                <a:latin typeface="Calibri" pitchFamily="34" charset="0"/>
                <a:ea typeface="Calibri" pitchFamily="34" charset="-122"/>
                <a:cs typeface="Calibri" pitchFamily="34" charset="-120"/>
              </a:rPr>
              <a:t>Technology Enablement</a:t>
            </a:r>
            <a:endParaRPr lang="en-US" sz="2600" dirty="0"/>
          </a:p>
        </p:txBody>
      </p:sp>
      <p:sp>
        <p:nvSpPr>
          <p:cNvPr id="13" name="Shape 11"/>
          <p:cNvSpPr/>
          <p:nvPr/>
        </p:nvSpPr>
        <p:spPr>
          <a:xfrm>
            <a:off x="6172200" y="3474720"/>
            <a:ext cx="5440680" cy="822960"/>
          </a:xfrm>
          <a:prstGeom prst="roundRect">
            <a:avLst>
              <a:gd name="adj" fmla="val 11111"/>
            </a:avLst>
          </a:prstGeom>
          <a:solidFill>
            <a:srgbClr val="EEF4EF"/>
          </a:solidFill>
          <a:ln w="12700">
            <a:solidFill>
              <a:srgbClr val="EEF4EF"/>
            </a:solidFill>
            <a:prstDash val="solid"/>
          </a:ln>
        </p:spPr>
      </p:sp>
      <p:sp>
        <p:nvSpPr>
          <p:cNvPr id="14" name="Text 12"/>
          <p:cNvSpPr txBox="1"/>
          <p:nvPr/>
        </p:nvSpPr>
        <p:spPr>
          <a:xfrm>
            <a:off x="640080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   </a:t>
            </a:r>
            <a:pPr indent="0" marL="0">
              <a:buNone/>
            </a:pPr>
            <a:r>
              <a:rPr lang="en-US" sz="2600" dirty="0">
                <a:solidFill>
                  <a:srgbClr val="1F2A22"/>
                </a:solidFill>
                <a:latin typeface="Calibri" pitchFamily="34" charset="0"/>
                <a:ea typeface="Calibri" pitchFamily="34" charset="-122"/>
                <a:cs typeface="Calibri" pitchFamily="34" charset="-120"/>
              </a:rPr>
              <a:t>Market Intelligence</a:t>
            </a:r>
            <a:endParaRPr lang="en-US" sz="2600" dirty="0"/>
          </a:p>
        </p:txBody>
      </p:sp>
      <p:sp>
        <p:nvSpPr>
          <p:cNvPr id="15" name="Shape 13"/>
          <p:cNvSpPr/>
          <p:nvPr/>
        </p:nvSpPr>
        <p:spPr>
          <a:xfrm>
            <a:off x="548640" y="4434840"/>
            <a:ext cx="5440680" cy="822960"/>
          </a:xfrm>
          <a:prstGeom prst="roundRect">
            <a:avLst>
              <a:gd name="adj" fmla="val 11111"/>
            </a:avLst>
          </a:prstGeom>
          <a:solidFill>
            <a:srgbClr val="EEF4EF"/>
          </a:solidFill>
          <a:ln w="12700">
            <a:solidFill>
              <a:srgbClr val="EEF4EF"/>
            </a:solidFill>
            <a:prstDash val="solid"/>
          </a:ln>
        </p:spPr>
      </p:sp>
      <p:sp>
        <p:nvSpPr>
          <p:cNvPr id="16" name="Text 14"/>
          <p:cNvSpPr txBox="1"/>
          <p:nvPr/>
        </p:nvSpPr>
        <p:spPr>
          <a:xfrm>
            <a:off x="77724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   </a:t>
            </a:r>
            <a:pPr indent="0" marL="0">
              <a:buNone/>
            </a:pPr>
            <a:r>
              <a:rPr lang="en-US" sz="2600" dirty="0">
                <a:solidFill>
                  <a:srgbClr val="1F2A22"/>
                </a:solidFill>
                <a:latin typeface="Calibri" pitchFamily="34" charset="0"/>
                <a:ea typeface="Calibri" pitchFamily="34" charset="-122"/>
                <a:cs typeface="Calibri" pitchFamily="34" charset="-120"/>
              </a:rPr>
              <a:t>Revenue Conversion</a:t>
            </a:r>
            <a:endParaRPr lang="en-US" sz="2600" dirty="0"/>
          </a:p>
        </p:txBody>
      </p:sp>
      <p:sp>
        <p:nvSpPr>
          <p:cNvPr id="17" name="Shape 15"/>
          <p:cNvSpPr/>
          <p:nvPr/>
        </p:nvSpPr>
        <p:spPr>
          <a:xfrm>
            <a:off x="6172200" y="4434840"/>
            <a:ext cx="5440680" cy="822960"/>
          </a:xfrm>
          <a:prstGeom prst="roundRect">
            <a:avLst>
              <a:gd name="adj" fmla="val 11111"/>
            </a:avLst>
          </a:prstGeom>
          <a:solidFill>
            <a:srgbClr val="EEF4EF"/>
          </a:solidFill>
          <a:ln w="12700">
            <a:solidFill>
              <a:srgbClr val="EEF4EF"/>
            </a:solidFill>
            <a:prstDash val="solid"/>
          </a:ln>
        </p:spPr>
      </p:sp>
      <p:sp>
        <p:nvSpPr>
          <p:cNvPr id="18" name="Text 16"/>
          <p:cNvSpPr txBox="1"/>
          <p:nvPr/>
        </p:nvSpPr>
        <p:spPr>
          <a:xfrm>
            <a:off x="640080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   </a:t>
            </a:r>
            <a:pPr indent="0" marL="0">
              <a:buNone/>
            </a:pPr>
            <a:r>
              <a:rPr lang="en-US" sz="2600" dirty="0">
                <a:solidFill>
                  <a:srgbClr val="1F2A22"/>
                </a:solidFill>
                <a:latin typeface="Calibri" pitchFamily="34" charset="0"/>
                <a:ea typeface="Calibri" pitchFamily="34" charset="-122"/>
                <a:cs typeface="Calibri" pitchFamily="34" charset="-120"/>
              </a:rPr>
              <a:t>Supply Resilience</a:t>
            </a:r>
            <a:endParaRPr lang="en-US" sz="2600" dirty="0"/>
          </a:p>
        </p:txBody>
      </p:sp>
      <p:sp>
        <p:nvSpPr>
          <p:cNvPr id="19" name="Shape 17"/>
          <p:cNvSpPr/>
          <p:nvPr/>
        </p:nvSpPr>
        <p:spPr>
          <a:xfrm>
            <a:off x="548640" y="5394960"/>
            <a:ext cx="5440680" cy="822960"/>
          </a:xfrm>
          <a:prstGeom prst="roundRect">
            <a:avLst>
              <a:gd name="adj" fmla="val 11111"/>
            </a:avLst>
          </a:prstGeom>
          <a:solidFill>
            <a:srgbClr val="EEF4EF"/>
          </a:solidFill>
          <a:ln w="12700">
            <a:solidFill>
              <a:srgbClr val="EEF4EF"/>
            </a:solidFill>
            <a:prstDash val="solid"/>
          </a:ln>
        </p:spPr>
      </p:sp>
      <p:sp>
        <p:nvSpPr>
          <p:cNvPr id="20" name="Text 18"/>
          <p:cNvSpPr txBox="1"/>
          <p:nvPr/>
        </p:nvSpPr>
        <p:spPr>
          <a:xfrm>
            <a:off x="77724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CRO   </a:t>
            </a:r>
            <a:pPr indent="0" marL="0">
              <a:buNone/>
            </a:pPr>
            <a:r>
              <a:rPr lang="en-US" sz="2600" dirty="0">
                <a:solidFill>
                  <a:srgbClr val="1F2A22"/>
                </a:solidFill>
                <a:latin typeface="Calibri" pitchFamily="34" charset="0"/>
                <a:ea typeface="Calibri" pitchFamily="34" charset="-122"/>
                <a:cs typeface="Calibri" pitchFamily="34" charset="-120"/>
              </a:rPr>
              <a:t>Risk Intelligence</a:t>
            </a:r>
            <a:endParaRPr lang="en-US" sz="2600" dirty="0"/>
          </a:p>
        </p:txBody>
      </p:sp>
      <p:sp>
        <p:nvSpPr>
          <p:cNvPr id="21" name="Shape 19"/>
          <p:cNvSpPr/>
          <p:nvPr/>
        </p:nvSpPr>
        <p:spPr>
          <a:xfrm>
            <a:off x="6172200" y="5394960"/>
            <a:ext cx="5440680" cy="822960"/>
          </a:xfrm>
          <a:prstGeom prst="roundRect">
            <a:avLst>
              <a:gd name="adj" fmla="val 11111"/>
            </a:avLst>
          </a:prstGeom>
          <a:solidFill>
            <a:srgbClr val="EEF4EF"/>
          </a:solidFill>
          <a:ln w="12700">
            <a:solidFill>
              <a:srgbClr val="EEF4EF"/>
            </a:solidFill>
            <a:prstDash val="solid"/>
          </a:ln>
        </p:spPr>
      </p:sp>
      <p:sp>
        <p:nvSpPr>
          <p:cNvPr id="22" name="Text 20"/>
          <p:cNvSpPr txBox="1"/>
          <p:nvPr/>
        </p:nvSpPr>
        <p:spPr>
          <a:xfrm>
            <a:off x="640080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   </a:t>
            </a:r>
            <a:pPr indent="0" marL="0">
              <a:buNone/>
            </a:pPr>
            <a:r>
              <a:rPr lang="en-US" sz="2600" dirty="0">
                <a:solidFill>
                  <a:srgbClr val="1F2A22"/>
                </a:solidFill>
                <a:latin typeface="Calibri" pitchFamily="34" charset="0"/>
                <a:ea typeface="Calibri" pitchFamily="34" charset="-122"/>
                <a:cs typeface="Calibri" pitchFamily="34" charset="-120"/>
              </a:rPr>
              <a:t>Strategy Translation</a:t>
            </a:r>
            <a:endParaRPr lang="en-US" sz="2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ABCV as the navigation diagnostic</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 · Arena</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Has the customer end-game shifted?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 · Boundaries</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Have the constraints changed?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 · Competition</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Has the alternative set changed?</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V · Value Proposition</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Is the edge still holding?</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The navigation chain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Detect the force movement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Run the ABCV diagnostic</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Identify the invalidated assumption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a:t>
            </a:r>
            <a:pPr indent="0" marL="0">
              <a:buNone/>
            </a:pPr>
            <a:r>
              <a:rPr lang="en-US" sz="2600" dirty="0">
                <a:solidFill>
                  <a:srgbClr val="1F2A22"/>
                </a:solidFill>
                <a:latin typeface="Calibri" pitchFamily="34" charset="0"/>
                <a:ea typeface="Calibri" pitchFamily="34" charset="-122"/>
                <a:cs typeface="Calibri" pitchFamily="34" charset="-120"/>
              </a:rPr>
              <a:t>Activate KISS</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S2R® Collective Intelligence Review</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collective leadership rhythm for detecting and responding to force movements.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Coordinate the enterprise response to evolving conditions.</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S2R® Collective Intelligence Review</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ESRG Scanner</a:t>
            </a:r>
            <a:endParaRPr lang="en-US" sz="2600" dirty="0"/>
          </a:p>
        </p:txBody>
      </p:sp>
      <p:sp>
        <p:nvSpPr>
          <p:cNvPr id="7" name="Text 4"/>
          <p:cNvSpPr txBox="1"/>
          <p:nvPr/>
        </p:nvSpPr>
        <p:spPr>
          <a:xfrm>
            <a:off x="777240"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Diagnose the operating conditions</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Enterprise COMPASS</a:t>
            </a:r>
            <a:endParaRPr lang="en-US" sz="2600" dirty="0"/>
          </a:p>
        </p:txBody>
      </p:sp>
      <p:sp>
        <p:nvSpPr>
          <p:cNvPr id="12" name="Text 8"/>
          <p:cNvSpPr txBox="1"/>
          <p:nvPr/>
        </p:nvSpPr>
        <p:spPr>
          <a:xfrm>
            <a:off x="6460236" y="246888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Align the enterprise</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3977640"/>
            <a:ext cx="274320" cy="274320"/>
          </a:xfrm>
          <a:prstGeom prst="rect">
            <a:avLst/>
          </a:prstGeom>
        </p:spPr>
      </p:pic>
      <p:sp>
        <p:nvSpPr>
          <p:cNvPr id="16" name="Text 11"/>
          <p:cNvSpPr txBox="1"/>
          <p:nvPr/>
        </p:nvSpPr>
        <p:spPr>
          <a:xfrm>
            <a:off x="1508760" y="37947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KISS Reflection</a:t>
            </a:r>
            <a:endParaRPr lang="en-US" sz="2600" dirty="0"/>
          </a:p>
        </p:txBody>
      </p:sp>
      <p:sp>
        <p:nvSpPr>
          <p:cNvPr id="17" name="Text 12"/>
          <p:cNvSpPr txBox="1"/>
          <p:nvPr/>
        </p:nvSpPr>
        <p:spPr>
          <a:xfrm>
            <a:off x="777240" y="457200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Reinforce the navigation discipline</a:t>
            </a:r>
            <a:endParaRPr lang="en-US" sz="2400" dirty="0"/>
          </a:p>
        </p:txBody>
      </p:sp>
      <p:sp>
        <p:nvSpPr>
          <p:cNvPr id="18" name="Shape 13"/>
          <p:cNvSpPr/>
          <p:nvPr/>
        </p:nvSpPr>
        <p:spPr>
          <a:xfrm>
            <a:off x="6231636" y="3611880"/>
            <a:ext cx="5408676" cy="1828800"/>
          </a:xfrm>
          <a:prstGeom prst="roundRect">
            <a:avLst>
              <a:gd name="adj" fmla="val 5000"/>
            </a:avLst>
          </a:prstGeom>
          <a:solidFill>
            <a:srgbClr val="EEF4EF"/>
          </a:solidFill>
          <a:ln w="12700">
            <a:solidFill>
              <a:srgbClr val="EEF4EF"/>
            </a:solidFill>
            <a:prstDash val="solid"/>
          </a:ln>
        </p:spPr>
      </p:sp>
      <p:sp>
        <p:nvSpPr>
          <p:cNvPr id="19" name="Shape 14"/>
          <p:cNvSpPr/>
          <p:nvPr/>
        </p:nvSpPr>
        <p:spPr>
          <a:xfrm>
            <a:off x="6460236" y="38404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3977640"/>
            <a:ext cx="274320" cy="274320"/>
          </a:xfrm>
          <a:prstGeom prst="rect">
            <a:avLst/>
          </a:prstGeom>
        </p:spPr>
      </p:pic>
      <p:sp>
        <p:nvSpPr>
          <p:cNvPr id="21" name="Text 15"/>
          <p:cNvSpPr txBox="1"/>
          <p:nvPr/>
        </p:nvSpPr>
        <p:spPr>
          <a:xfrm>
            <a:off x="7191756" y="37947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Health Thermometer</a:t>
            </a:r>
            <a:endParaRPr lang="en-US" sz="2600" dirty="0"/>
          </a:p>
        </p:txBody>
      </p:sp>
      <p:sp>
        <p:nvSpPr>
          <p:cNvPr id="22" name="Text 16"/>
          <p:cNvSpPr txBox="1"/>
          <p:nvPr/>
        </p:nvSpPr>
        <p:spPr>
          <a:xfrm>
            <a:off x="6460236" y="4572000"/>
            <a:ext cx="4951476" cy="7315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Monitor the behavioural climate</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Name a date, a lead for each conversation and a format for the output.</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Force-Anchored Scenarios — ABCV Diagnostic — KISS Response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Exercise forward-looking judgement from force detection to navigation response in a real leadership domain.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Commit to a specific navigation decision with a named date.</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The navigation chain scenarios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The COO’s Execution Rhythm</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Internal · Execution Regression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The CFO’s Legacy Budget</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Macro-Environmental · Complexity Creep</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The CMO’s Comfortable Intelligence</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Competitive + Disruptive · Momentum Illusion</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The CRO’s Legitimacy Gap</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Social + Environmental · Legitimacy Erosion</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The navigation commitment</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Q1  </a:t>
            </a:r>
            <a:pPr indent="0" marL="0">
              <a:buNone/>
            </a:pPr>
            <a:r>
              <a:rPr lang="en-US" sz="2600" dirty="0">
                <a:solidFill>
                  <a:srgbClr val="1F2A22"/>
                </a:solidFill>
                <a:latin typeface="Calibri" pitchFamily="34" charset="0"/>
                <a:ea typeface="Calibri" pitchFamily="34" charset="-122"/>
                <a:cs typeface="Calibri" pitchFamily="34" charset="-120"/>
              </a:rPr>
              <a:t>Which force is moving, producing which mechanism?</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Q2  </a:t>
            </a:r>
            <a:pPr indent="0" marL="0">
              <a:buNone/>
            </a:pPr>
            <a:r>
              <a:rPr lang="en-US" sz="2600" dirty="0">
                <a:solidFill>
                  <a:srgbClr val="1F2A22"/>
                </a:solidFill>
                <a:latin typeface="Calibri" pitchFamily="34" charset="0"/>
                <a:ea typeface="Calibri" pitchFamily="34" charset="-122"/>
                <a:cs typeface="Calibri" pitchFamily="34" charset="-120"/>
              </a:rPr>
              <a:t>Which ABCV MBT condition is most under threat?</a:t>
            </a:r>
            <a:endParaRPr lang="en-US" sz="26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Q3  </a:t>
            </a:r>
            <a:pPr indent="0" marL="0">
              <a:buNone/>
            </a:pPr>
            <a:r>
              <a:rPr lang="en-US" sz="2600" dirty="0">
                <a:solidFill>
                  <a:srgbClr val="1F2A22"/>
                </a:solidFill>
                <a:latin typeface="Calibri" pitchFamily="34" charset="0"/>
                <a:ea typeface="Calibri" pitchFamily="34" charset="-122"/>
                <a:cs typeface="Calibri" pitchFamily="34" charset="-120"/>
              </a:rPr>
              <a:t>One KISS decision, named and dated, in thirty days</a:t>
            </a:r>
            <a:endParaRPr lang="en-US" sz="2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Programme close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You came into this programme with a strategy. You leave with a navigation discipline.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Keep climbing.</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12 · Sustaining Performance</dc:title>
  <dc:subject>PptxGenJS Presentation</dc:subject>
  <dc:creator>Institute of Behavioural Strategy &amp; Leadership</dc:creator>
  <cp:lastModifiedBy>Institute of Behavioural Strategy &amp; Leadership</cp:lastModifiedBy>
  <cp:revision>1</cp:revision>
  <dcterms:created xsi:type="dcterms:W3CDTF">2026-09-29T13:20:53Z</dcterms:created>
  <dcterms:modified xsi:type="dcterms:W3CDTF">2026-09-29T13:20:53Z</dcterms:modified>
</cp:coreProperties>
</file>